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19" r:id="rId3"/>
    <p:sldId id="261" r:id="rId4"/>
    <p:sldId id="318" r:id="rId5"/>
    <p:sldId id="317" r:id="rId6"/>
    <p:sldId id="264" r:id="rId7"/>
    <p:sldId id="265" r:id="rId8"/>
    <p:sldId id="270" r:id="rId9"/>
    <p:sldId id="271" r:id="rId10"/>
    <p:sldId id="272" r:id="rId11"/>
    <p:sldId id="320" r:id="rId12"/>
    <p:sldId id="273" r:id="rId13"/>
    <p:sldId id="274" r:id="rId14"/>
    <p:sldId id="275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288" r:id="rId24"/>
    <p:sldId id="316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Helvetica Neue" panose="02000503000000020004" pitchFamily="2" charset="0"/>
      <p:regular r:id="rId31"/>
      <p:bold r:id="rId32"/>
      <p:italic r:id="rId33"/>
      <p:boldItalic r:id="rId34"/>
    </p:embeddedFont>
    <p:embeddedFont>
      <p:font typeface="Play" pitchFamily="2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0" roundtripDataSignature="AMtx7mgXuMLUI5br9FGtfGG7eqqCT17c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2"/>
    <p:restoredTop sz="86047"/>
  </p:normalViewPr>
  <p:slideViewPr>
    <p:cSldViewPr snapToGrid="0">
      <p:cViewPr varScale="1">
        <p:scale>
          <a:sx n="111" d="100"/>
          <a:sy n="111" d="100"/>
        </p:scale>
        <p:origin x="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80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2c12dbef8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22c12dbef81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3361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2c12dbef8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22c12dbef81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2c12dbef8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22c12dbef81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3771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2c12dbef8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22c12dbef81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72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2c12dbef8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g22c12dbef81_0_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2c12dbef8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g22c12dbef81_0_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c12dbef8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g22c12dbef81_0_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c12dbef81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5" name="Google Shape;475;g22c12dbef81_0_1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2c12dbef8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g22c12dbef81_0_1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2c12dbef8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22c12dbef81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7865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e0fec68e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g1e0fec68e54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e0fec68e5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g1e0fec68e54_0_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9385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81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502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8601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527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0160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117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e0fec68e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1e0fec68e54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0276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2c12dbef81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22c12dbef81_0_1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7" name="Google Shape;7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x">
  <p:cSld name="TITLE_AND_BODY">
    <p:bg>
      <p:bgPr>
        <a:solidFill>
          <a:schemeClr val="accen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3066459" y="-1"/>
            <a:ext cx="9141308" cy="685798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5247" y="0"/>
                </a:lnTo>
                <a:lnTo>
                  <a:pt x="5264" y="224"/>
                </a:lnTo>
                <a:cubicBezTo>
                  <a:pt x="6034" y="8449"/>
                  <a:pt x="9024" y="14784"/>
                  <a:pt x="12452" y="15686"/>
                </a:cubicBezTo>
                <a:lnTo>
                  <a:pt x="12452" y="0"/>
                </a:lnTo>
                <a:lnTo>
                  <a:pt x="17681" y="0"/>
                </a:lnTo>
                <a:lnTo>
                  <a:pt x="17681" y="8069"/>
                </a:lnTo>
                <a:cubicBezTo>
                  <a:pt x="19007" y="7754"/>
                  <a:pt x="20229" y="6910"/>
                  <a:pt x="21286" y="5755"/>
                </a:cubicBezTo>
                <a:lnTo>
                  <a:pt x="21600" y="5388"/>
                </a:lnTo>
                <a:lnTo>
                  <a:pt x="21600" y="16444"/>
                </a:lnTo>
                <a:lnTo>
                  <a:pt x="21392" y="16258"/>
                </a:lnTo>
                <a:cubicBezTo>
                  <a:pt x="20401" y="15447"/>
                  <a:pt x="19187" y="14840"/>
                  <a:pt x="17681" y="14562"/>
                </a:cubicBezTo>
                <a:lnTo>
                  <a:pt x="17681" y="21600"/>
                </a:lnTo>
                <a:lnTo>
                  <a:pt x="9354" y="21600"/>
                </a:lnTo>
                <a:lnTo>
                  <a:pt x="9304" y="21566"/>
                </a:lnTo>
                <a:cubicBezTo>
                  <a:pt x="4189" y="17853"/>
                  <a:pt x="1138" y="10154"/>
                  <a:pt x="127" y="124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658812" y="3307438"/>
            <a:ext cx="10224001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  <a:defRPr sz="2000">
                <a:solidFill>
                  <a:srgbClr val="FFFFFF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Char char="•"/>
              <a:defRPr sz="2000">
                <a:solidFill>
                  <a:srgbClr val="FFFFF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Char char="−"/>
              <a:defRPr sz="2000">
                <a:solidFill>
                  <a:srgbClr val="FFFFFF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Char char="•"/>
              <a:defRPr sz="2000">
                <a:solidFill>
                  <a:srgbClr val="FFFFFF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Char char="•"/>
              <a:defRPr sz="20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622261" y="1052209"/>
            <a:ext cx="10220326" cy="183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  <a:defRPr sz="6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658069" y="5503762"/>
            <a:ext cx="697015" cy="697015"/>
            <a:chOff x="-2" y="-2"/>
            <a:chExt cx="697014" cy="697014"/>
          </a:xfrm>
        </p:grpSpPr>
        <p:grpSp>
          <p:nvGrpSpPr>
            <p:cNvPr id="54" name="Google Shape;54;p9"/>
            <p:cNvGrpSpPr/>
            <p:nvPr/>
          </p:nvGrpSpPr>
          <p:grpSpPr>
            <a:xfrm>
              <a:off x="-2" y="-2"/>
              <a:ext cx="697014" cy="697014"/>
              <a:chOff x="-1" y="-1"/>
              <a:chExt cx="697012" cy="697012"/>
            </a:xfrm>
          </p:grpSpPr>
          <p:sp>
            <p:nvSpPr>
              <p:cNvPr id="55" name="Google Shape;55;p9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Helvetica Neue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" name="Google Shape;56;p9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Helvetica Neue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57" name="Google Shape;57;p9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/>
              <a:rect l="l" t="t" r="r" b="b"/>
              <a:pathLst>
                <a:path w="21565" h="21575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Helvetica Neue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 QR + подпись">
  <p:cSld name="Финальный с QR + подпись">
    <p:bg>
      <p:bgPr>
        <a:solidFill>
          <a:schemeClr val="accen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Рисунок 4"/>
          <p:cNvPicPr preferRelativeResize="0"/>
          <p:nvPr/>
        </p:nvPicPr>
        <p:blipFill rotWithShape="1">
          <a:blip r:embed="rId2">
            <a:alphaModFix/>
          </a:blip>
          <a:srcRect t="4670" r="3105" b="9239"/>
          <a:stretch/>
        </p:blipFill>
        <p:spPr>
          <a:xfrm>
            <a:off x="6311900" y="-1"/>
            <a:ext cx="58801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620712" y="3724881"/>
            <a:ext cx="5475289" cy="182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  <a:defRPr sz="6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658812" y="692150"/>
            <a:ext cx="1289051" cy="128905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58812" y="5842000"/>
            <a:ext cx="5437189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914400" lvl="1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Char char="•"/>
              <a:defRPr>
                <a:solidFill>
                  <a:srgbClr val="FFFFFF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Char char="−"/>
              <a:defRPr>
                <a:solidFill>
                  <a:srgbClr val="FFFFFF"/>
                </a:solidFill>
              </a:defRPr>
            </a:lvl3pPr>
            <a:lvl4pPr marL="1828800" lvl="3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Char char="•"/>
              <a:defRPr>
                <a:solidFill>
                  <a:srgbClr val="FFFFFF"/>
                </a:solidFill>
              </a:defRPr>
            </a:lvl4pPr>
            <a:lvl5pPr marL="2286000" lvl="4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Char char="•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2 объекта">
  <p:cSld name="Заголовок + 2 объекта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>
            <a:off x="677333" y="1773238"/>
            <a:ext cx="5317066" cy="442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2 строки + объект">
  <p:cSld name="Заголовок в 2 строки + объект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>
            <a:off x="6311901" y="692150"/>
            <a:ext cx="5208587" cy="554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−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8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2"/>
          </p:nvPr>
        </p:nvSpPr>
        <p:spPr>
          <a:xfrm>
            <a:off x="671512" y="2040888"/>
            <a:ext cx="5424489" cy="415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объект">
  <p:cSld name="Заголовок + объект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658812" y="1773238"/>
            <a:ext cx="10874376" cy="444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Акцент">
  <p:cSld name="Акцент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1999416" y="2971951"/>
            <a:ext cx="8193167" cy="91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Helvetica Neue"/>
              <a:buNone/>
              <a:defRPr sz="66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+ текст в две колонки">
  <p:cSld name="2_Заголовок + текст в две колонки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677333" y="1773238"/>
            <a:ext cx="5304366" cy="442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2"/>
          </p:nvPr>
        </p:nvSpPr>
        <p:spPr>
          <a:xfrm>
            <a:off x="6228824" y="1773239"/>
            <a:ext cx="5304364" cy="442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скриншот (1)">
  <p:cSld name="Заголовок + скриншот (1)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6096000" y="692150"/>
            <a:ext cx="5437188" cy="55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body" idx="2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держание">
  <p:cSld name="Содержание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2681817" cy="64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0"/>
          <p:cNvSpPr txBox="1">
            <a:spLocks noGrp="1"/>
          </p:cNvSpPr>
          <p:nvPr>
            <p:ph type="body" idx="1"/>
          </p:nvPr>
        </p:nvSpPr>
        <p:spPr>
          <a:xfrm>
            <a:off x="4043362" y="692150"/>
            <a:ext cx="7489826" cy="55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AutoNum type="arabicPeriod"/>
              <a:defRPr sz="2400"/>
            </a:lvl1pPr>
            <a:lvl2pPr marL="914400" lvl="1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/>
            </a:lvl2pPr>
            <a:lvl3pPr marL="1371600" lvl="2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−"/>
              <a:defRPr sz="2400"/>
            </a:lvl3pPr>
            <a:lvl4pPr marL="1828800" lvl="3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/>
            </a:lvl4pPr>
            <a:lvl5pPr marL="2286000" lvl="4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раздела">
  <p:cSld name="1_Титульный слайд раздела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>
            <a:spLocks noGrp="1"/>
          </p:cNvSpPr>
          <p:nvPr>
            <p:ph type="title"/>
          </p:nvPr>
        </p:nvSpPr>
        <p:spPr>
          <a:xfrm>
            <a:off x="603172" y="1119966"/>
            <a:ext cx="4621373" cy="182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Helvetica Neue"/>
              <a:buNone/>
              <a:defRPr sz="6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58812" y="3307438"/>
            <a:ext cx="10224001" cy="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−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  <a:defRPr sz="20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622261" y="1052209"/>
            <a:ext cx="10220326" cy="183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Helvetica Neue"/>
              <a:buNone/>
              <a:defRPr sz="6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125" name="Google Shape;125;p16"/>
          <p:cNvGrpSpPr/>
          <p:nvPr/>
        </p:nvGrpSpPr>
        <p:grpSpPr>
          <a:xfrm>
            <a:off x="658069" y="5503762"/>
            <a:ext cx="697015" cy="697015"/>
            <a:chOff x="-2" y="-2"/>
            <a:chExt cx="697014" cy="697014"/>
          </a:xfrm>
        </p:grpSpPr>
        <p:grpSp>
          <p:nvGrpSpPr>
            <p:cNvPr id="126" name="Google Shape;126;p16"/>
            <p:cNvGrpSpPr/>
            <p:nvPr/>
          </p:nvGrpSpPr>
          <p:grpSpPr>
            <a:xfrm>
              <a:off x="-2" y="-2"/>
              <a:ext cx="697014" cy="697014"/>
              <a:chOff x="-1" y="-1"/>
              <a:chExt cx="697012" cy="697012"/>
            </a:xfrm>
          </p:grpSpPr>
          <p:sp>
            <p:nvSpPr>
              <p:cNvPr id="127" name="Google Shape;127;p16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Helvetica Neue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Helvetica Neue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129" name="Google Shape;129;p16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/>
              <a:rect l="l" t="t" r="r" b="b"/>
              <a:pathLst>
                <a:path w="21565" h="21575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Helvetica Neue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актоид">
  <p:cSld name="1 фактоид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 descr="Рисунок 100"/>
          <p:cNvPicPr preferRelativeResize="0"/>
          <p:nvPr/>
        </p:nvPicPr>
        <p:blipFill rotWithShape="1">
          <a:blip r:embed="rId2">
            <a:alphaModFix/>
          </a:blip>
          <a:srcRect l="34451" t="19158" r="15832" b="18805"/>
          <a:stretch/>
        </p:blipFill>
        <p:spPr>
          <a:xfrm>
            <a:off x="5939755" y="-1"/>
            <a:ext cx="625224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658812" y="4363180"/>
            <a:ext cx="10224001" cy="525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/>
            </a:lvl1pPr>
            <a:lvl2pPr marL="914400" lvl="1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/>
            </a:lvl2pPr>
            <a:lvl3pPr marL="1371600" lvl="2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−"/>
              <a:defRPr sz="2400"/>
            </a:lvl3pPr>
            <a:lvl4pPr marL="1828800" lvl="3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/>
            </a:lvl4pPr>
            <a:lvl5pPr marL="2286000" lvl="4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4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2"/>
          </p:nvPr>
        </p:nvSpPr>
        <p:spPr>
          <a:xfrm>
            <a:off x="671512" y="1773238"/>
            <a:ext cx="10224001" cy="240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864"/>
              <a:buFont typeface="Play"/>
              <a:buNone/>
              <a:defRPr sz="15864" b="1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фактоида">
  <p:cSld name="2 фактоида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 descr="Рисунок 12"/>
          <p:cNvPicPr preferRelativeResize="0"/>
          <p:nvPr/>
        </p:nvPicPr>
        <p:blipFill rotWithShape="1">
          <a:blip r:embed="rId2">
            <a:alphaModFix/>
          </a:blip>
          <a:srcRect l="34451" t="19158" r="15832" b="18805"/>
          <a:stretch/>
        </p:blipFill>
        <p:spPr>
          <a:xfrm>
            <a:off x="5939755" y="-1"/>
            <a:ext cx="625224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672853" y="3878708"/>
            <a:ext cx="8131145" cy="1767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Play"/>
              <a:buNone/>
              <a:defRPr sz="11500" b="1">
                <a:latin typeface="Play"/>
                <a:ea typeface="Play"/>
                <a:cs typeface="Play"/>
                <a:sym typeface="Play"/>
              </a:defRPr>
            </a:lvl1pPr>
            <a:lvl2pPr marL="914400" lvl="1" indent="-958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Play"/>
              <a:buChar char="•"/>
              <a:defRPr sz="11500" b="1">
                <a:latin typeface="Play"/>
                <a:ea typeface="Play"/>
                <a:cs typeface="Play"/>
                <a:sym typeface="Play"/>
              </a:defRPr>
            </a:lvl2pPr>
            <a:lvl3pPr marL="1371600" lvl="2" indent="-958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Play"/>
              <a:buChar char="−"/>
              <a:defRPr sz="11500" b="1">
                <a:latin typeface="Play"/>
                <a:ea typeface="Play"/>
                <a:cs typeface="Play"/>
                <a:sym typeface="Play"/>
              </a:defRPr>
            </a:lvl3pPr>
            <a:lvl4pPr marL="1828800" lvl="3" indent="-958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Play"/>
              <a:buChar char="•"/>
              <a:defRPr sz="11500" b="1">
                <a:latin typeface="Play"/>
                <a:ea typeface="Play"/>
                <a:cs typeface="Play"/>
                <a:sym typeface="Play"/>
              </a:defRPr>
            </a:lvl4pPr>
            <a:lvl5pPr marL="2286000" lvl="4" indent="-958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Play"/>
              <a:buChar char="•"/>
              <a:defRPr sz="11500" b="1">
                <a:latin typeface="Play"/>
                <a:ea typeface="Play"/>
                <a:cs typeface="Play"/>
                <a:sym typeface="Play"/>
              </a:defRPr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2"/>
          </p:nvPr>
        </p:nvSpPr>
        <p:spPr>
          <a:xfrm>
            <a:off x="672852" y="5715425"/>
            <a:ext cx="8131144" cy="48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3"/>
          </p:nvPr>
        </p:nvSpPr>
        <p:spPr>
          <a:xfrm>
            <a:off x="671514" y="1045517"/>
            <a:ext cx="8131144" cy="1767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Play"/>
              <a:buNone/>
              <a:defRPr sz="11500" b="1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4"/>
          </p:nvPr>
        </p:nvSpPr>
        <p:spPr>
          <a:xfrm>
            <a:off x="671512" y="2882234"/>
            <a:ext cx="8131145" cy="48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фактоида + текст">
  <p:cSld name="2 фактоида + текст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xfrm>
            <a:off x="671514" y="1773238"/>
            <a:ext cx="5135728" cy="442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2"/>
          </p:nvPr>
        </p:nvSpPr>
        <p:spPr>
          <a:xfrm>
            <a:off x="6097339" y="3864033"/>
            <a:ext cx="5417328" cy="108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128"/>
              <a:buFont typeface="Play"/>
              <a:buNone/>
              <a:defRPr sz="7128" b="1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3"/>
          </p:nvPr>
        </p:nvSpPr>
        <p:spPr>
          <a:xfrm>
            <a:off x="6097337" y="5058095"/>
            <a:ext cx="5417328" cy="35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4"/>
          </p:nvPr>
        </p:nvSpPr>
        <p:spPr>
          <a:xfrm>
            <a:off x="6096000" y="1773238"/>
            <a:ext cx="5417328" cy="108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128"/>
              <a:buFont typeface="Play"/>
              <a:buNone/>
              <a:defRPr sz="7128" b="1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5"/>
          </p:nvPr>
        </p:nvSpPr>
        <p:spPr>
          <a:xfrm>
            <a:off x="6096000" y="2967300"/>
            <a:ext cx="5417328" cy="35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фактоида">
  <p:cSld name="4 фактоида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6097339" y="3864033"/>
            <a:ext cx="5417328" cy="108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Play"/>
              <a:buNone/>
              <a:defRPr sz="8800" b="1">
                <a:latin typeface="Play"/>
                <a:ea typeface="Play"/>
                <a:cs typeface="Play"/>
                <a:sym typeface="Play"/>
              </a:defRPr>
            </a:lvl1pPr>
            <a:lvl2pPr marL="914400" lvl="1" indent="-787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Play"/>
              <a:buChar char="•"/>
              <a:defRPr sz="8800" b="1">
                <a:latin typeface="Play"/>
                <a:ea typeface="Play"/>
                <a:cs typeface="Play"/>
                <a:sym typeface="Play"/>
              </a:defRPr>
            </a:lvl2pPr>
            <a:lvl3pPr marL="1371600" lvl="2" indent="-787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Play"/>
              <a:buChar char="−"/>
              <a:defRPr sz="8800" b="1">
                <a:latin typeface="Play"/>
                <a:ea typeface="Play"/>
                <a:cs typeface="Play"/>
                <a:sym typeface="Play"/>
              </a:defRPr>
            </a:lvl3pPr>
            <a:lvl4pPr marL="1828800" lvl="3" indent="-787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Play"/>
              <a:buChar char="•"/>
              <a:defRPr sz="8800" b="1">
                <a:latin typeface="Play"/>
                <a:ea typeface="Play"/>
                <a:cs typeface="Play"/>
                <a:sym typeface="Play"/>
              </a:defRPr>
            </a:lvl4pPr>
            <a:lvl5pPr marL="2286000" lvl="4" indent="-787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Play"/>
              <a:buChar char="•"/>
              <a:defRPr sz="8800" b="1">
                <a:latin typeface="Play"/>
                <a:ea typeface="Play"/>
                <a:cs typeface="Play"/>
                <a:sym typeface="Play"/>
              </a:defRPr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body" idx="2"/>
          </p:nvPr>
        </p:nvSpPr>
        <p:spPr>
          <a:xfrm>
            <a:off x="6097337" y="5058095"/>
            <a:ext cx="5417328" cy="35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3"/>
          </p:nvPr>
        </p:nvSpPr>
        <p:spPr>
          <a:xfrm>
            <a:off x="6096000" y="1773238"/>
            <a:ext cx="5417328" cy="108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128"/>
              <a:buFont typeface="Play"/>
              <a:buNone/>
              <a:defRPr sz="7128" b="1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4"/>
          </p:nvPr>
        </p:nvSpPr>
        <p:spPr>
          <a:xfrm>
            <a:off x="6096000" y="2967300"/>
            <a:ext cx="5417328" cy="35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5"/>
          </p:nvPr>
        </p:nvSpPr>
        <p:spPr>
          <a:xfrm>
            <a:off x="680011" y="3864033"/>
            <a:ext cx="5239527" cy="108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128"/>
              <a:buFont typeface="Play"/>
              <a:buNone/>
              <a:defRPr sz="7128" b="1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6"/>
          </p:nvPr>
        </p:nvSpPr>
        <p:spPr>
          <a:xfrm>
            <a:off x="680010" y="5058095"/>
            <a:ext cx="5239527" cy="35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7"/>
          </p:nvPr>
        </p:nvSpPr>
        <p:spPr>
          <a:xfrm>
            <a:off x="678672" y="1773238"/>
            <a:ext cx="5239527" cy="108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128"/>
              <a:buFont typeface="Play"/>
              <a:buNone/>
              <a:defRPr sz="7128" b="1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8"/>
          </p:nvPr>
        </p:nvSpPr>
        <p:spPr>
          <a:xfrm>
            <a:off x="678672" y="2967300"/>
            <a:ext cx="5239527" cy="35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фактоида + текст">
  <p:cSld name="4 фактоида + текст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5345017" y="617219"/>
            <a:ext cx="2779201" cy="92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2pPr>
            <a:lvl3pPr marL="1371600" lvl="2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−"/>
              <a:defRPr sz="5400"/>
            </a:lvl3pPr>
            <a:lvl4pPr marL="1828800" lvl="3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4pPr>
            <a:lvl5pPr marL="2286000" lvl="4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2"/>
          </p:nvPr>
        </p:nvSpPr>
        <p:spPr>
          <a:xfrm>
            <a:off x="5345017" y="1620441"/>
            <a:ext cx="2779201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3"/>
          </p:nvPr>
        </p:nvSpPr>
        <p:spPr>
          <a:xfrm>
            <a:off x="5345017" y="2680785"/>
            <a:ext cx="2779202" cy="92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4"/>
          </p:nvPr>
        </p:nvSpPr>
        <p:spPr>
          <a:xfrm>
            <a:off x="5345017" y="3684008"/>
            <a:ext cx="2779201" cy="49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5"/>
          </p:nvPr>
        </p:nvSpPr>
        <p:spPr>
          <a:xfrm>
            <a:off x="8424464" y="617219"/>
            <a:ext cx="2779201" cy="92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body" idx="6"/>
          </p:nvPr>
        </p:nvSpPr>
        <p:spPr>
          <a:xfrm>
            <a:off x="8424463" y="1620441"/>
            <a:ext cx="2779201" cy="49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body" idx="7"/>
          </p:nvPr>
        </p:nvSpPr>
        <p:spPr>
          <a:xfrm>
            <a:off x="8424464" y="2680785"/>
            <a:ext cx="2779201" cy="92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body" idx="8"/>
          </p:nvPr>
        </p:nvSpPr>
        <p:spPr>
          <a:xfrm>
            <a:off x="8424463" y="3684008"/>
            <a:ext cx="2779201" cy="49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body" idx="9"/>
          </p:nvPr>
        </p:nvSpPr>
        <p:spPr>
          <a:xfrm>
            <a:off x="668348" y="2495795"/>
            <a:ext cx="3384001" cy="111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Helvetica Neue"/>
              <a:buNone/>
              <a:defRPr sz="152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3366031" cy="160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фактоидов">
  <p:cSld name="6 фактоидов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5345019" y="617219"/>
            <a:ext cx="2484001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2pPr>
            <a:lvl3pPr marL="1371600" lvl="2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−"/>
              <a:defRPr sz="5400"/>
            </a:lvl3pPr>
            <a:lvl4pPr marL="1828800" lvl="3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4pPr>
            <a:lvl5pPr marL="2286000" lvl="4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body" idx="2"/>
          </p:nvPr>
        </p:nvSpPr>
        <p:spPr>
          <a:xfrm>
            <a:off x="5345019" y="1452768"/>
            <a:ext cx="2484001" cy="5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0"/>
          <p:cNvSpPr txBox="1">
            <a:spLocks noGrp="1"/>
          </p:cNvSpPr>
          <p:nvPr>
            <p:ph type="body" idx="3"/>
          </p:nvPr>
        </p:nvSpPr>
        <p:spPr>
          <a:xfrm>
            <a:off x="8375766" y="617219"/>
            <a:ext cx="2484001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0"/>
          <p:cNvSpPr txBox="1">
            <a:spLocks noGrp="1"/>
          </p:cNvSpPr>
          <p:nvPr>
            <p:ph type="body" idx="4"/>
          </p:nvPr>
        </p:nvSpPr>
        <p:spPr>
          <a:xfrm>
            <a:off x="8375766" y="1452768"/>
            <a:ext cx="2484001" cy="5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5"/>
          </p:nvPr>
        </p:nvSpPr>
        <p:spPr>
          <a:xfrm>
            <a:off x="5345019" y="2293322"/>
            <a:ext cx="2484001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6"/>
          </p:nvPr>
        </p:nvSpPr>
        <p:spPr>
          <a:xfrm>
            <a:off x="5345019" y="3128871"/>
            <a:ext cx="2484001" cy="5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7"/>
          </p:nvPr>
        </p:nvSpPr>
        <p:spPr>
          <a:xfrm>
            <a:off x="8375766" y="2293322"/>
            <a:ext cx="2484001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8"/>
          </p:nvPr>
        </p:nvSpPr>
        <p:spPr>
          <a:xfrm>
            <a:off x="8375766" y="3128872"/>
            <a:ext cx="2484001" cy="59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9"/>
          </p:nvPr>
        </p:nvSpPr>
        <p:spPr>
          <a:xfrm>
            <a:off x="5345019" y="3971488"/>
            <a:ext cx="2484001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13"/>
          </p:nvPr>
        </p:nvSpPr>
        <p:spPr>
          <a:xfrm>
            <a:off x="5345019" y="4807039"/>
            <a:ext cx="2484001" cy="5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4"/>
          </p:nvPr>
        </p:nvSpPr>
        <p:spPr>
          <a:xfrm>
            <a:off x="8375766" y="3971488"/>
            <a:ext cx="2484001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15"/>
          </p:nvPr>
        </p:nvSpPr>
        <p:spPr>
          <a:xfrm>
            <a:off x="8375766" y="4807039"/>
            <a:ext cx="2484001" cy="5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body" idx="16"/>
          </p:nvPr>
        </p:nvSpPr>
        <p:spPr>
          <a:xfrm>
            <a:off x="671512" y="2496200"/>
            <a:ext cx="3384002" cy="111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Helvetica Neue"/>
              <a:buNone/>
              <a:defRPr sz="152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3366031" cy="160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фактоидов">
  <p:cSld name="9 фактоидов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5342973" y="621774"/>
            <a:ext cx="1764001" cy="80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2pPr>
            <a:lvl3pPr marL="1371600" lvl="2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−"/>
              <a:defRPr sz="5400"/>
            </a:lvl3pPr>
            <a:lvl4pPr marL="1828800" lvl="3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4pPr>
            <a:lvl5pPr marL="2286000" lvl="4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2"/>
          </p:nvPr>
        </p:nvSpPr>
        <p:spPr>
          <a:xfrm>
            <a:off x="5342973" y="1439766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3"/>
          </p:nvPr>
        </p:nvSpPr>
        <p:spPr>
          <a:xfrm>
            <a:off x="7395992" y="621774"/>
            <a:ext cx="1764001" cy="80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346"/>
              <a:buFont typeface="Helvetica Neue"/>
              <a:buNone/>
              <a:defRPr sz="5346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4"/>
          </p:nvPr>
        </p:nvSpPr>
        <p:spPr>
          <a:xfrm>
            <a:off x="7395992" y="1439766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5"/>
          </p:nvPr>
        </p:nvSpPr>
        <p:spPr>
          <a:xfrm>
            <a:off x="9445338" y="621774"/>
            <a:ext cx="1764001" cy="80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346"/>
              <a:buFont typeface="Helvetica Neue"/>
              <a:buNone/>
              <a:defRPr sz="5346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6"/>
          </p:nvPr>
        </p:nvSpPr>
        <p:spPr>
          <a:xfrm>
            <a:off x="9445338" y="1439766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7"/>
          </p:nvPr>
        </p:nvSpPr>
        <p:spPr>
          <a:xfrm>
            <a:off x="5342973" y="2524163"/>
            <a:ext cx="1764001" cy="7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238"/>
              <a:buFont typeface="Helvetica Neue"/>
              <a:buNone/>
              <a:defRPr sz="523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8"/>
          </p:nvPr>
        </p:nvSpPr>
        <p:spPr>
          <a:xfrm>
            <a:off x="5342973" y="3335806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9"/>
          </p:nvPr>
        </p:nvSpPr>
        <p:spPr>
          <a:xfrm>
            <a:off x="7399667" y="2524163"/>
            <a:ext cx="1764001" cy="7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238"/>
              <a:buFont typeface="Helvetica Neue"/>
              <a:buNone/>
              <a:defRPr sz="523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body" idx="13"/>
          </p:nvPr>
        </p:nvSpPr>
        <p:spPr>
          <a:xfrm>
            <a:off x="7399667" y="3335806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body" idx="14"/>
          </p:nvPr>
        </p:nvSpPr>
        <p:spPr>
          <a:xfrm>
            <a:off x="9452688" y="2524163"/>
            <a:ext cx="1764001" cy="7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238"/>
              <a:buFont typeface="Helvetica Neue"/>
              <a:buNone/>
              <a:defRPr sz="523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body" idx="15"/>
          </p:nvPr>
        </p:nvSpPr>
        <p:spPr>
          <a:xfrm>
            <a:off x="9452688" y="3335806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16"/>
          </p:nvPr>
        </p:nvSpPr>
        <p:spPr>
          <a:xfrm>
            <a:off x="5342973" y="4348796"/>
            <a:ext cx="1764001" cy="7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238"/>
              <a:buFont typeface="Helvetica Neue"/>
              <a:buNone/>
              <a:defRPr sz="523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7"/>
          </p:nvPr>
        </p:nvSpPr>
        <p:spPr>
          <a:xfrm>
            <a:off x="5342973" y="5157265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18"/>
          </p:nvPr>
        </p:nvSpPr>
        <p:spPr>
          <a:xfrm>
            <a:off x="7395992" y="4348796"/>
            <a:ext cx="1764001" cy="7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238"/>
              <a:buFont typeface="Helvetica Neue"/>
              <a:buNone/>
              <a:defRPr sz="523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body" idx="19"/>
          </p:nvPr>
        </p:nvSpPr>
        <p:spPr>
          <a:xfrm>
            <a:off x="7395992" y="5157265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body" idx="20"/>
          </p:nvPr>
        </p:nvSpPr>
        <p:spPr>
          <a:xfrm>
            <a:off x="9445338" y="4348796"/>
            <a:ext cx="1764001" cy="7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5238"/>
              <a:buFont typeface="Helvetica Neue"/>
              <a:buNone/>
              <a:defRPr sz="523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21"/>
          </p:nvPr>
        </p:nvSpPr>
        <p:spPr>
          <a:xfrm>
            <a:off x="9445338" y="5157265"/>
            <a:ext cx="1764001" cy="60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body" idx="22"/>
          </p:nvPr>
        </p:nvSpPr>
        <p:spPr>
          <a:xfrm>
            <a:off x="671512" y="2487266"/>
            <a:ext cx="3384002" cy="111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Helvetica Neue"/>
              <a:buNone/>
              <a:defRPr sz="152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3366031" cy="160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фактоидов">
  <p:cSld name="8 фактоидов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body" idx="1"/>
          </p:nvPr>
        </p:nvSpPr>
        <p:spPr>
          <a:xfrm>
            <a:off x="671512" y="2052228"/>
            <a:ext cx="2575862" cy="76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2pPr>
            <a:lvl3pPr marL="1371600" lvl="2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−"/>
              <a:defRPr sz="5400"/>
            </a:lvl3pPr>
            <a:lvl4pPr marL="1828800" lvl="3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4pPr>
            <a:lvl5pPr marL="2286000" lvl="4" indent="-5715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Char char="•"/>
              <a:defRPr sz="54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body" idx="2"/>
          </p:nvPr>
        </p:nvSpPr>
        <p:spPr>
          <a:xfrm>
            <a:off x="671512" y="2947810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3"/>
          </p:nvPr>
        </p:nvSpPr>
        <p:spPr>
          <a:xfrm>
            <a:off x="3433450" y="2052228"/>
            <a:ext cx="2575862" cy="76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body" idx="4"/>
          </p:nvPr>
        </p:nvSpPr>
        <p:spPr>
          <a:xfrm>
            <a:off x="3433450" y="2947810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32"/>
          <p:cNvSpPr txBox="1">
            <a:spLocks noGrp="1"/>
          </p:cNvSpPr>
          <p:nvPr>
            <p:ph type="body" idx="5"/>
          </p:nvPr>
        </p:nvSpPr>
        <p:spPr>
          <a:xfrm>
            <a:off x="6195388" y="2052228"/>
            <a:ext cx="2575862" cy="76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6"/>
          </p:nvPr>
        </p:nvSpPr>
        <p:spPr>
          <a:xfrm>
            <a:off x="6195388" y="2947810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body" idx="7"/>
          </p:nvPr>
        </p:nvSpPr>
        <p:spPr>
          <a:xfrm>
            <a:off x="8957326" y="2052228"/>
            <a:ext cx="2575862" cy="76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32"/>
          <p:cNvSpPr txBox="1">
            <a:spLocks noGrp="1"/>
          </p:cNvSpPr>
          <p:nvPr>
            <p:ph type="body" idx="8"/>
          </p:nvPr>
        </p:nvSpPr>
        <p:spPr>
          <a:xfrm>
            <a:off x="8957326" y="2947810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32"/>
          <p:cNvSpPr txBox="1">
            <a:spLocks noGrp="1"/>
          </p:cNvSpPr>
          <p:nvPr>
            <p:ph type="body" idx="9"/>
          </p:nvPr>
        </p:nvSpPr>
        <p:spPr>
          <a:xfrm>
            <a:off x="671512" y="4142061"/>
            <a:ext cx="2575862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body" idx="13"/>
          </p:nvPr>
        </p:nvSpPr>
        <p:spPr>
          <a:xfrm>
            <a:off x="671512" y="5031926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32"/>
          <p:cNvSpPr txBox="1">
            <a:spLocks noGrp="1"/>
          </p:cNvSpPr>
          <p:nvPr>
            <p:ph type="body" idx="14"/>
          </p:nvPr>
        </p:nvSpPr>
        <p:spPr>
          <a:xfrm>
            <a:off x="3433450" y="4142061"/>
            <a:ext cx="2575862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body" idx="15"/>
          </p:nvPr>
        </p:nvSpPr>
        <p:spPr>
          <a:xfrm>
            <a:off x="3433450" y="5031926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body" idx="16"/>
          </p:nvPr>
        </p:nvSpPr>
        <p:spPr>
          <a:xfrm>
            <a:off x="6195388" y="4142061"/>
            <a:ext cx="2575862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body" idx="17"/>
          </p:nvPr>
        </p:nvSpPr>
        <p:spPr>
          <a:xfrm>
            <a:off x="6195388" y="5031926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8"/>
          </p:nvPr>
        </p:nvSpPr>
        <p:spPr>
          <a:xfrm>
            <a:off x="8957326" y="4142061"/>
            <a:ext cx="2575862" cy="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Helvetica Neue"/>
              <a:buNone/>
              <a:defRPr sz="4968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19"/>
          </p:nvPr>
        </p:nvSpPr>
        <p:spPr>
          <a:xfrm>
            <a:off x="8957326" y="5031926"/>
            <a:ext cx="2575862" cy="62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68555" cy="62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а (android) ">
  <p:cSld name="Мокап телефона (android) 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3" descr="Рисунок 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8439" y="692150"/>
            <a:ext cx="2655711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3"/>
          <p:cNvSpPr>
            <a:spLocks noGrp="1"/>
          </p:cNvSpPr>
          <p:nvPr>
            <p:ph type="pic" idx="2"/>
          </p:nvPr>
        </p:nvSpPr>
        <p:spPr>
          <a:xfrm>
            <a:off x="7767579" y="1009594"/>
            <a:ext cx="2389453" cy="503401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33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18667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1 android)">
  <p:cSld name="Два мокапа телефона (1 android)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4663017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41" name="Google Shape;241;p34" descr="Рисунок 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18754" y="692150"/>
            <a:ext cx="2655711" cy="55086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2" name="Google Shape;242;p34"/>
          <p:cNvSpPr>
            <a:spLocks noGrp="1"/>
          </p:cNvSpPr>
          <p:nvPr>
            <p:ph type="pic" idx="2"/>
          </p:nvPr>
        </p:nvSpPr>
        <p:spPr>
          <a:xfrm>
            <a:off x="9057892" y="1009594"/>
            <a:ext cx="2389453" cy="503401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43" name="Google Shape;243;p34" descr="Рисунок 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04129" y="692150"/>
            <a:ext cx="2655711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>
            <a:spLocks noGrp="1"/>
          </p:cNvSpPr>
          <p:nvPr>
            <p:ph type="pic" idx="3"/>
          </p:nvPr>
        </p:nvSpPr>
        <p:spPr>
          <a:xfrm>
            <a:off x="6343267" y="1009594"/>
            <a:ext cx="2389453" cy="503401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34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2 android) ">
  <p:cSld name="Два мокапа телефона (2 android) 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>
            <a:spLocks noGrp="1"/>
          </p:cNvSpPr>
          <p:nvPr>
            <p:ph type="body" idx="1"/>
          </p:nvPr>
        </p:nvSpPr>
        <p:spPr>
          <a:xfrm>
            <a:off x="6850064" y="2055970"/>
            <a:ext cx="4663017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685588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49" name="Google Shape;249;p35" descr="Рисунок 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0573" y="692150"/>
            <a:ext cx="2655711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5"/>
          <p:cNvSpPr>
            <a:spLocks noGrp="1"/>
          </p:cNvSpPr>
          <p:nvPr>
            <p:ph type="pic" idx="2"/>
          </p:nvPr>
        </p:nvSpPr>
        <p:spPr>
          <a:xfrm>
            <a:off x="3469713" y="1009594"/>
            <a:ext cx="2389453" cy="503401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51" name="Google Shape;251;p35" descr="Рисунок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5948" y="692150"/>
            <a:ext cx="2655711" cy="5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5"/>
          <p:cNvSpPr>
            <a:spLocks noGrp="1"/>
          </p:cNvSpPr>
          <p:nvPr>
            <p:ph type="pic" idx="3"/>
          </p:nvPr>
        </p:nvSpPr>
        <p:spPr>
          <a:xfrm>
            <a:off x="755088" y="1009594"/>
            <a:ext cx="2389453" cy="503401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3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Увеличенный мокап телефона (android) ">
  <p:cSld name="Увеличенный мокап телефона (android) 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6" descr="Рисунок 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71106" y="692150"/>
            <a:ext cx="3863417" cy="80137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6"/>
          <p:cNvSpPr>
            <a:spLocks noGrp="1"/>
          </p:cNvSpPr>
          <p:nvPr>
            <p:ph type="pic" idx="2"/>
          </p:nvPr>
        </p:nvSpPr>
        <p:spPr>
          <a:xfrm>
            <a:off x="7274308" y="1170527"/>
            <a:ext cx="3457423" cy="734545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6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24486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542448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а ">
  <p:cSld name="Мокап телефона 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/>
          <p:nvPr/>
        </p:nvSpPr>
        <p:spPr>
          <a:xfrm>
            <a:off x="7915319" y="799033"/>
            <a:ext cx="2515561" cy="5321046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37"/>
          <p:cNvSpPr>
            <a:spLocks noGrp="1"/>
          </p:cNvSpPr>
          <p:nvPr>
            <p:ph type="pic" idx="2"/>
          </p:nvPr>
        </p:nvSpPr>
        <p:spPr>
          <a:xfrm>
            <a:off x="7960331" y="795425"/>
            <a:ext cx="2428738" cy="52953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37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18667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37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65" name="Google Shape;265;p37" descr="Рисунок 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88240" y="452281"/>
            <a:ext cx="3169716" cy="599138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1)">
  <p:cSld name="Два мокапа телефона (1)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4663017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8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270" name="Google Shape;270;p38"/>
          <p:cNvGrpSpPr/>
          <p:nvPr/>
        </p:nvGrpSpPr>
        <p:grpSpPr>
          <a:xfrm>
            <a:off x="8616939" y="452281"/>
            <a:ext cx="3169717" cy="5991384"/>
            <a:chOff x="0" y="0"/>
            <a:chExt cx="3169716" cy="5991382"/>
          </a:xfrm>
        </p:grpSpPr>
        <p:sp>
          <p:nvSpPr>
            <p:cNvPr id="271" name="Google Shape;271;p38"/>
            <p:cNvSpPr/>
            <p:nvPr/>
          </p:nvSpPr>
          <p:spPr>
            <a:xfrm>
              <a:off x="327079" y="346752"/>
              <a:ext cx="2515560" cy="5321046"/>
            </a:xfrm>
            <a:prstGeom prst="roundRect">
              <a:avLst>
                <a:gd name="adj" fmla="val 9524"/>
              </a:avLst>
            </a:prstGeom>
            <a:solidFill>
              <a:srgbClr val="00000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72" name="Google Shape;272;p38" descr="Рисунок 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3169716" cy="59913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3" name="Google Shape;273;p38"/>
          <p:cNvSpPr>
            <a:spLocks noGrp="1"/>
          </p:cNvSpPr>
          <p:nvPr>
            <p:ph type="pic" idx="2"/>
          </p:nvPr>
        </p:nvSpPr>
        <p:spPr>
          <a:xfrm>
            <a:off x="8989031" y="795425"/>
            <a:ext cx="2428738" cy="52953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74" name="Google Shape;274;p38"/>
          <p:cNvGrpSpPr/>
          <p:nvPr/>
        </p:nvGrpSpPr>
        <p:grpSpPr>
          <a:xfrm>
            <a:off x="5750197" y="452281"/>
            <a:ext cx="3169717" cy="5991384"/>
            <a:chOff x="0" y="0"/>
            <a:chExt cx="3169716" cy="5991382"/>
          </a:xfrm>
        </p:grpSpPr>
        <p:sp>
          <p:nvSpPr>
            <p:cNvPr id="275" name="Google Shape;275;p38"/>
            <p:cNvSpPr/>
            <p:nvPr/>
          </p:nvSpPr>
          <p:spPr>
            <a:xfrm>
              <a:off x="327078" y="346752"/>
              <a:ext cx="2515560" cy="5321046"/>
            </a:xfrm>
            <a:prstGeom prst="roundRect">
              <a:avLst>
                <a:gd name="adj" fmla="val 9524"/>
              </a:avLst>
            </a:prstGeom>
            <a:solidFill>
              <a:srgbClr val="00000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76" name="Google Shape;276;p38" descr="Рисунок 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3169716" cy="59913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38"/>
          <p:cNvSpPr>
            <a:spLocks noGrp="1"/>
          </p:cNvSpPr>
          <p:nvPr>
            <p:ph type="pic" idx="3"/>
          </p:nvPr>
        </p:nvSpPr>
        <p:spPr>
          <a:xfrm>
            <a:off x="6122287" y="795425"/>
            <a:ext cx="2428738" cy="52953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3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мокапа телефона (2)">
  <p:cSld name="Два мокапа телефона (2)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/>
          <p:nvPr/>
        </p:nvSpPr>
        <p:spPr>
          <a:xfrm>
            <a:off x="3622719" y="799033"/>
            <a:ext cx="2515561" cy="5321046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39"/>
          <p:cNvSpPr txBox="1">
            <a:spLocks noGrp="1"/>
          </p:cNvSpPr>
          <p:nvPr>
            <p:ph type="body" idx="1"/>
          </p:nvPr>
        </p:nvSpPr>
        <p:spPr>
          <a:xfrm>
            <a:off x="6850064" y="2055970"/>
            <a:ext cx="4663017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39"/>
          <p:cNvSpPr txBox="1">
            <a:spLocks noGrp="1"/>
          </p:cNvSpPr>
          <p:nvPr>
            <p:ph type="title"/>
          </p:nvPr>
        </p:nvSpPr>
        <p:spPr>
          <a:xfrm>
            <a:off x="685588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9"/>
          <p:cNvSpPr>
            <a:spLocks noGrp="1"/>
          </p:cNvSpPr>
          <p:nvPr>
            <p:ph type="pic" idx="2"/>
          </p:nvPr>
        </p:nvSpPr>
        <p:spPr>
          <a:xfrm>
            <a:off x="3667731" y="795425"/>
            <a:ext cx="2428738" cy="52953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39"/>
          <p:cNvSpPr/>
          <p:nvPr/>
        </p:nvSpPr>
        <p:spPr>
          <a:xfrm>
            <a:off x="755974" y="799033"/>
            <a:ext cx="2515561" cy="5321046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39"/>
          <p:cNvSpPr>
            <a:spLocks noGrp="1"/>
          </p:cNvSpPr>
          <p:nvPr>
            <p:ph type="pic" idx="3"/>
          </p:nvPr>
        </p:nvSpPr>
        <p:spPr>
          <a:xfrm>
            <a:off x="800987" y="795425"/>
            <a:ext cx="2428738" cy="52953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86" name="Google Shape;286;p39" descr="Рисунок 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5641" y="452281"/>
            <a:ext cx="3169716" cy="5991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9" descr="Рисунок 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8896" y="452281"/>
            <a:ext cx="3169717" cy="599138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Увеличенный мокап телефона ">
  <p:cSld name="Увеличенный мокап телефона 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/>
          <p:nvPr/>
        </p:nvSpPr>
        <p:spPr>
          <a:xfrm>
            <a:off x="7508393" y="991395"/>
            <a:ext cx="3355919" cy="7215894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p40"/>
          <p:cNvSpPr>
            <a:spLocks noGrp="1"/>
          </p:cNvSpPr>
          <p:nvPr>
            <p:ph type="pic" idx="2"/>
          </p:nvPr>
        </p:nvSpPr>
        <p:spPr>
          <a:xfrm>
            <a:off x="7530642" y="991396"/>
            <a:ext cx="3311421" cy="716400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40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24486" cy="41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542448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94" name="Google Shape;294;p40" descr="Рисунок 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39061" y="498013"/>
            <a:ext cx="4303546" cy="813454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криншот (16:9)">
  <p:cSld name="Скриншот (16:9)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>
            <a:spLocks noGrp="1"/>
          </p:cNvSpPr>
          <p:nvPr>
            <p:ph type="pic" idx="2"/>
          </p:nvPr>
        </p:nvSpPr>
        <p:spPr>
          <a:xfrm>
            <a:off x="5671079" y="2083205"/>
            <a:ext cx="5866490" cy="3599615"/>
          </a:xfrm>
          <a:prstGeom prst="rect">
            <a:avLst/>
          </a:prstGeom>
          <a:noFill/>
          <a:ln>
            <a:noFill/>
          </a:ln>
        </p:spPr>
      </p:sp>
      <p:pic>
        <p:nvPicPr>
          <p:cNvPr id="298" name="Google Shape;298;p41" descr="Рисунок 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76900" y="1773238"/>
            <a:ext cx="5868988" cy="30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1"/>
          <p:cNvSpPr txBox="1">
            <a:spLocks noGrp="1"/>
          </p:cNvSpPr>
          <p:nvPr>
            <p:ph type="body" idx="1"/>
          </p:nvPr>
        </p:nvSpPr>
        <p:spPr>
          <a:xfrm>
            <a:off x="671514" y="1773239"/>
            <a:ext cx="4649786" cy="418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41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68555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">
  <p:cSld name="1 фото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43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43"/>
          <p:cNvSpPr txBox="1">
            <a:spLocks noGrp="1"/>
          </p:cNvSpPr>
          <p:nvPr>
            <p:ph type="body" idx="1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43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 фото">
  <p:cSld name="1_1 фото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4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301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44"/>
          <p:cNvSpPr txBox="1">
            <a:spLocks noGrp="1"/>
          </p:cNvSpPr>
          <p:nvPr>
            <p:ph type="body" idx="1"/>
          </p:nvPr>
        </p:nvSpPr>
        <p:spPr>
          <a:xfrm>
            <a:off x="6864350" y="2018599"/>
            <a:ext cx="4649787" cy="418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44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 + подпись">
  <p:cSld name="1 фото + подпись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>
            <a:spLocks noGrp="1"/>
          </p:cNvSpPr>
          <p:nvPr>
            <p:ph type="pic" idx="2"/>
          </p:nvPr>
        </p:nvSpPr>
        <p:spPr>
          <a:xfrm>
            <a:off x="6096000" y="692151"/>
            <a:ext cx="5437188" cy="4182177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5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88" cy="35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−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800"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45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88" cy="684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5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45"/>
          <p:cNvSpPr txBox="1">
            <a:spLocks noGrp="1"/>
          </p:cNvSpPr>
          <p:nvPr>
            <p:ph type="body" idx="4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5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в кружке">
  <p:cSld name="Фото в кружке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>
            <a:spLocks noGrp="1"/>
          </p:cNvSpPr>
          <p:nvPr>
            <p:ph type="pic" idx="2"/>
          </p:nvPr>
        </p:nvSpPr>
        <p:spPr>
          <a:xfrm>
            <a:off x="1608083" y="1773236"/>
            <a:ext cx="3156226" cy="3156227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6"/>
          <p:cNvSpPr txBox="1">
            <a:spLocks noGrp="1"/>
          </p:cNvSpPr>
          <p:nvPr>
            <p:ph type="title"/>
          </p:nvPr>
        </p:nvSpPr>
        <p:spPr>
          <a:xfrm>
            <a:off x="5340350" y="2201187"/>
            <a:ext cx="4891857" cy="1063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46"/>
          <p:cNvSpPr txBox="1">
            <a:spLocks noGrp="1"/>
          </p:cNvSpPr>
          <p:nvPr>
            <p:ph type="body" idx="1"/>
          </p:nvPr>
        </p:nvSpPr>
        <p:spPr>
          <a:xfrm>
            <a:off x="5337597" y="3441163"/>
            <a:ext cx="4894516" cy="117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4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сообществ">
  <p:cSld name="16 сообществ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7"/>
          <p:cNvSpPr>
            <a:spLocks noGrp="1"/>
          </p:cNvSpPr>
          <p:nvPr>
            <p:ph type="pic" idx="2"/>
          </p:nvPr>
        </p:nvSpPr>
        <p:spPr>
          <a:xfrm>
            <a:off x="5349730" y="800100"/>
            <a:ext cx="1091572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7"/>
          <p:cNvSpPr>
            <a:spLocks noGrp="1"/>
          </p:cNvSpPr>
          <p:nvPr>
            <p:ph type="pic" idx="3"/>
          </p:nvPr>
        </p:nvSpPr>
        <p:spPr>
          <a:xfrm>
            <a:off x="6950626" y="800100"/>
            <a:ext cx="1091572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7"/>
          <p:cNvSpPr>
            <a:spLocks noGrp="1"/>
          </p:cNvSpPr>
          <p:nvPr>
            <p:ph type="pic" idx="4"/>
          </p:nvPr>
        </p:nvSpPr>
        <p:spPr>
          <a:xfrm>
            <a:off x="8511196" y="800100"/>
            <a:ext cx="1091572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7"/>
          <p:cNvSpPr>
            <a:spLocks noGrp="1"/>
          </p:cNvSpPr>
          <p:nvPr>
            <p:ph type="pic" idx="5"/>
          </p:nvPr>
        </p:nvSpPr>
        <p:spPr>
          <a:xfrm>
            <a:off x="10112093" y="800100"/>
            <a:ext cx="1091572" cy="1091571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7"/>
          <p:cNvSpPr>
            <a:spLocks noGrp="1"/>
          </p:cNvSpPr>
          <p:nvPr>
            <p:ph type="pic" idx="6"/>
          </p:nvPr>
        </p:nvSpPr>
        <p:spPr>
          <a:xfrm>
            <a:off x="5349730" y="2248638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7"/>
          <p:cNvSpPr>
            <a:spLocks noGrp="1"/>
          </p:cNvSpPr>
          <p:nvPr>
            <p:ph type="pic" idx="7"/>
          </p:nvPr>
        </p:nvSpPr>
        <p:spPr>
          <a:xfrm>
            <a:off x="6950626" y="2248638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7"/>
          <p:cNvSpPr>
            <a:spLocks noGrp="1"/>
          </p:cNvSpPr>
          <p:nvPr>
            <p:ph type="pic" idx="8"/>
          </p:nvPr>
        </p:nvSpPr>
        <p:spPr>
          <a:xfrm>
            <a:off x="8511196" y="2248638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7"/>
          <p:cNvSpPr>
            <a:spLocks noGrp="1"/>
          </p:cNvSpPr>
          <p:nvPr>
            <p:ph type="pic" idx="9"/>
          </p:nvPr>
        </p:nvSpPr>
        <p:spPr>
          <a:xfrm>
            <a:off x="10112093" y="2248638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47"/>
          <p:cNvSpPr>
            <a:spLocks noGrp="1"/>
          </p:cNvSpPr>
          <p:nvPr>
            <p:ph type="pic" idx="13"/>
          </p:nvPr>
        </p:nvSpPr>
        <p:spPr>
          <a:xfrm>
            <a:off x="5349730" y="3697177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7"/>
          <p:cNvSpPr>
            <a:spLocks noGrp="1"/>
          </p:cNvSpPr>
          <p:nvPr>
            <p:ph type="pic" idx="14"/>
          </p:nvPr>
        </p:nvSpPr>
        <p:spPr>
          <a:xfrm>
            <a:off x="6950626" y="3697177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47"/>
          <p:cNvSpPr>
            <a:spLocks noGrp="1"/>
          </p:cNvSpPr>
          <p:nvPr>
            <p:ph type="pic" idx="15"/>
          </p:nvPr>
        </p:nvSpPr>
        <p:spPr>
          <a:xfrm>
            <a:off x="8511196" y="3697177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7"/>
          <p:cNvSpPr>
            <a:spLocks noGrp="1"/>
          </p:cNvSpPr>
          <p:nvPr>
            <p:ph type="pic" idx="16"/>
          </p:nvPr>
        </p:nvSpPr>
        <p:spPr>
          <a:xfrm>
            <a:off x="10112093" y="3697177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7"/>
          <p:cNvSpPr>
            <a:spLocks noGrp="1"/>
          </p:cNvSpPr>
          <p:nvPr>
            <p:ph type="pic" idx="17"/>
          </p:nvPr>
        </p:nvSpPr>
        <p:spPr>
          <a:xfrm>
            <a:off x="5349730" y="5145716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7"/>
          <p:cNvSpPr>
            <a:spLocks noGrp="1"/>
          </p:cNvSpPr>
          <p:nvPr>
            <p:ph type="pic" idx="18"/>
          </p:nvPr>
        </p:nvSpPr>
        <p:spPr>
          <a:xfrm>
            <a:off x="6950626" y="5145716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7"/>
          <p:cNvSpPr>
            <a:spLocks noGrp="1"/>
          </p:cNvSpPr>
          <p:nvPr>
            <p:ph type="pic" idx="19"/>
          </p:nvPr>
        </p:nvSpPr>
        <p:spPr>
          <a:xfrm>
            <a:off x="8511196" y="5145716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7"/>
          <p:cNvSpPr>
            <a:spLocks noGrp="1"/>
          </p:cNvSpPr>
          <p:nvPr>
            <p:ph type="pic" idx="20"/>
          </p:nvPr>
        </p:nvSpPr>
        <p:spPr>
          <a:xfrm>
            <a:off x="10112093" y="5145716"/>
            <a:ext cx="1091572" cy="1091572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7"/>
          <p:cNvSpPr txBox="1">
            <a:spLocks noGrp="1"/>
          </p:cNvSpPr>
          <p:nvPr>
            <p:ph type="body" idx="1"/>
          </p:nvPr>
        </p:nvSpPr>
        <p:spPr>
          <a:xfrm>
            <a:off x="671512" y="2550946"/>
            <a:ext cx="3371851" cy="368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47"/>
          <p:cNvSpPr txBox="1">
            <a:spLocks noGrp="1"/>
          </p:cNvSpPr>
          <p:nvPr>
            <p:ph type="title"/>
          </p:nvPr>
        </p:nvSpPr>
        <p:spPr>
          <a:xfrm>
            <a:off x="677333" y="692148"/>
            <a:ext cx="3366031" cy="170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">
  <p:cSld name="Цитата 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/>
        </p:nvSpPr>
        <p:spPr>
          <a:xfrm>
            <a:off x="3105308" y="-1049150"/>
            <a:ext cx="1876110" cy="439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0"/>
              <a:buFont typeface="Play"/>
              <a:buNone/>
            </a:pPr>
            <a:r>
              <a:rPr lang="en-US" sz="28800" b="1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8"/>
          <p:cNvSpPr txBox="1">
            <a:spLocks noGrp="1"/>
          </p:cNvSpPr>
          <p:nvPr>
            <p:ph type="body" idx="1"/>
          </p:nvPr>
        </p:nvSpPr>
        <p:spPr>
          <a:xfrm>
            <a:off x="5346701" y="711408"/>
            <a:ext cx="6199187" cy="106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>
                <a:solidFill>
                  <a:schemeClr val="accent1"/>
                </a:solidFill>
              </a:defRPr>
            </a:lvl1pPr>
            <a:lvl2pPr marL="914400" lvl="1" indent="-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Char char="•"/>
              <a:defRPr sz="3600">
                <a:solidFill>
                  <a:schemeClr val="accent1"/>
                </a:solidFill>
              </a:defRPr>
            </a:lvl2pPr>
            <a:lvl3pPr marL="1371600" lvl="2" indent="-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Char char="−"/>
              <a:defRPr sz="3600">
                <a:solidFill>
                  <a:schemeClr val="accent1"/>
                </a:solidFill>
              </a:defRPr>
            </a:lvl3pPr>
            <a:lvl4pPr marL="1828800" lvl="3" indent="-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Char char="•"/>
              <a:defRPr sz="3600">
                <a:solidFill>
                  <a:schemeClr val="accent1"/>
                </a:solidFill>
              </a:defRPr>
            </a:lvl4pPr>
            <a:lvl5pPr marL="2286000" lvl="4" indent="-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Char char="•"/>
              <a:defRPr sz="360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48"/>
          <p:cNvSpPr>
            <a:spLocks noGrp="1"/>
          </p:cNvSpPr>
          <p:nvPr>
            <p:ph type="pic" idx="2"/>
          </p:nvPr>
        </p:nvSpPr>
        <p:spPr>
          <a:xfrm>
            <a:off x="671513" y="800101"/>
            <a:ext cx="3370772" cy="3371553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8"/>
          <p:cNvSpPr txBox="1">
            <a:spLocks noGrp="1"/>
          </p:cNvSpPr>
          <p:nvPr>
            <p:ph type="body" idx="3"/>
          </p:nvPr>
        </p:nvSpPr>
        <p:spPr>
          <a:xfrm>
            <a:off x="672591" y="4580421"/>
            <a:ext cx="3372027" cy="88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Helvetica Neue"/>
              <a:buNone/>
              <a:defRPr sz="24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9" name="Google Shape;349;p48"/>
          <p:cNvSpPr txBox="1">
            <a:spLocks noGrp="1"/>
          </p:cNvSpPr>
          <p:nvPr>
            <p:ph type="body" idx="4"/>
          </p:nvPr>
        </p:nvSpPr>
        <p:spPr>
          <a:xfrm>
            <a:off x="672591" y="5490167"/>
            <a:ext cx="3370772" cy="710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48"/>
          <p:cNvSpPr txBox="1">
            <a:spLocks noGrp="1"/>
          </p:cNvSpPr>
          <p:nvPr>
            <p:ph type="body" idx="5"/>
          </p:nvPr>
        </p:nvSpPr>
        <p:spPr>
          <a:xfrm>
            <a:off x="5346701" y="1983399"/>
            <a:ext cx="6194152" cy="416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4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без фото">
  <p:cSld name="Цитата без фото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9"/>
          <p:cNvSpPr txBox="1">
            <a:spLocks noGrp="1"/>
          </p:cNvSpPr>
          <p:nvPr>
            <p:ph type="body" idx="1"/>
          </p:nvPr>
        </p:nvSpPr>
        <p:spPr>
          <a:xfrm>
            <a:off x="3359150" y="692151"/>
            <a:ext cx="8174039" cy="160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Helvetica Neue"/>
              <a:buNone/>
              <a:defRPr sz="4400">
                <a:solidFill>
                  <a:schemeClr val="accent1"/>
                </a:solidFill>
              </a:defRPr>
            </a:lvl1pPr>
            <a:lvl2pPr marL="914400" lvl="1" indent="-508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Helvetica Neue"/>
              <a:buChar char="•"/>
              <a:defRPr sz="4400">
                <a:solidFill>
                  <a:schemeClr val="accent1"/>
                </a:solidFill>
              </a:defRPr>
            </a:lvl2pPr>
            <a:lvl3pPr marL="1371600" lvl="2" indent="-508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Helvetica Neue"/>
              <a:buChar char="−"/>
              <a:defRPr sz="4400">
                <a:solidFill>
                  <a:schemeClr val="accent1"/>
                </a:solidFill>
              </a:defRPr>
            </a:lvl3pPr>
            <a:lvl4pPr marL="1828800" lvl="3" indent="-508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Helvetica Neue"/>
              <a:buChar char="•"/>
              <a:defRPr sz="4400">
                <a:solidFill>
                  <a:schemeClr val="accent1"/>
                </a:solidFill>
              </a:defRPr>
            </a:lvl4pPr>
            <a:lvl5pPr marL="2286000" lvl="4" indent="-508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Helvetica Neue"/>
              <a:buChar char="•"/>
              <a:defRPr sz="440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9"/>
          <p:cNvSpPr txBox="1">
            <a:spLocks noGrp="1"/>
          </p:cNvSpPr>
          <p:nvPr>
            <p:ph type="body" idx="2"/>
          </p:nvPr>
        </p:nvSpPr>
        <p:spPr>
          <a:xfrm>
            <a:off x="3359150" y="5738829"/>
            <a:ext cx="8200515" cy="461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Helvetica Neue"/>
              <a:buNone/>
              <a:defRPr sz="24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9"/>
          <p:cNvSpPr txBox="1">
            <a:spLocks noGrp="1"/>
          </p:cNvSpPr>
          <p:nvPr>
            <p:ph type="body" idx="3"/>
          </p:nvPr>
        </p:nvSpPr>
        <p:spPr>
          <a:xfrm>
            <a:off x="3366813" y="2459421"/>
            <a:ext cx="8174040" cy="1609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4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9"/>
          <p:cNvSpPr txBox="1"/>
          <p:nvPr/>
        </p:nvSpPr>
        <p:spPr>
          <a:xfrm>
            <a:off x="635951" y="-1049151"/>
            <a:ext cx="1876110" cy="439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0"/>
              <a:buFont typeface="Play"/>
              <a:buNone/>
            </a:pPr>
            <a:r>
              <a:rPr lang="en-US" sz="28800" b="1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 QR">
  <p:cSld name="Финальный с QR">
    <p:bg>
      <p:bgPr>
        <a:solidFill>
          <a:schemeClr val="accen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0" descr="Рисунок 4"/>
          <p:cNvPicPr preferRelativeResize="0"/>
          <p:nvPr/>
        </p:nvPicPr>
        <p:blipFill rotWithShape="1">
          <a:blip r:embed="rId2">
            <a:alphaModFix/>
          </a:blip>
          <a:srcRect t="4670" r="3105" b="9239"/>
          <a:stretch/>
        </p:blipFill>
        <p:spPr>
          <a:xfrm>
            <a:off x="6311900" y="-1"/>
            <a:ext cx="58801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0"/>
          <p:cNvSpPr txBox="1">
            <a:spLocks noGrp="1"/>
          </p:cNvSpPr>
          <p:nvPr>
            <p:ph type="title"/>
          </p:nvPr>
        </p:nvSpPr>
        <p:spPr>
          <a:xfrm>
            <a:off x="620712" y="4372581"/>
            <a:ext cx="5475289" cy="182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  <a:defRPr sz="6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50"/>
          <p:cNvSpPr>
            <a:spLocks noGrp="1"/>
          </p:cNvSpPr>
          <p:nvPr>
            <p:ph type="pic" idx="2"/>
          </p:nvPr>
        </p:nvSpPr>
        <p:spPr>
          <a:xfrm>
            <a:off x="658812" y="692150"/>
            <a:ext cx="1289051" cy="128905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5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8"/>
          <p:cNvGrpSpPr/>
          <p:nvPr/>
        </p:nvGrpSpPr>
        <p:grpSpPr>
          <a:xfrm>
            <a:off x="-1" y="-114752"/>
            <a:ext cx="12188151" cy="64312"/>
            <a:chOff x="0" y="0"/>
            <a:chExt cx="12188149" cy="64310"/>
          </a:xfrm>
        </p:grpSpPr>
        <p:cxnSp>
          <p:nvCxnSpPr>
            <p:cNvPr id="7" name="Google Shape;7;p8"/>
            <p:cNvCxnSpPr/>
            <p:nvPr/>
          </p:nvCxnSpPr>
          <p:spPr>
            <a:xfrm flipH="1">
              <a:off x="0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8;p8"/>
            <p:cNvCxnSpPr/>
            <p:nvPr/>
          </p:nvCxnSpPr>
          <p:spPr>
            <a:xfrm>
              <a:off x="677119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9;p8"/>
            <p:cNvCxnSpPr/>
            <p:nvPr/>
          </p:nvCxnSpPr>
          <p:spPr>
            <a:xfrm>
              <a:off x="1354238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0;p8"/>
            <p:cNvCxnSpPr/>
            <p:nvPr/>
          </p:nvCxnSpPr>
          <p:spPr>
            <a:xfrm>
              <a:off x="2031357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1;p8"/>
            <p:cNvCxnSpPr/>
            <p:nvPr/>
          </p:nvCxnSpPr>
          <p:spPr>
            <a:xfrm>
              <a:off x="2708476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12;p8"/>
            <p:cNvCxnSpPr/>
            <p:nvPr/>
          </p:nvCxnSpPr>
          <p:spPr>
            <a:xfrm>
              <a:off x="3385595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13;p8"/>
            <p:cNvCxnSpPr/>
            <p:nvPr/>
          </p:nvCxnSpPr>
          <p:spPr>
            <a:xfrm>
              <a:off x="4062714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" name="Google Shape;14;p8"/>
            <p:cNvCxnSpPr/>
            <p:nvPr/>
          </p:nvCxnSpPr>
          <p:spPr>
            <a:xfrm>
              <a:off x="4739833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" name="Google Shape;15;p8"/>
            <p:cNvCxnSpPr/>
            <p:nvPr/>
          </p:nvCxnSpPr>
          <p:spPr>
            <a:xfrm>
              <a:off x="5416952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" name="Google Shape;16;p8"/>
            <p:cNvCxnSpPr/>
            <p:nvPr/>
          </p:nvCxnSpPr>
          <p:spPr>
            <a:xfrm>
              <a:off x="6094071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17;p8"/>
            <p:cNvCxnSpPr/>
            <p:nvPr/>
          </p:nvCxnSpPr>
          <p:spPr>
            <a:xfrm>
              <a:off x="6771190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" name="Google Shape;18;p8"/>
            <p:cNvCxnSpPr/>
            <p:nvPr/>
          </p:nvCxnSpPr>
          <p:spPr>
            <a:xfrm>
              <a:off x="7448308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9;p8"/>
            <p:cNvCxnSpPr/>
            <p:nvPr/>
          </p:nvCxnSpPr>
          <p:spPr>
            <a:xfrm>
              <a:off x="8125427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8"/>
            <p:cNvCxnSpPr/>
            <p:nvPr/>
          </p:nvCxnSpPr>
          <p:spPr>
            <a:xfrm>
              <a:off x="8802547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8"/>
            <p:cNvCxnSpPr/>
            <p:nvPr/>
          </p:nvCxnSpPr>
          <p:spPr>
            <a:xfrm>
              <a:off x="9479666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8"/>
            <p:cNvCxnSpPr/>
            <p:nvPr/>
          </p:nvCxnSpPr>
          <p:spPr>
            <a:xfrm>
              <a:off x="10156785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" name="Google Shape;23;p8"/>
            <p:cNvCxnSpPr/>
            <p:nvPr/>
          </p:nvCxnSpPr>
          <p:spPr>
            <a:xfrm>
              <a:off x="10833904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" name="Google Shape;24;p8"/>
            <p:cNvCxnSpPr/>
            <p:nvPr/>
          </p:nvCxnSpPr>
          <p:spPr>
            <a:xfrm>
              <a:off x="11511023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" name="Google Shape;25;p8"/>
            <p:cNvCxnSpPr/>
            <p:nvPr/>
          </p:nvCxnSpPr>
          <p:spPr>
            <a:xfrm>
              <a:off x="12188148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" name="Google Shape;26;p8"/>
          <p:cNvGrpSpPr/>
          <p:nvPr/>
        </p:nvGrpSpPr>
        <p:grpSpPr>
          <a:xfrm>
            <a:off x="-4" y="6987088"/>
            <a:ext cx="12188151" cy="64312"/>
            <a:chOff x="0" y="0"/>
            <a:chExt cx="12188149" cy="64310"/>
          </a:xfrm>
        </p:grpSpPr>
        <p:cxnSp>
          <p:nvCxnSpPr>
            <p:cNvPr id="27" name="Google Shape;27;p8"/>
            <p:cNvCxnSpPr/>
            <p:nvPr/>
          </p:nvCxnSpPr>
          <p:spPr>
            <a:xfrm flipH="1">
              <a:off x="0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8"/>
            <p:cNvCxnSpPr/>
            <p:nvPr/>
          </p:nvCxnSpPr>
          <p:spPr>
            <a:xfrm>
              <a:off x="677119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" name="Google Shape;29;p8"/>
            <p:cNvCxnSpPr/>
            <p:nvPr/>
          </p:nvCxnSpPr>
          <p:spPr>
            <a:xfrm>
              <a:off x="1354238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30;p8"/>
            <p:cNvCxnSpPr/>
            <p:nvPr/>
          </p:nvCxnSpPr>
          <p:spPr>
            <a:xfrm>
              <a:off x="2031357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31;p8"/>
            <p:cNvCxnSpPr/>
            <p:nvPr/>
          </p:nvCxnSpPr>
          <p:spPr>
            <a:xfrm>
              <a:off x="2708476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" name="Google Shape;32;p8"/>
            <p:cNvCxnSpPr/>
            <p:nvPr/>
          </p:nvCxnSpPr>
          <p:spPr>
            <a:xfrm>
              <a:off x="3385595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" name="Google Shape;33;p8"/>
            <p:cNvCxnSpPr/>
            <p:nvPr/>
          </p:nvCxnSpPr>
          <p:spPr>
            <a:xfrm>
              <a:off x="4062714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34;p8"/>
            <p:cNvCxnSpPr/>
            <p:nvPr/>
          </p:nvCxnSpPr>
          <p:spPr>
            <a:xfrm>
              <a:off x="4739833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35;p8"/>
            <p:cNvCxnSpPr/>
            <p:nvPr/>
          </p:nvCxnSpPr>
          <p:spPr>
            <a:xfrm>
              <a:off x="5416952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8"/>
            <p:cNvCxnSpPr/>
            <p:nvPr/>
          </p:nvCxnSpPr>
          <p:spPr>
            <a:xfrm>
              <a:off x="6094071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" name="Google Shape;37;p8"/>
            <p:cNvCxnSpPr/>
            <p:nvPr/>
          </p:nvCxnSpPr>
          <p:spPr>
            <a:xfrm>
              <a:off x="6771190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38;p8"/>
            <p:cNvCxnSpPr/>
            <p:nvPr/>
          </p:nvCxnSpPr>
          <p:spPr>
            <a:xfrm>
              <a:off x="7448308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39;p8"/>
            <p:cNvCxnSpPr/>
            <p:nvPr/>
          </p:nvCxnSpPr>
          <p:spPr>
            <a:xfrm>
              <a:off x="8125427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8"/>
            <p:cNvCxnSpPr/>
            <p:nvPr/>
          </p:nvCxnSpPr>
          <p:spPr>
            <a:xfrm>
              <a:off x="8802547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" name="Google Shape;41;p8"/>
            <p:cNvCxnSpPr/>
            <p:nvPr/>
          </p:nvCxnSpPr>
          <p:spPr>
            <a:xfrm>
              <a:off x="9479666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42;p8"/>
            <p:cNvCxnSpPr/>
            <p:nvPr/>
          </p:nvCxnSpPr>
          <p:spPr>
            <a:xfrm>
              <a:off x="10156785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8"/>
            <p:cNvCxnSpPr/>
            <p:nvPr/>
          </p:nvCxnSpPr>
          <p:spPr>
            <a:xfrm>
              <a:off x="10833904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" name="Google Shape;44;p8"/>
            <p:cNvCxnSpPr/>
            <p:nvPr/>
          </p:nvCxnSpPr>
          <p:spPr>
            <a:xfrm>
              <a:off x="11511023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" name="Google Shape;45;p8"/>
            <p:cNvCxnSpPr/>
            <p:nvPr/>
          </p:nvCxnSpPr>
          <p:spPr>
            <a:xfrm>
              <a:off x="12188148" y="0"/>
              <a:ext cx="1" cy="6431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"/>
              <a:buNone/>
              <a:defRPr sz="3600" b="0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−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"/>
          <p:cNvSpPr txBox="1">
            <a:spLocks noGrp="1"/>
          </p:cNvSpPr>
          <p:nvPr>
            <p:ph type="body" idx="1"/>
          </p:nvPr>
        </p:nvSpPr>
        <p:spPr>
          <a:xfrm>
            <a:off x="690540" y="4722124"/>
            <a:ext cx="10223501" cy="586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Helvetica Neue"/>
              <a:buNone/>
            </a:pPr>
            <a:r>
              <a:rPr lang="ru-RU" sz="1879" dirty="0"/>
              <a:t>Павел Галанин</a:t>
            </a:r>
            <a:br>
              <a:rPr lang="ru-RU" sz="1879" dirty="0"/>
            </a:br>
            <a:endParaRPr lang="ru-RU" sz="1879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Helvetica Neue"/>
              <a:buNone/>
            </a:pPr>
            <a:r>
              <a:rPr lang="ru-RU" sz="1879" dirty="0"/>
              <a:t>Весна 2026</a:t>
            </a:r>
            <a:endParaRPr dirty="0"/>
          </a:p>
        </p:txBody>
      </p:sp>
      <p:sp>
        <p:nvSpPr>
          <p:cNvPr id="368" name="Google Shape;368;p1"/>
          <p:cNvSpPr txBox="1">
            <a:spLocks noGrp="1"/>
          </p:cNvSpPr>
          <p:nvPr>
            <p:ph type="title"/>
          </p:nvPr>
        </p:nvSpPr>
        <p:spPr>
          <a:xfrm>
            <a:off x="690540" y="699320"/>
            <a:ext cx="10220325" cy="252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Helvetica Neue"/>
              <a:buNone/>
            </a:pPr>
            <a:r>
              <a:rPr lang="en-US" dirty="0"/>
              <a:t>CI/CD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Helvetica Neue"/>
              <a:buNone/>
            </a:pPr>
            <a:endParaRPr dirty="0"/>
          </a:p>
        </p:txBody>
      </p:sp>
      <p:sp>
        <p:nvSpPr>
          <p:cNvPr id="369" name="Google Shape;369;p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c12dbef81_0_49"/>
          <p:cNvSpPr txBox="1">
            <a:spLocks noGrp="1"/>
          </p:cNvSpPr>
          <p:nvPr>
            <p:ph type="title"/>
          </p:nvPr>
        </p:nvSpPr>
        <p:spPr>
          <a:xfrm>
            <a:off x="677333" y="692149"/>
            <a:ext cx="10855800" cy="11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4400" dirty="0"/>
              <a:t>С</a:t>
            </a:r>
            <a:r>
              <a:rPr lang="en-US" sz="4400" dirty="0"/>
              <a:t>I/CD</a:t>
            </a:r>
            <a:r>
              <a:rPr lang="ru-RU" sz="4400" dirty="0"/>
              <a:t>: Зачем?</a:t>
            </a:r>
            <a:endParaRPr sz="4400" dirty="0"/>
          </a:p>
        </p:txBody>
      </p:sp>
      <p:sp>
        <p:nvSpPr>
          <p:cNvPr id="402" name="Google Shape;402;g22c12dbef81_0_4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6826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c12dbef81_0_49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А какую проблему мы решаем?</a:t>
            </a:r>
            <a:endParaRPr dirty="0"/>
          </a:p>
        </p:txBody>
      </p:sp>
      <p:sp>
        <p:nvSpPr>
          <p:cNvPr id="402" name="Google Shape;402;g22c12dbef81_0_4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03" name="Google Shape;403;g22c12dbef81_0_49"/>
          <p:cNvSpPr txBox="1">
            <a:spLocks noGrp="1"/>
          </p:cNvSpPr>
          <p:nvPr>
            <p:ph type="body" idx="1"/>
          </p:nvPr>
        </p:nvSpPr>
        <p:spPr>
          <a:xfrm>
            <a:off x="6105233" y="1716338"/>
            <a:ext cx="4826624" cy="44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ru-RU" dirty="0"/>
              <a:t>Решение: </a:t>
            </a:r>
            <a:r>
              <a:rPr lang="en-GB" i="1" dirty="0"/>
              <a:t>DevOps </a:t>
            </a:r>
            <a:r>
              <a:rPr lang="ru-RU" i="1" dirty="0"/>
              <a:t>и </a:t>
            </a:r>
            <a:r>
              <a:rPr lang="en-GB" i="1" dirty="0"/>
              <a:t>Extreme</a:t>
            </a:r>
            <a:r>
              <a:rPr lang="ru-RU" i="1" dirty="0"/>
              <a:t> </a:t>
            </a:r>
            <a:r>
              <a:rPr lang="en-GB" i="1" dirty="0"/>
              <a:t>Programming</a:t>
            </a:r>
          </a:p>
          <a:p>
            <a:r>
              <a:rPr lang="en-RU" dirty="0"/>
              <a:t>🟢 </a:t>
            </a:r>
            <a:r>
              <a:rPr lang="en-GB" b="1" dirty="0"/>
              <a:t>CI (</a:t>
            </a:r>
            <a:r>
              <a:rPr lang="ru-RU" b="1" dirty="0"/>
              <a:t>Интеграция):</a:t>
            </a:r>
            <a:r>
              <a:rPr lang="ru-RU" dirty="0"/>
              <a:t> Сливаем код каждый день. Ошибка? Узнаем через 5 минут.</a:t>
            </a:r>
          </a:p>
          <a:p>
            <a:endParaRPr lang="ru-RU" dirty="0"/>
          </a:p>
          <a:p>
            <a:r>
              <a:rPr lang="en-RU" dirty="0"/>
              <a:t>🟢 </a:t>
            </a:r>
            <a:r>
              <a:rPr lang="en-GB" b="1" dirty="0"/>
              <a:t>CD (</a:t>
            </a:r>
            <a:r>
              <a:rPr lang="ru-RU" b="1" dirty="0"/>
              <a:t>Доставка):</a:t>
            </a:r>
            <a:r>
              <a:rPr lang="ru-RU" dirty="0"/>
              <a:t> Релиз — это предсказуемая, скучная кнопка, а не подвиг.</a:t>
            </a:r>
          </a:p>
          <a:p>
            <a:endParaRPr lang="ru-RU" dirty="0"/>
          </a:p>
          <a:p>
            <a:r>
              <a:rPr lang="en-RU" dirty="0"/>
              <a:t>🟢 </a:t>
            </a:r>
            <a:r>
              <a:rPr lang="ru-RU" dirty="0"/>
              <a:t>Единое, стандартизированное окружение сборки для всей команды.</a:t>
            </a: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" name="Google Shape;403;g22c12dbef81_0_49">
            <a:extLst>
              <a:ext uri="{FF2B5EF4-FFF2-40B4-BE49-F238E27FC236}">
                <a16:creationId xmlns:a16="http://schemas.microsoft.com/office/drawing/2014/main" id="{A574123D-513B-E811-9E78-0059C76DA132}"/>
              </a:ext>
            </a:extLst>
          </p:cNvPr>
          <p:cNvSpPr txBox="1">
            <a:spLocks/>
          </p:cNvSpPr>
          <p:nvPr/>
        </p:nvSpPr>
        <p:spPr>
          <a:xfrm>
            <a:off x="677333" y="1738450"/>
            <a:ext cx="4153990" cy="44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−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/>
              <a:t>90-е и 00-е: </a:t>
            </a:r>
            <a:r>
              <a:rPr lang="ru-RU" i="1" dirty="0"/>
              <a:t>Эпоха ручного труда</a:t>
            </a:r>
          </a:p>
          <a:p>
            <a:r>
              <a:rPr lang="ru-RU" dirty="0"/>
              <a:t>🔴 Месяцы работы в своих ветках → </a:t>
            </a:r>
            <a:r>
              <a:rPr lang="ru-RU" b="1" dirty="0"/>
              <a:t>«</a:t>
            </a:r>
            <a:r>
              <a:rPr lang="en-GB" b="1" dirty="0"/>
              <a:t>Merge Day»</a:t>
            </a:r>
            <a:r>
              <a:rPr lang="en-GB" dirty="0"/>
              <a:t> </a:t>
            </a:r>
            <a:endParaRPr lang="ru-RU" dirty="0"/>
          </a:p>
          <a:p>
            <a:pPr marL="1074738" indent="-285750">
              <a:buFont typeface="Arial" panose="020B0604020202020204" pitchFamily="34" charset="0"/>
              <a:buChar char="•"/>
            </a:pPr>
            <a:r>
              <a:rPr lang="ru-RU" dirty="0"/>
              <a:t>конфликты кода</a:t>
            </a:r>
          </a:p>
          <a:p>
            <a:pPr marL="1074738" indent="-285750">
              <a:buFont typeface="Arial" panose="020B0604020202020204" pitchFamily="34" charset="0"/>
              <a:buChar char="•"/>
            </a:pPr>
            <a:r>
              <a:rPr lang="ru-RU" dirty="0"/>
              <a:t>сломанная логика</a:t>
            </a:r>
          </a:p>
          <a:p>
            <a:pPr marL="1074738" indent="-285750">
              <a:buFont typeface="Arial" panose="020B0604020202020204" pitchFamily="34" charset="0"/>
              <a:buChar char="•"/>
            </a:pPr>
            <a:r>
              <a:rPr lang="ru-RU" dirty="0"/>
              <a:t>недели на починку</a:t>
            </a:r>
          </a:p>
          <a:p>
            <a:r>
              <a:rPr lang="ru-RU" dirty="0"/>
              <a:t>🔴 Релиз = бессонная ночь, ручные скрипты, заклинания сисадмина</a:t>
            </a:r>
          </a:p>
          <a:p>
            <a:r>
              <a:rPr lang="ru-RU" dirty="0"/>
              <a:t>🔴 </a:t>
            </a:r>
            <a:r>
              <a:rPr lang="ru-RU" i="1" dirty="0"/>
              <a:t>«А у меня всё работает!»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c12dbef81_0_49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А какую проблему мы решаем?</a:t>
            </a:r>
            <a:endParaRPr dirty="0"/>
          </a:p>
        </p:txBody>
      </p:sp>
      <p:sp>
        <p:nvSpPr>
          <p:cNvPr id="402" name="Google Shape;402;g22c12dbef81_0_4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1BC7F-FDF0-76F3-1E4D-8CEE094BD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2" y="1773238"/>
            <a:ext cx="8698679" cy="4427538"/>
          </a:xfrm>
        </p:spPr>
        <p:txBody>
          <a:bodyPr/>
          <a:lstStyle/>
          <a:p>
            <a:r>
              <a:rPr lang="ru-RU" dirty="0"/>
              <a:t>Для мобильной разработки ещё критичнее - слишком высока цена ошибки:</a:t>
            </a:r>
          </a:p>
          <a:p>
            <a:endParaRPr lang="ru-RU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 err="1"/>
              <a:t>Креш</a:t>
            </a:r>
            <a:r>
              <a:rPr lang="ru-RU" dirty="0"/>
              <a:t> на старте </a:t>
            </a:r>
            <a:r>
              <a:rPr lang="en-US" dirty="0"/>
              <a:t>→ </a:t>
            </a:r>
            <a:r>
              <a:rPr lang="ru-RU" dirty="0"/>
              <a:t>1 звезда, пользователь удаляет приложение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Откатить на предыдущую версию нельзя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Доставка новой версии до пользователя занимает часы и даже дни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8047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c12dbef81_0_49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Что это?</a:t>
            </a:r>
            <a:endParaRPr/>
          </a:p>
        </p:txBody>
      </p:sp>
      <p:sp>
        <p:nvSpPr>
          <p:cNvPr id="402" name="Google Shape;402;g22c12dbef81_0_4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03" name="Google Shape;403;g22c12dbef81_0_49"/>
          <p:cNvSpPr txBox="1">
            <a:spLocks noGrp="1"/>
          </p:cNvSpPr>
          <p:nvPr>
            <p:ph type="body" idx="1"/>
          </p:nvPr>
        </p:nvSpPr>
        <p:spPr>
          <a:xfrm>
            <a:off x="677333" y="1336250"/>
            <a:ext cx="10855800" cy="483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73050" lvl="0" indent="309563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CI/CD -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практик</a:t>
            </a:r>
            <a:r>
              <a:rPr lang="en-US" dirty="0"/>
              <a:t> DevOps,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комбинации</a:t>
            </a:r>
            <a:r>
              <a:rPr lang="en-US" dirty="0"/>
              <a:t> </a:t>
            </a:r>
            <a:r>
              <a:rPr lang="en-US" dirty="0" err="1"/>
              <a:t>непрерывной</a:t>
            </a:r>
            <a:r>
              <a:rPr lang="en-US" dirty="0"/>
              <a:t> </a:t>
            </a:r>
            <a:r>
              <a:rPr lang="en-US" dirty="0" err="1"/>
              <a:t>интеграции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непрерывной</a:t>
            </a:r>
            <a:r>
              <a:rPr lang="en-US" dirty="0"/>
              <a:t> </a:t>
            </a:r>
            <a:r>
              <a:rPr lang="en-US" dirty="0" err="1"/>
              <a:t>доставк</a:t>
            </a:r>
            <a:r>
              <a:rPr lang="ru-RU" dirty="0"/>
              <a:t>и</a:t>
            </a:r>
            <a:br>
              <a:rPr lang="ru-RU" dirty="0"/>
            </a:br>
            <a:endParaRPr dirty="0"/>
          </a:p>
          <a:p>
            <a:pPr marL="273050" indent="309563"/>
            <a:r>
              <a:rPr lang="en-GB" dirty="0">
                <a:solidFill>
                  <a:schemeClr val="accent1"/>
                </a:solidFill>
              </a:rPr>
              <a:t>CI (Continuous Integration) — </a:t>
            </a:r>
            <a:r>
              <a:rPr lang="ru-RU" dirty="0">
                <a:solidFill>
                  <a:schemeClr val="accent1"/>
                </a:solidFill>
              </a:rPr>
              <a:t>Непрерывная интеграция</a:t>
            </a:r>
            <a:endParaRPr lang="en-US" dirty="0">
              <a:solidFill>
                <a:schemeClr val="accent1"/>
              </a:solidFill>
            </a:endParaRPr>
          </a:p>
          <a:p>
            <a:pPr marL="273050" indent="309563"/>
            <a:r>
              <a:rPr lang="ru-RU" dirty="0">
                <a:solidFill>
                  <a:schemeClr val="tx1"/>
                </a:solidFill>
              </a:rPr>
              <a:t>Автоматическая сборка и проверка кода тестами при каждом </a:t>
            </a:r>
            <a:r>
              <a:rPr lang="ru-RU" dirty="0" err="1">
                <a:solidFill>
                  <a:schemeClr val="tx1"/>
                </a:solidFill>
              </a:rPr>
              <a:t>пуше</a:t>
            </a:r>
            <a:r>
              <a:rPr lang="ru-RU" dirty="0">
                <a:solidFill>
                  <a:schemeClr val="tx1"/>
                </a:solidFill>
              </a:rPr>
              <a:t> в репозиторий - гарантирующая, что новые изменения не сломали существующий проект.</a:t>
            </a:r>
          </a:p>
          <a:p>
            <a:pPr marL="273050" indent="309563"/>
            <a:br>
              <a:rPr lang="ru-RU" b="1" dirty="0"/>
            </a:br>
            <a:r>
              <a:rPr lang="en-GB" dirty="0">
                <a:solidFill>
                  <a:schemeClr val="accent1"/>
                </a:solidFill>
              </a:rPr>
              <a:t>CD (Continuous Delivery/Deployment) — </a:t>
            </a:r>
            <a:r>
              <a:rPr lang="ru-RU" dirty="0">
                <a:solidFill>
                  <a:schemeClr val="accent1"/>
                </a:solidFill>
              </a:rPr>
              <a:t>Непрерывная доставка</a:t>
            </a:r>
          </a:p>
          <a:p>
            <a:pPr marL="273050" indent="263525"/>
            <a:r>
              <a:rPr lang="ru-RU" dirty="0"/>
              <a:t>Автоматизированный процесс упаковки успешно проверенного кода в </a:t>
            </a:r>
            <a:r>
              <a:rPr lang="ru-RU" dirty="0" err="1"/>
              <a:t>релизный</a:t>
            </a:r>
            <a:r>
              <a:rPr lang="ru-RU" dirty="0"/>
              <a:t> артефакт (</a:t>
            </a:r>
            <a:r>
              <a:rPr lang="en-GB" dirty="0"/>
              <a:t>APK</a:t>
            </a:r>
            <a:r>
              <a:rPr lang="ru-RU" dirty="0"/>
              <a:t>/</a:t>
            </a:r>
            <a:r>
              <a:rPr lang="en-GB" dirty="0"/>
              <a:t>AAB) </a:t>
            </a:r>
            <a:r>
              <a:rPr lang="ru-RU" dirty="0"/>
              <a:t>и его бесшовная передача тестировщикам или публикация в магазине приложений</a:t>
            </a:r>
            <a:r>
              <a:rPr lang="en-GB" dirty="0"/>
              <a:t>.</a:t>
            </a:r>
          </a:p>
          <a:p>
            <a:pPr marL="273050" indent="309563"/>
            <a:endParaRPr lang="ru-RU" b="1" dirty="0"/>
          </a:p>
          <a:p>
            <a:pPr marL="273050" indent="309563"/>
            <a:endParaRPr lang="ru-RU" b="1" dirty="0"/>
          </a:p>
          <a:p>
            <a:pPr marL="182563" indent="90488"/>
            <a:r>
              <a:rPr lang="ru-RU" dirty="0">
                <a:solidFill>
                  <a:schemeClr val="accent1"/>
                </a:solidFill>
              </a:rPr>
              <a:t>→ Разработчик только пишет код и делает </a:t>
            </a:r>
            <a:r>
              <a:rPr lang="en-GB" dirty="0">
                <a:solidFill>
                  <a:schemeClr val="accent1"/>
                </a:solidFill>
              </a:rPr>
              <a:t>git push. </a:t>
            </a:r>
            <a:r>
              <a:rPr lang="ru-RU" dirty="0">
                <a:solidFill>
                  <a:schemeClr val="accent1"/>
                </a:solidFill>
              </a:rPr>
              <a:t>Остальное происходит автоматически</a:t>
            </a:r>
          </a:p>
          <a:p>
            <a:pPr marL="273050" lvl="0" indent="309563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241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2c12dbef81_0_57"/>
          <p:cNvSpPr txBox="1">
            <a:spLocks noGrp="1"/>
          </p:cNvSpPr>
          <p:nvPr>
            <p:ph type="body" idx="1"/>
          </p:nvPr>
        </p:nvSpPr>
        <p:spPr>
          <a:xfrm>
            <a:off x="6311900" y="2040900"/>
            <a:ext cx="5208600" cy="41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600"/>
          </a:p>
        </p:txBody>
      </p:sp>
      <p:sp>
        <p:nvSpPr>
          <p:cNvPr id="424" name="Google Shape;424;g22c12dbef81_0_57"/>
          <p:cNvSpPr txBox="1">
            <a:spLocks noGrp="1"/>
          </p:cNvSpPr>
          <p:nvPr>
            <p:ph type="body" idx="2"/>
          </p:nvPr>
        </p:nvSpPr>
        <p:spPr>
          <a:xfrm>
            <a:off x="674333" y="1349100"/>
            <a:ext cx="5424600" cy="4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 err="1"/>
              <a:t>Плюсы</a:t>
            </a:r>
            <a:endParaRPr b="1"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интеграции</a:t>
            </a:r>
            <a:r>
              <a:rPr lang="en-US" dirty="0"/>
              <a:t> </a:t>
            </a:r>
            <a:r>
              <a:rPr lang="en-US" dirty="0" err="1"/>
              <a:t>выявляются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исправляются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дешевле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немедленный</a:t>
            </a:r>
            <a:r>
              <a:rPr lang="en-US" dirty="0"/>
              <a:t> </a:t>
            </a:r>
            <a:r>
              <a:rPr lang="en-US" dirty="0" err="1"/>
              <a:t>прогон</a:t>
            </a:r>
            <a:r>
              <a:rPr lang="en-US" dirty="0"/>
              <a:t> </a:t>
            </a:r>
            <a:r>
              <a:rPr lang="en-US" dirty="0" err="1"/>
              <a:t>модульных</a:t>
            </a:r>
            <a:r>
              <a:rPr lang="en-US" dirty="0"/>
              <a:t> </a:t>
            </a:r>
            <a:r>
              <a:rPr lang="en-US" dirty="0" err="1"/>
              <a:t>тестов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свежих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постоянное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стабильной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продуктами</a:t>
            </a:r>
            <a:r>
              <a:rPr lang="en-US" dirty="0"/>
              <a:t> </a:t>
            </a:r>
            <a:r>
              <a:rPr lang="en-US" dirty="0" err="1"/>
              <a:t>сборок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тестирования</a:t>
            </a:r>
            <a:r>
              <a:rPr lang="en-US" dirty="0"/>
              <a:t>, </a:t>
            </a:r>
            <a:r>
              <a:rPr lang="en-US" dirty="0" err="1"/>
              <a:t>демонстрации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</a:t>
            </a:r>
            <a:r>
              <a:rPr lang="en-US" dirty="0"/>
              <a:t>. </a:t>
            </a:r>
            <a:r>
              <a:rPr lang="en-US" dirty="0" err="1"/>
              <a:t>п</a:t>
            </a:r>
            <a:r>
              <a:rPr lang="en-US" dirty="0"/>
              <a:t>.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немедленный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неполного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неработающего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приучает</a:t>
            </a:r>
            <a:r>
              <a:rPr lang="en-US" dirty="0"/>
              <a:t> </a:t>
            </a:r>
            <a:r>
              <a:rPr lang="en-US" dirty="0" err="1"/>
              <a:t>разработчиков</a:t>
            </a:r>
            <a:r>
              <a:rPr lang="en-US" dirty="0"/>
              <a:t> </a:t>
            </a:r>
            <a:r>
              <a:rPr lang="en-US" dirty="0" err="1"/>
              <a:t>к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итеративном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коротким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.</a:t>
            </a:r>
            <a:endParaRPr lang="ru-RU" dirty="0"/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dirty="0">
                <a:solidFill>
                  <a:schemeClr val="dk1"/>
                </a:solidFill>
              </a:rPr>
              <a:t>Уменьшение стоимости, времени и риска внесения изменений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solidFill>
                  <a:schemeClr val="dk1"/>
                </a:solidFill>
              </a:rPr>
              <a:t>Уменьшение человеческого фактора</a:t>
            </a:r>
            <a:endParaRPr lang="ru-RU"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425" name="Google Shape;425;g22c12dbef81_0_57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54186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CI/CD</a:t>
            </a:r>
            <a:endParaRPr dirty="0"/>
          </a:p>
        </p:txBody>
      </p:sp>
      <p:sp>
        <p:nvSpPr>
          <p:cNvPr id="426" name="Google Shape;426;g22c12dbef81_0_5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2c12dbef81_0_25"/>
          <p:cNvSpPr txBox="1">
            <a:spLocks noGrp="1"/>
          </p:cNvSpPr>
          <p:nvPr>
            <p:ph type="body" idx="1"/>
          </p:nvPr>
        </p:nvSpPr>
        <p:spPr>
          <a:xfrm>
            <a:off x="6311900" y="1300121"/>
            <a:ext cx="5208600" cy="41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 b="1" dirty="0" err="1"/>
              <a:t>Минусы</a:t>
            </a:r>
            <a:endParaRPr sz="1600" b="1" dirty="0"/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 dirty="0" err="1"/>
              <a:t>значительные</a:t>
            </a:r>
            <a:r>
              <a:rPr lang="en-US" sz="1600" dirty="0"/>
              <a:t> </a:t>
            </a:r>
            <a:r>
              <a:rPr lang="en-US" sz="1600" dirty="0" err="1"/>
              <a:t>затраты</a:t>
            </a:r>
            <a:r>
              <a:rPr lang="en-US" sz="1600" dirty="0"/>
              <a:t> </a:t>
            </a:r>
            <a:r>
              <a:rPr lang="en-US" sz="1600" dirty="0" err="1"/>
              <a:t>на</a:t>
            </a:r>
            <a:r>
              <a:rPr lang="en-US" sz="1600" dirty="0"/>
              <a:t> </a:t>
            </a:r>
            <a:r>
              <a:rPr lang="en-US" sz="1600" dirty="0" err="1"/>
              <a:t>поддержку</a:t>
            </a:r>
            <a:r>
              <a:rPr lang="en-US" sz="1600" dirty="0"/>
              <a:t> </a:t>
            </a:r>
            <a:r>
              <a:rPr lang="en-US" sz="1600" dirty="0" err="1"/>
              <a:t>работы</a:t>
            </a:r>
            <a:r>
              <a:rPr lang="en-US" sz="1600" dirty="0"/>
              <a:t> </a:t>
            </a:r>
            <a:r>
              <a:rPr lang="en-US" sz="1600" dirty="0" err="1"/>
              <a:t>непрерывной</a:t>
            </a:r>
            <a:r>
              <a:rPr lang="en-US" sz="1600" dirty="0"/>
              <a:t> </a:t>
            </a:r>
            <a:r>
              <a:rPr lang="en-US" sz="1600" dirty="0" err="1"/>
              <a:t>интеграции</a:t>
            </a:r>
            <a:endParaRPr sz="1600" dirty="0"/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 dirty="0" err="1"/>
              <a:t>необходимость</a:t>
            </a:r>
            <a:r>
              <a:rPr lang="en-US" sz="1600" dirty="0"/>
              <a:t> </a:t>
            </a:r>
            <a:r>
              <a:rPr lang="en-US" sz="1600" dirty="0" err="1"/>
              <a:t>в</a:t>
            </a:r>
            <a:r>
              <a:rPr lang="en-US" sz="1600" dirty="0"/>
              <a:t> </a:t>
            </a:r>
            <a:r>
              <a:rPr lang="en-US" sz="1600" dirty="0" err="1"/>
              <a:t>дополнительных</a:t>
            </a:r>
            <a:r>
              <a:rPr lang="en-US" sz="1600" dirty="0"/>
              <a:t> </a:t>
            </a:r>
            <a:r>
              <a:rPr lang="en-US" sz="1600" dirty="0" err="1"/>
              <a:t>вычислительных</a:t>
            </a:r>
            <a:r>
              <a:rPr lang="en-US" sz="1600" dirty="0"/>
              <a:t> </a:t>
            </a:r>
            <a:r>
              <a:rPr lang="en-US" sz="1600" dirty="0" err="1"/>
              <a:t>ресурсах</a:t>
            </a:r>
            <a:r>
              <a:rPr lang="en-US" sz="1600" dirty="0"/>
              <a:t> </a:t>
            </a:r>
            <a:r>
              <a:rPr lang="en-US" sz="1600" dirty="0" err="1"/>
              <a:t>под</a:t>
            </a:r>
            <a:r>
              <a:rPr lang="en-US" sz="1600" dirty="0"/>
              <a:t> </a:t>
            </a:r>
            <a:r>
              <a:rPr lang="en-US" sz="1600" dirty="0" err="1"/>
              <a:t>нужды</a:t>
            </a:r>
            <a:r>
              <a:rPr lang="en-US" sz="1600" dirty="0"/>
              <a:t> </a:t>
            </a:r>
            <a:r>
              <a:rPr lang="en-US" sz="1600" dirty="0" err="1"/>
              <a:t>непрерывной</a:t>
            </a:r>
            <a:r>
              <a:rPr lang="en-US" sz="1600" dirty="0"/>
              <a:t> </a:t>
            </a:r>
            <a:r>
              <a:rPr lang="en-US" sz="1600" dirty="0" err="1"/>
              <a:t>интеграции</a:t>
            </a:r>
            <a:endParaRPr lang="ru-RU" sz="1600" dirty="0"/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ru-RU" sz="1600" dirty="0"/>
              <a:t>порог входа (</a:t>
            </a:r>
            <a:r>
              <a:rPr lang="en-GB" sz="1600" dirty="0"/>
              <a:t>YAML-</a:t>
            </a:r>
            <a:r>
              <a:rPr lang="ru-RU" sz="1600" dirty="0"/>
              <a:t>файлы, </a:t>
            </a:r>
            <a:r>
              <a:rPr lang="en-GB" sz="1600" dirty="0"/>
              <a:t>Docker-</a:t>
            </a:r>
            <a:r>
              <a:rPr lang="ru-RU" sz="1600" dirty="0"/>
              <a:t>контейнеры, </a:t>
            </a:r>
            <a:r>
              <a:rPr lang="en-GB" sz="1600" dirty="0"/>
              <a:t>bash-</a:t>
            </a:r>
            <a:r>
              <a:rPr lang="ru-RU" sz="1600" dirty="0"/>
              <a:t>скрипты и т.д.)</a:t>
            </a:r>
            <a:endParaRPr sz="1600"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600" dirty="0"/>
          </a:p>
        </p:txBody>
      </p:sp>
      <p:sp>
        <p:nvSpPr>
          <p:cNvPr id="432" name="Google Shape;432;g22c12dbef81_0_25"/>
          <p:cNvSpPr txBox="1">
            <a:spLocks noGrp="1"/>
          </p:cNvSpPr>
          <p:nvPr>
            <p:ph type="body" idx="2"/>
          </p:nvPr>
        </p:nvSpPr>
        <p:spPr>
          <a:xfrm>
            <a:off x="671512" y="1346405"/>
            <a:ext cx="5424600" cy="4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 err="1"/>
              <a:t>Плюсы</a:t>
            </a:r>
            <a:endParaRPr b="1"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интеграции</a:t>
            </a:r>
            <a:r>
              <a:rPr lang="en-US" dirty="0"/>
              <a:t> </a:t>
            </a:r>
            <a:r>
              <a:rPr lang="en-US" dirty="0" err="1"/>
              <a:t>выявляются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исправляются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дешевле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немедленный</a:t>
            </a:r>
            <a:r>
              <a:rPr lang="en-US" dirty="0"/>
              <a:t> </a:t>
            </a:r>
            <a:r>
              <a:rPr lang="en-US" dirty="0" err="1"/>
              <a:t>прогон</a:t>
            </a:r>
            <a:r>
              <a:rPr lang="en-US" dirty="0"/>
              <a:t> </a:t>
            </a:r>
            <a:r>
              <a:rPr lang="en-US" dirty="0" err="1"/>
              <a:t>модульных</a:t>
            </a:r>
            <a:r>
              <a:rPr lang="en-US" dirty="0"/>
              <a:t> </a:t>
            </a:r>
            <a:r>
              <a:rPr lang="en-US" dirty="0" err="1"/>
              <a:t>тестов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свежих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постоянное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стабильной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продуктами</a:t>
            </a:r>
            <a:r>
              <a:rPr lang="en-US" dirty="0"/>
              <a:t> </a:t>
            </a:r>
            <a:r>
              <a:rPr lang="en-US" dirty="0" err="1"/>
              <a:t>сборок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тестирования</a:t>
            </a:r>
            <a:r>
              <a:rPr lang="en-US" dirty="0"/>
              <a:t>, </a:t>
            </a:r>
            <a:r>
              <a:rPr lang="en-US" dirty="0" err="1"/>
              <a:t>демонстрации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</a:t>
            </a:r>
            <a:r>
              <a:rPr lang="en-US" dirty="0"/>
              <a:t>. </a:t>
            </a:r>
            <a:r>
              <a:rPr lang="en-US" dirty="0" err="1"/>
              <a:t>п</a:t>
            </a:r>
            <a:r>
              <a:rPr lang="en-US" dirty="0"/>
              <a:t>.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немедленный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неполного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неработающего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приучает</a:t>
            </a:r>
            <a:r>
              <a:rPr lang="en-US" dirty="0"/>
              <a:t> </a:t>
            </a:r>
            <a:r>
              <a:rPr lang="en-US" dirty="0" err="1"/>
              <a:t>разработчиков</a:t>
            </a:r>
            <a:r>
              <a:rPr lang="en-US" dirty="0"/>
              <a:t> </a:t>
            </a:r>
            <a:r>
              <a:rPr lang="en-US" dirty="0" err="1"/>
              <a:t>к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итеративном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коротким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.</a:t>
            </a:r>
            <a:endParaRPr lang="ru-RU" dirty="0"/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dirty="0">
                <a:solidFill>
                  <a:schemeClr val="dk1"/>
                </a:solidFill>
              </a:rPr>
              <a:t>Уменьшение стоимости, времени и риска внесения изменений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solidFill>
                  <a:schemeClr val="dk1"/>
                </a:solidFill>
              </a:rPr>
              <a:t>Уменьшение человеческого фактора</a:t>
            </a:r>
            <a:endParaRPr lang="ru-RU"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433" name="Google Shape;433;g22c12dbef81_0_25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54186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CI/CD</a:t>
            </a:r>
            <a:endParaRPr dirty="0"/>
          </a:p>
        </p:txBody>
      </p:sp>
      <p:sp>
        <p:nvSpPr>
          <p:cNvPr id="434" name="Google Shape;434;g22c12dbef81_0_25"/>
          <p:cNvSpPr txBox="1">
            <a:spLocks noGrp="1"/>
          </p:cNvSpPr>
          <p:nvPr>
            <p:ph type="sldNum" idx="12"/>
          </p:nvPr>
        </p:nvSpPr>
        <p:spPr>
          <a:xfrm>
            <a:off x="5892800" y="5639765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2c12dbef81_0_77"/>
          <p:cNvSpPr txBox="1">
            <a:spLocks noGrp="1"/>
          </p:cNvSpPr>
          <p:nvPr>
            <p:ph type="body" idx="1"/>
          </p:nvPr>
        </p:nvSpPr>
        <p:spPr>
          <a:xfrm>
            <a:off x="658812" y="1336250"/>
            <a:ext cx="10874400" cy="4885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1113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CI/CD </a:t>
            </a:r>
            <a:r>
              <a:rPr lang="ru-RU" dirty="0"/>
              <a:t>положительно влияет на одну из важнейших метрик для бизнеса - </a:t>
            </a:r>
            <a:r>
              <a:rPr lang="en-US" b="1" dirty="0">
                <a:solidFill>
                  <a:schemeClr val="accent1"/>
                </a:solidFill>
              </a:rPr>
              <a:t>Time to Market</a:t>
            </a:r>
            <a:r>
              <a:rPr lang="ru-RU" b="1" dirty="0">
                <a:solidFill>
                  <a:schemeClr val="accent1"/>
                </a:solidFill>
              </a:rPr>
              <a:t> (</a:t>
            </a:r>
            <a:r>
              <a:rPr lang="en-GB" b="1" dirty="0">
                <a:solidFill>
                  <a:schemeClr val="accent1"/>
                </a:solidFill>
              </a:rPr>
              <a:t>TTM</a:t>
            </a:r>
            <a:r>
              <a:rPr lang="ru-RU" b="1" dirty="0">
                <a:solidFill>
                  <a:schemeClr val="accent1"/>
                </a:solidFill>
              </a:rPr>
              <a:t>)</a:t>
            </a:r>
            <a:r>
              <a:rPr lang="ru-RU" dirty="0">
                <a:solidFill>
                  <a:schemeClr val="tx1"/>
                </a:solidFill>
              </a:rPr>
              <a:t>: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/>
              <a:t>время от старта разработки фичи до момента, когда ею пользуются клиенты.</a:t>
            </a:r>
          </a:p>
          <a:p>
            <a:pPr marL="11113" indent="0"/>
            <a:endParaRPr lang="ru-RU" i="1" dirty="0"/>
          </a:p>
          <a:p>
            <a:pPr marL="11113" indent="0"/>
            <a:r>
              <a:rPr lang="ru-RU" i="1" dirty="0"/>
              <a:t>Быстрее проверяем гипотезы → быстрее получаем обратную связь → опережаем конкурентов</a:t>
            </a:r>
          </a:p>
          <a:p>
            <a:pPr marL="11113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</a:pPr>
            <a:endParaRPr lang="ru-RU" dirty="0"/>
          </a:p>
          <a:p>
            <a:pPr marL="11113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endParaRPr lang="ru-RU" dirty="0"/>
          </a:p>
          <a:p>
            <a:pPr marL="11113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endParaRPr lang="ru-RU" dirty="0"/>
          </a:p>
          <a:p>
            <a:pPr marL="11113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</a:pPr>
            <a:endParaRPr lang="ru-RU" dirty="0"/>
          </a:p>
        </p:txBody>
      </p:sp>
      <p:sp>
        <p:nvSpPr>
          <p:cNvPr id="471" name="Google Shape;471;g22c12dbef81_0_77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Time to Market</a:t>
            </a:r>
            <a:endParaRPr dirty="0"/>
          </a:p>
        </p:txBody>
      </p:sp>
      <p:sp>
        <p:nvSpPr>
          <p:cNvPr id="472" name="Google Shape;472;g22c12dbef81_0_7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4" name="Picture 3" descr="A diagram of a person working on a computer&#10;&#10;Description automatically generated">
            <a:extLst>
              <a:ext uri="{FF2B5EF4-FFF2-40B4-BE49-F238E27FC236}">
                <a16:creationId xmlns:a16="http://schemas.microsoft.com/office/drawing/2014/main" id="{37859FFB-A658-B5C6-7040-BAFA593BF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405" y="3206730"/>
            <a:ext cx="6771190" cy="32423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2c12dbef81_0_123"/>
          <p:cNvSpPr txBox="1">
            <a:spLocks noGrp="1"/>
          </p:cNvSpPr>
          <p:nvPr>
            <p:ph type="body" idx="1"/>
          </p:nvPr>
        </p:nvSpPr>
        <p:spPr>
          <a:xfrm>
            <a:off x="658812" y="1773238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b="1" dirty="0"/>
              <a:t>Когда можно отказаться?</a:t>
            </a:r>
            <a:endParaRPr b="1" dirty="0"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ru-RU" dirty="0"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Код пишется «в стол»: учебный/пет-проект/</a:t>
            </a:r>
            <a:r>
              <a:rPr lang="ru-RU" dirty="0" err="1"/>
              <a:t>хакатон</a:t>
            </a:r>
            <a:r>
              <a:rPr lang="ru-RU" dirty="0"/>
              <a:t> и т.д.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Разрабатываете в одиночку, не обновляете/обновляете очень редко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ru-RU"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lang="ru-RU" b="1"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b="1" dirty="0"/>
              <a:t>Когда </a:t>
            </a:r>
            <a:r>
              <a:rPr lang="en-GB" b="1" dirty="0"/>
              <a:t>CI (CD) </a:t>
            </a:r>
            <a:r>
              <a:rPr lang="ru-RU" b="1" dirty="0"/>
              <a:t>обязателен?</a:t>
            </a: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…</a:t>
            </a:r>
            <a:endParaRPr dirty="0"/>
          </a:p>
        </p:txBody>
      </p:sp>
      <p:sp>
        <p:nvSpPr>
          <p:cNvPr id="478" name="Google Shape;478;g22c12dbef81_0_123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А м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479" name="Google Shape;479;g22c12dbef81_0_123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2c12dbef81_0_129"/>
          <p:cNvSpPr txBox="1">
            <a:spLocks noGrp="1"/>
          </p:cNvSpPr>
          <p:nvPr>
            <p:ph type="body" idx="1"/>
          </p:nvPr>
        </p:nvSpPr>
        <p:spPr>
          <a:xfrm>
            <a:off x="658812" y="1773238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b="1" dirty="0"/>
              <a:t>Когда можно отказаться?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ru-RU" dirty="0"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Код пишется «в стол»: учебный/пет-проект/</a:t>
            </a:r>
            <a:r>
              <a:rPr lang="ru-RU" dirty="0" err="1"/>
              <a:t>хакатон</a:t>
            </a:r>
            <a:r>
              <a:rPr lang="ru-RU" dirty="0"/>
              <a:t> и т.д.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Разрабатываете в одиночку, не обновляете/обновляете очень редко</a:t>
            </a: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b="1" dirty="0"/>
              <a:t>Когда </a:t>
            </a:r>
            <a:r>
              <a:rPr lang="en-GB" b="1" dirty="0"/>
              <a:t>CI (CD) </a:t>
            </a:r>
            <a:r>
              <a:rPr lang="ru-RU" b="1" dirty="0"/>
              <a:t>обязателен?</a:t>
            </a: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 dirty="0">
                <a:solidFill>
                  <a:schemeClr val="accent1"/>
                </a:solidFill>
              </a:rPr>
              <a:t>Во всех остальных случаях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86" name="Google Shape;486;g22c12dbef81_0_12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D633F6-9F51-8DA7-9FB1-B8BF46DC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мне это нужно?</a:t>
            </a:r>
            <a:endParaRPr lang="en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c12dbef81_0_49"/>
          <p:cNvSpPr txBox="1">
            <a:spLocks noGrp="1"/>
          </p:cNvSpPr>
          <p:nvPr>
            <p:ph type="title"/>
          </p:nvPr>
        </p:nvSpPr>
        <p:spPr>
          <a:xfrm>
            <a:off x="677333" y="692149"/>
            <a:ext cx="10855800" cy="111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4400" dirty="0"/>
              <a:t>С</a:t>
            </a:r>
            <a:r>
              <a:rPr lang="en-US" sz="4400" dirty="0"/>
              <a:t>I/CD</a:t>
            </a:r>
            <a:r>
              <a:rPr lang="ru-RU" sz="4400" dirty="0"/>
              <a:t>: Как?</a:t>
            </a:r>
            <a:endParaRPr sz="4400" dirty="0"/>
          </a:p>
        </p:txBody>
      </p:sp>
      <p:sp>
        <p:nvSpPr>
          <p:cNvPr id="402" name="Google Shape;402;g22c12dbef81_0_4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8833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e0fec68e54_0_0"/>
          <p:cNvSpPr txBox="1">
            <a:spLocks noGrp="1"/>
          </p:cNvSpPr>
          <p:nvPr>
            <p:ph type="body" idx="1"/>
          </p:nvPr>
        </p:nvSpPr>
        <p:spPr>
          <a:xfrm>
            <a:off x="658812" y="1773238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Чтобы CI/CD работал хорошо, нужно выбрать подход ведения git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Git flow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Trunk based development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92" name="Google Shape;492;g1e0fec68e54_0_0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Стратегия ветвления в </a:t>
            </a:r>
            <a:r>
              <a:rPr lang="en-US" dirty="0"/>
              <a:t>git </a:t>
            </a:r>
            <a:endParaRPr dirty="0"/>
          </a:p>
        </p:txBody>
      </p:sp>
      <p:sp>
        <p:nvSpPr>
          <p:cNvPr id="493" name="Google Shape;493;g1e0fec68e54_0_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e0fec68e54_0_12"/>
          <p:cNvSpPr txBox="1">
            <a:spLocks noGrp="1"/>
          </p:cNvSpPr>
          <p:nvPr>
            <p:ph type="body" idx="1"/>
          </p:nvPr>
        </p:nvSpPr>
        <p:spPr>
          <a:xfrm>
            <a:off x="677333" y="1336250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445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/>
              <a:t>По отдельной ветке на каждую фичу</a:t>
            </a:r>
          </a:p>
          <a:p>
            <a:pPr marL="4445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/>
              <a:t>В </a:t>
            </a:r>
            <a:r>
              <a:rPr lang="en-US" dirty="0"/>
              <a:t>master - </a:t>
            </a:r>
            <a:r>
              <a:rPr lang="ru-RU" dirty="0"/>
              <a:t>стабильные </a:t>
            </a:r>
            <a:r>
              <a:rPr lang="ru-RU" dirty="0" err="1"/>
              <a:t>продакшн</a:t>
            </a:r>
            <a:r>
              <a:rPr lang="ru-RU" dirty="0"/>
              <a:t>-версии</a:t>
            </a:r>
          </a:p>
          <a:p>
            <a:pPr marL="4445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-RU" dirty="0"/>
              <a:t>Минусы: сложнее настраивать </a:t>
            </a:r>
            <a:r>
              <a:rPr lang="en-US" dirty="0"/>
              <a:t>CI/CD, </a:t>
            </a:r>
            <a:r>
              <a:rPr lang="ru-RU" dirty="0"/>
              <a:t>дольше интеграция</a:t>
            </a:r>
            <a:endParaRPr dirty="0"/>
          </a:p>
        </p:txBody>
      </p:sp>
      <p:sp>
        <p:nvSpPr>
          <p:cNvPr id="499" name="Google Shape;499;g1e0fec68e54_0_12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Git flow</a:t>
            </a:r>
            <a:endParaRPr/>
          </a:p>
        </p:txBody>
      </p:sp>
      <p:sp>
        <p:nvSpPr>
          <p:cNvPr id="500" name="Google Shape;500;g1e0fec68e54_0_1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7975A8BE-B65C-6DC7-2DA1-5545E3253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190" y="2863748"/>
            <a:ext cx="7308685" cy="35853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e0fec68e54_0_6"/>
          <p:cNvSpPr txBox="1">
            <a:spLocks noGrp="1"/>
          </p:cNvSpPr>
          <p:nvPr>
            <p:ph type="body" idx="1"/>
          </p:nvPr>
        </p:nvSpPr>
        <p:spPr>
          <a:xfrm>
            <a:off x="654184" y="1336250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dirty="0" err="1"/>
              <a:t>Короткоживущие</a:t>
            </a:r>
            <a:r>
              <a:rPr lang="en-US" dirty="0"/>
              <a:t> </a:t>
            </a:r>
            <a:r>
              <a:rPr lang="en-US" dirty="0" err="1"/>
              <a:t>ветки</a:t>
            </a:r>
            <a:r>
              <a:rPr lang="ru-RU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ru-RU" dirty="0"/>
              <a:t>1-</a:t>
            </a:r>
            <a:r>
              <a:rPr lang="en-US" dirty="0"/>
              <a:t>2х </a:t>
            </a:r>
            <a:r>
              <a:rPr lang="en-US" dirty="0" err="1"/>
              <a:t>дней</a:t>
            </a:r>
            <a:endParaRPr dirty="0"/>
          </a:p>
          <a:p>
            <a:pPr indent="-29845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Char char="●"/>
            </a:pPr>
            <a:r>
              <a:rPr lang="ru-RU" dirty="0" err="1"/>
              <a:t>Транк</a:t>
            </a:r>
            <a:r>
              <a:rPr lang="ru-RU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готов</a:t>
            </a:r>
            <a:r>
              <a:rPr lang="en-US" dirty="0"/>
              <a:t> </a:t>
            </a:r>
            <a:r>
              <a:rPr lang="en-US" dirty="0" err="1"/>
              <a:t>к</a:t>
            </a:r>
            <a:r>
              <a:rPr lang="en-US" dirty="0"/>
              <a:t> </a:t>
            </a:r>
            <a:r>
              <a:rPr lang="en-US" dirty="0" err="1"/>
              <a:t>деплою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нем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недописанные</a:t>
            </a:r>
            <a:r>
              <a:rPr lang="en-US" dirty="0"/>
              <a:t> </a:t>
            </a:r>
            <a:r>
              <a:rPr lang="en-US" dirty="0" err="1"/>
              <a:t>фичи</a:t>
            </a:r>
            <a:endParaRPr lang="ru-RU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ru-RU" dirty="0"/>
              <a:t>Чёткое разделение </a:t>
            </a:r>
            <a:r>
              <a:rPr lang="ru-RU" dirty="0" err="1"/>
              <a:t>продакшн</a:t>
            </a:r>
            <a:r>
              <a:rPr lang="ru-RU" dirty="0"/>
              <a:t>-кода и разрабатываемого: </a:t>
            </a:r>
            <a:r>
              <a:rPr lang="en-US" dirty="0"/>
              <a:t>Feature Flags</a:t>
            </a:r>
            <a:r>
              <a:rPr lang="ru-RU" dirty="0"/>
              <a:t>, </a:t>
            </a:r>
            <a:r>
              <a:rPr lang="en-US" dirty="0"/>
              <a:t>Branch By Abstraction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dirty="0"/>
              <a:t>Continuous Code Review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ru-RU" dirty="0"/>
              <a:t>Минусы: доп. разработка на изоляцию кода (флаги); незаконченный код в репозитории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Trunk based development</a:t>
            </a:r>
            <a:endParaRPr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C1FFD78F-C781-85C3-08B4-76C3E6D6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00" y="3084611"/>
            <a:ext cx="7772400" cy="35272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e0fec68e54_0_6"/>
          <p:cNvSpPr txBox="1">
            <a:spLocks noGrp="1"/>
          </p:cNvSpPr>
          <p:nvPr>
            <p:ph type="body" idx="1"/>
          </p:nvPr>
        </p:nvSpPr>
        <p:spPr>
          <a:xfrm>
            <a:off x="654184" y="1336250"/>
            <a:ext cx="4518317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GB" b="1" dirty="0"/>
              <a:t>Pipeline (</a:t>
            </a:r>
            <a:r>
              <a:rPr lang="ru-RU" b="1" dirty="0" err="1"/>
              <a:t>Пайплайн</a:t>
            </a:r>
            <a:r>
              <a:rPr lang="ru-RU" b="1" dirty="0"/>
              <a:t>):</a:t>
            </a:r>
            <a:r>
              <a:rPr lang="ru-RU" dirty="0"/>
              <a:t> Весь конвейер целиком.</a:t>
            </a:r>
            <a:endParaRPr lang="en-GB" b="1" dirty="0"/>
          </a:p>
          <a:p>
            <a:r>
              <a:rPr lang="en-GB" b="1" dirty="0"/>
              <a:t>Trigger (</a:t>
            </a:r>
            <a:r>
              <a:rPr lang="ru-RU" b="1" dirty="0"/>
              <a:t>Триггер / Хук):</a:t>
            </a:r>
            <a:r>
              <a:rPr lang="ru-RU" dirty="0"/>
              <a:t> Событие, которое запускает магию (</a:t>
            </a:r>
            <a:r>
              <a:rPr lang="en-GB" dirty="0"/>
              <a:t>Push </a:t>
            </a:r>
            <a:r>
              <a:rPr lang="ru-RU" dirty="0"/>
              <a:t>в </a:t>
            </a:r>
            <a:r>
              <a:rPr lang="en-GB" dirty="0"/>
              <a:t>main, </a:t>
            </a:r>
            <a:r>
              <a:rPr lang="ru-RU" dirty="0"/>
              <a:t>создание </a:t>
            </a:r>
            <a:r>
              <a:rPr lang="en-GB" dirty="0"/>
              <a:t>Pull Request, </a:t>
            </a:r>
            <a:r>
              <a:rPr lang="ru-RU" dirty="0"/>
              <a:t>расписание).</a:t>
            </a:r>
          </a:p>
          <a:p>
            <a:r>
              <a:rPr lang="en-GB" b="1" dirty="0"/>
              <a:t>Stage (</a:t>
            </a:r>
            <a:r>
              <a:rPr lang="ru-RU" b="1" dirty="0"/>
              <a:t>Этап):</a:t>
            </a:r>
            <a:r>
              <a:rPr lang="ru-RU" dirty="0"/>
              <a:t> Логический шаг конвейера (</a:t>
            </a:r>
            <a:r>
              <a:rPr lang="en-GB" dirty="0"/>
              <a:t>test, build, deploy). </a:t>
            </a:r>
            <a:r>
              <a:rPr lang="ru-RU" dirty="0"/>
              <a:t>Этапы выполняются строго последовательно.</a:t>
            </a:r>
          </a:p>
          <a:p>
            <a:r>
              <a:rPr lang="en-GB" b="1" dirty="0"/>
              <a:t>Job (</a:t>
            </a:r>
            <a:r>
              <a:rPr lang="ru-RU" b="1" dirty="0" err="1"/>
              <a:t>Джоба</a:t>
            </a:r>
            <a:r>
              <a:rPr lang="ru-RU" b="1" dirty="0"/>
              <a:t> / Задача):</a:t>
            </a:r>
            <a:r>
              <a:rPr lang="ru-RU" dirty="0"/>
              <a:t> Конкретная работа внутри этапа. </a:t>
            </a:r>
            <a:r>
              <a:rPr lang="ru-RU" dirty="0" err="1"/>
              <a:t>Джобы</a:t>
            </a:r>
            <a:r>
              <a:rPr lang="ru-RU" dirty="0"/>
              <a:t> в одном этапе могут выполняться параллельно</a:t>
            </a:r>
            <a:r>
              <a:rPr lang="en-US" dirty="0"/>
              <a:t>.</a:t>
            </a:r>
            <a:endParaRPr lang="ru-RU" dirty="0"/>
          </a:p>
          <a:p>
            <a:r>
              <a:rPr lang="en-GB" b="1" dirty="0"/>
              <a:t>Runner (</a:t>
            </a:r>
            <a:r>
              <a:rPr lang="ru-RU" b="1" dirty="0" err="1"/>
              <a:t>Раннер</a:t>
            </a:r>
            <a:r>
              <a:rPr lang="ru-RU" b="1" dirty="0"/>
              <a:t>):</a:t>
            </a:r>
            <a:r>
              <a:rPr lang="ru-RU" dirty="0"/>
              <a:t> Сервер/виртуальная машина, выполняющая </a:t>
            </a:r>
            <a:r>
              <a:rPr lang="ru-RU" dirty="0" err="1"/>
              <a:t>джобы</a:t>
            </a:r>
            <a:r>
              <a:rPr lang="ru-RU" dirty="0"/>
              <a:t>.</a:t>
            </a:r>
          </a:p>
          <a:p>
            <a:pPr marL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Из чего состоит </a:t>
            </a:r>
            <a:r>
              <a:rPr lang="en-US" dirty="0"/>
              <a:t>CI/CD</a:t>
            </a:r>
            <a:endParaRPr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7BDFF-C798-7A06-630E-1A08FAF2E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47" y="1839143"/>
            <a:ext cx="5828369" cy="317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7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e0fec68e54_0_6"/>
          <p:cNvSpPr txBox="1">
            <a:spLocks noGrp="1"/>
          </p:cNvSpPr>
          <p:nvPr>
            <p:ph type="body" idx="1"/>
          </p:nvPr>
        </p:nvSpPr>
        <p:spPr>
          <a:xfrm>
            <a:off x="654184" y="1336250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indent="0"/>
            <a:r>
              <a:rPr lang="ru-RU" dirty="0"/>
              <a:t>Типовые этапы: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Code Quality</a:t>
            </a:r>
            <a:r>
              <a:rPr lang="ru-RU" dirty="0"/>
              <a:t>: </a:t>
            </a:r>
            <a:r>
              <a:rPr lang="en-GB" dirty="0"/>
              <a:t>Lint, </a:t>
            </a:r>
            <a:r>
              <a:rPr lang="en-GB" dirty="0" err="1"/>
              <a:t>Detekt</a:t>
            </a:r>
            <a:endParaRPr lang="en-GB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Test</a:t>
            </a:r>
            <a:r>
              <a:rPr lang="ru-RU" dirty="0"/>
              <a:t>:</a:t>
            </a:r>
            <a:r>
              <a:rPr lang="en-GB" dirty="0"/>
              <a:t> Unit Tests, UI Tests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Build</a:t>
            </a:r>
            <a:r>
              <a:rPr lang="ru-RU" dirty="0"/>
              <a:t>: </a:t>
            </a:r>
            <a:r>
              <a:rPr lang="en-GB" dirty="0"/>
              <a:t>Assemble Debug, Bundle Release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Deploy</a:t>
            </a:r>
            <a:r>
              <a:rPr lang="en-GB" dirty="0"/>
              <a:t>: Firebase App Distribution, Google Play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Notify</a:t>
            </a:r>
            <a:r>
              <a:rPr lang="ru-RU" dirty="0"/>
              <a:t>: </a:t>
            </a:r>
            <a:r>
              <a:rPr lang="en-GB" dirty="0"/>
              <a:t>Telegram/Slack bot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Пайплайн</a:t>
            </a:r>
            <a:r>
              <a:rPr lang="ru-RU" dirty="0"/>
              <a:t> строится по принципу «</a:t>
            </a:r>
            <a:r>
              <a:rPr lang="en-GB" dirty="0"/>
              <a:t>Fail Fast»: </a:t>
            </a:r>
            <a:r>
              <a:rPr lang="ru-RU" dirty="0"/>
              <a:t>сначала легкие проверки, потом тяжелые сборки.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Необязательно выполнять все этапы при каждом </a:t>
            </a:r>
            <a:r>
              <a:rPr lang="ru-RU" dirty="0" err="1"/>
              <a:t>пуше</a:t>
            </a:r>
            <a:r>
              <a:rPr lang="ru-RU" dirty="0"/>
              <a:t>.</a:t>
            </a:r>
          </a:p>
          <a:p>
            <a:pPr marL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Stage</a:t>
            </a:r>
            <a:endParaRPr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050" name="Picture 2" descr="CI/CD pipelines | GitLab Docs">
            <a:extLst>
              <a:ext uri="{FF2B5EF4-FFF2-40B4-BE49-F238E27FC236}">
                <a16:creationId xmlns:a16="http://schemas.microsoft.com/office/drawing/2014/main" id="{898AE71A-53B3-2025-052F-EAF58C916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384" y="1336250"/>
            <a:ext cx="5391148" cy="268434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00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e0fec68e54_0_6"/>
          <p:cNvSpPr txBox="1">
            <a:spLocks noGrp="1"/>
          </p:cNvSpPr>
          <p:nvPr>
            <p:ph type="body" idx="1"/>
          </p:nvPr>
        </p:nvSpPr>
        <p:spPr>
          <a:xfrm>
            <a:off x="654184" y="1336250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ru-RU" dirty="0"/>
              <a:t>Статический анализ: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Android Lint: </a:t>
            </a:r>
            <a:r>
              <a:rPr lang="ru-RU" dirty="0"/>
              <a:t>Ищет баги </a:t>
            </a:r>
            <a:r>
              <a:rPr lang="en-GB" dirty="0"/>
              <a:t>Android API, </a:t>
            </a:r>
            <a:r>
              <a:rPr lang="ru-RU" dirty="0"/>
              <a:t>проблемы с ресурсами. (./</a:t>
            </a:r>
            <a:r>
              <a:rPr lang="en-GB" dirty="0" err="1"/>
              <a:t>gradlew</a:t>
            </a:r>
            <a:r>
              <a:rPr lang="en-GB" dirty="0"/>
              <a:t> lint)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Detekt</a:t>
            </a:r>
            <a:r>
              <a:rPr lang="en-GB" dirty="0"/>
              <a:t> (</a:t>
            </a:r>
            <a:r>
              <a:rPr lang="en-GB" dirty="0" err="1"/>
              <a:t>Ktlint</a:t>
            </a:r>
            <a:r>
              <a:rPr lang="en-GB" dirty="0"/>
              <a:t>): </a:t>
            </a:r>
            <a:r>
              <a:rPr lang="ru-RU" dirty="0"/>
              <a:t>Проверяет стиль </a:t>
            </a:r>
            <a:r>
              <a:rPr lang="en-GB" dirty="0"/>
              <a:t>Kotlin-</a:t>
            </a:r>
            <a:r>
              <a:rPr lang="ru-RU" dirty="0"/>
              <a:t>кода (отступы, </a:t>
            </a:r>
            <a:r>
              <a:rPr lang="ru-RU" dirty="0" err="1"/>
              <a:t>нейминг</a:t>
            </a:r>
            <a:r>
              <a:rPr lang="ru-RU" dirty="0"/>
              <a:t>). Не дает превратить код в спагетти.</a:t>
            </a:r>
          </a:p>
          <a:p>
            <a:endParaRPr lang="ru-RU" dirty="0"/>
          </a:p>
          <a:p>
            <a:r>
              <a:rPr lang="ru-RU" dirty="0"/>
              <a:t>Тестирование: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Unit-</a:t>
            </a:r>
            <a:r>
              <a:rPr lang="ru-RU" dirty="0"/>
              <a:t>тесты (</a:t>
            </a:r>
            <a:r>
              <a:rPr lang="en-GB" dirty="0"/>
              <a:t>JUnit/</a:t>
            </a:r>
            <a:r>
              <a:rPr lang="en-GB" dirty="0" err="1"/>
              <a:t>MockK</a:t>
            </a:r>
            <a:r>
              <a:rPr lang="en-GB" dirty="0"/>
              <a:t>): </a:t>
            </a:r>
            <a:r>
              <a:rPr lang="ru-RU" dirty="0"/>
              <a:t>Проверяют бизнес-логику. Выполняются за секунды. (./</a:t>
            </a:r>
            <a:r>
              <a:rPr lang="en-GB" dirty="0" err="1"/>
              <a:t>gradlew</a:t>
            </a:r>
            <a:r>
              <a:rPr lang="en-GB" dirty="0"/>
              <a:t> test)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UI-</a:t>
            </a:r>
            <a:r>
              <a:rPr lang="ru-RU" dirty="0"/>
              <a:t>тесты (</a:t>
            </a:r>
            <a:r>
              <a:rPr lang="en-GB" dirty="0"/>
              <a:t>Espresso</a:t>
            </a:r>
            <a:r>
              <a:rPr lang="en-US" dirty="0"/>
              <a:t>, </a:t>
            </a:r>
            <a:r>
              <a:rPr lang="en-US" dirty="0" err="1"/>
              <a:t>Kaspresso</a:t>
            </a:r>
            <a:r>
              <a:rPr lang="en-GB" dirty="0"/>
              <a:t>): </a:t>
            </a:r>
            <a:r>
              <a:rPr lang="ru-RU" dirty="0"/>
              <a:t>Имитируют клики пользователя. Требуют эмулятора. Боль: Очень медленные и нестабильные в </a:t>
            </a:r>
            <a:r>
              <a:rPr lang="en-GB" dirty="0"/>
              <a:t>CI.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Решение для </a:t>
            </a:r>
            <a:r>
              <a:rPr lang="en-GB" dirty="0"/>
              <a:t>UI: </a:t>
            </a:r>
            <a:r>
              <a:rPr lang="ru-RU" dirty="0"/>
              <a:t>Использовать облака вроде </a:t>
            </a:r>
            <a:r>
              <a:rPr lang="en-GB" dirty="0"/>
              <a:t>Firebase Test Lab.</a:t>
            </a:r>
          </a:p>
          <a:p>
            <a:pPr marL="228600" indent="0"/>
            <a:endParaRPr lang="ru-RU" dirty="0"/>
          </a:p>
          <a:p>
            <a:pPr marL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Этап 1: проверки и тестирование</a:t>
            </a:r>
            <a:endParaRPr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8661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Этап 2: сборка</a:t>
            </a:r>
            <a:endParaRPr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" name="Google Shape;527;g22c12dbef81_0_96">
            <a:extLst>
              <a:ext uri="{FF2B5EF4-FFF2-40B4-BE49-F238E27FC236}">
                <a16:creationId xmlns:a16="http://schemas.microsoft.com/office/drawing/2014/main" id="{6BC84DFB-1754-C94E-AC1F-19578F2D98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050" y="1371400"/>
            <a:ext cx="10874375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./</a:t>
            </a:r>
            <a:r>
              <a:rPr lang="en-US" dirty="0" err="1"/>
              <a:t>gradlew</a:t>
            </a:r>
            <a:r>
              <a:rPr lang="en-US" dirty="0"/>
              <a:t> build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./</a:t>
            </a:r>
            <a:r>
              <a:rPr lang="en-US" dirty="0" err="1">
                <a:solidFill>
                  <a:schemeClr val="dk1"/>
                </a:solidFill>
              </a:rPr>
              <a:t>gradlew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assembleDebug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./</a:t>
            </a:r>
            <a:r>
              <a:rPr lang="en-US" dirty="0" err="1">
                <a:solidFill>
                  <a:schemeClr val="dk1"/>
                </a:solidFill>
              </a:rPr>
              <a:t>gradlew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assembleRelease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0483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Этап 2: сборка</a:t>
            </a:r>
            <a:endParaRPr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8FB57-15F7-4C63-62E0-91F17E6E2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7" name="Picture 6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110ED427-D06E-A02B-8DD5-9E2335AA1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2100179"/>
            <a:ext cx="7772400" cy="327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90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Этап 3: деплой и уведомления</a:t>
            </a:r>
            <a:endParaRPr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8FB57-15F7-4C63-62E0-91F17E6E2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2" y="1773238"/>
            <a:ext cx="6274251" cy="4447950"/>
          </a:xfrm>
        </p:spPr>
        <p:txBody>
          <a:bodyPr>
            <a:normAutofit/>
          </a:bodyPr>
          <a:lstStyle/>
          <a:p>
            <a:pPr marL="228600" indent="0"/>
            <a:r>
              <a:rPr lang="ru-RU" dirty="0"/>
              <a:t>Публикация: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Google Play Console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RuStore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AppGallery</a:t>
            </a:r>
            <a:r>
              <a:rPr lang="en-GB" dirty="0"/>
              <a:t> (Huawei) 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/>
              <a:t>Firebase App Distribution</a:t>
            </a:r>
            <a:endParaRPr lang="ru-RU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/>
              <a:t>Google Play Console (Internal / Closed </a:t>
            </a:r>
            <a:r>
              <a:rPr lang="ru-RU" dirty="0"/>
              <a:t>треки)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 err="1"/>
              <a:t>RuStore</a:t>
            </a:r>
            <a:r>
              <a:rPr lang="en-GB" dirty="0"/>
              <a:t> (</a:t>
            </a:r>
            <a:r>
              <a:rPr lang="ru-RU" dirty="0"/>
              <a:t>Бета-тестирование)</a:t>
            </a:r>
          </a:p>
          <a:p>
            <a:pPr marL="228600" indent="0"/>
            <a:endParaRPr lang="ru-RU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D89696D-4644-3798-27C4-9F3F8DEA1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836" y="1336250"/>
            <a:ext cx="4256885" cy="48853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8729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/>
              <a:t>Инструменты и сервисы</a:t>
            </a:r>
            <a:endParaRPr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6" name="Picture 5" descr="A white rectangular grid with black text&#10;&#10;Description automatically generated">
            <a:extLst>
              <a:ext uri="{FF2B5EF4-FFF2-40B4-BE49-F238E27FC236}">
                <a16:creationId xmlns:a16="http://schemas.microsoft.com/office/drawing/2014/main" id="{7C850807-4AFC-B1AA-9100-26830A43C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1468535"/>
            <a:ext cx="7772400" cy="4842115"/>
          </a:xfrm>
          <a:prstGeom prst="rect">
            <a:avLst/>
          </a:prstGeom>
        </p:spPr>
      </p:pic>
      <p:pic>
        <p:nvPicPr>
          <p:cNvPr id="4098" name="Picture 2" descr="How to set up GitLab CI for your Android projects | by Marc CALANDRO |  FAUN.dev() 🐾">
            <a:extLst>
              <a:ext uri="{FF2B5EF4-FFF2-40B4-BE49-F238E27FC236}">
                <a16:creationId xmlns:a16="http://schemas.microsoft.com/office/drawing/2014/main" id="{F70B917C-B324-8BDF-2635-54119D857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6050" y="1072748"/>
            <a:ext cx="898199" cy="100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ue square with white circles and buttons&#10;&#10;Description automatically generated">
            <a:extLst>
              <a:ext uri="{FF2B5EF4-FFF2-40B4-BE49-F238E27FC236}">
                <a16:creationId xmlns:a16="http://schemas.microsoft.com/office/drawing/2014/main" id="{D0B4CCEC-D488-65AA-3D8E-F27D644D9E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49"/>
          <a:stretch/>
        </p:blipFill>
        <p:spPr>
          <a:xfrm>
            <a:off x="9850570" y="2286953"/>
            <a:ext cx="1288385" cy="1227837"/>
          </a:xfrm>
          <a:prstGeom prst="rect">
            <a:avLst/>
          </a:prstGeom>
        </p:spPr>
      </p:pic>
      <p:pic>
        <p:nvPicPr>
          <p:cNvPr id="11" name="Picture 10" descr="A purple square with a white face and text&#10;&#10;Description automatically generated">
            <a:extLst>
              <a:ext uri="{FF2B5EF4-FFF2-40B4-BE49-F238E27FC236}">
                <a16:creationId xmlns:a16="http://schemas.microsoft.com/office/drawing/2014/main" id="{1E3852BA-E7D1-BFCD-1F98-84B24FBBF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184" y="3887266"/>
            <a:ext cx="1249156" cy="1257374"/>
          </a:xfrm>
          <a:prstGeom prst="rect">
            <a:avLst/>
          </a:prstGeom>
        </p:spPr>
      </p:pic>
      <p:pic>
        <p:nvPicPr>
          <p:cNvPr id="13" name="Picture 1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0817810-D5B1-A5D6-A388-C5A78FCEF7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9463" y="5441960"/>
            <a:ext cx="2591369" cy="93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89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0fec68e54_0_6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RU" dirty="0"/>
              <a:t>YAML-</a:t>
            </a:r>
            <a:r>
              <a:rPr lang="ru-RU" dirty="0"/>
              <a:t>конфигурация </a:t>
            </a:r>
            <a:r>
              <a:rPr lang="en-US" dirty="0"/>
              <a:t>CI/CD</a:t>
            </a:r>
            <a:endParaRPr lang="en-RU" dirty="0"/>
          </a:p>
        </p:txBody>
      </p:sp>
      <p:sp>
        <p:nvSpPr>
          <p:cNvPr id="507" name="Google Shape;507;g1e0fec68e54_0_6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8F683-312E-2D3C-2BF7-BAD5C61A3065}"/>
              </a:ext>
            </a:extLst>
          </p:cNvPr>
          <p:cNvSpPr txBox="1"/>
          <p:nvPr/>
        </p:nvSpPr>
        <p:spPr>
          <a:xfrm>
            <a:off x="677333" y="2603065"/>
            <a:ext cx="52154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Gitlab CI: .</a:t>
            </a:r>
            <a:r>
              <a:rPr lang="en-GB" sz="1800" dirty="0" err="1"/>
              <a:t>gitlab-ci.yml</a:t>
            </a:r>
            <a:r>
              <a:rPr lang="ru-RU" sz="1800" dirty="0"/>
              <a:t> в корне</a:t>
            </a: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GitHub Actions:</a:t>
            </a:r>
            <a:r>
              <a:rPr lang="ru-RU" sz="1800" dirty="0"/>
              <a:t> по пути </a:t>
            </a:r>
            <a:r>
              <a:rPr lang="en-GB" sz="1800" dirty="0"/>
              <a:t>.</a:t>
            </a:r>
            <a:r>
              <a:rPr lang="en-GB" sz="1800" dirty="0" err="1"/>
              <a:t>github</a:t>
            </a:r>
            <a:r>
              <a:rPr lang="en-GB" sz="1800" dirty="0"/>
              <a:t>/workflows/</a:t>
            </a:r>
            <a:r>
              <a:rPr lang="ru-RU" sz="1800" dirty="0"/>
              <a:t> с любым названием</a:t>
            </a:r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r>
              <a:rPr lang="ru-RU" sz="1800" dirty="0"/>
              <a:t>Формат </a:t>
            </a:r>
            <a:r>
              <a:rPr lang="en-GB" sz="1800" b="1" dirty="0">
                <a:solidFill>
                  <a:schemeClr val="accent1"/>
                </a:solidFill>
              </a:rPr>
              <a:t>YAML </a:t>
            </a:r>
            <a:r>
              <a:rPr lang="en-GB" sz="1800" dirty="0"/>
              <a:t>(YAML </a:t>
            </a:r>
            <a:r>
              <a:rPr lang="en-GB" sz="1800" dirty="0" err="1"/>
              <a:t>Ain't</a:t>
            </a:r>
            <a:r>
              <a:rPr lang="en-GB" sz="1800" dirty="0"/>
              <a:t> Markup Language)</a:t>
            </a:r>
          </a:p>
          <a:p>
            <a:endParaRPr lang="en-RU" sz="1800" dirty="0"/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2F7C6DA-4E32-E895-B2C1-1EC92DD79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709" y="97972"/>
            <a:ext cx="5018978" cy="67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18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2c12dbef81_0_169"/>
          <p:cNvSpPr txBox="1">
            <a:spLocks noGrp="1"/>
          </p:cNvSpPr>
          <p:nvPr>
            <p:ph type="title"/>
          </p:nvPr>
        </p:nvSpPr>
        <p:spPr>
          <a:xfrm>
            <a:off x="677333" y="692150"/>
            <a:ext cx="108558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Как сделать хорошо</a:t>
            </a:r>
            <a:endParaRPr/>
          </a:p>
        </p:txBody>
      </p:sp>
      <p:sp>
        <p:nvSpPr>
          <p:cNvPr id="594" name="Google Shape;594;g22c12dbef81_0_169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595" name="Google Shape;595;g22c12dbef81_0_169"/>
          <p:cNvSpPr txBox="1">
            <a:spLocks noGrp="1"/>
          </p:cNvSpPr>
          <p:nvPr>
            <p:ph type="body" idx="1"/>
          </p:nvPr>
        </p:nvSpPr>
        <p:spPr>
          <a:xfrm>
            <a:off x="658812" y="1773238"/>
            <a:ext cx="108744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Стабильность CI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Если сломан CI, часть команды не работает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Скорость сборки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Влияет на доставку артефактов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Герметичность сборки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Избавляемся от внешних зависимостей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Регулярные сборки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Запускаем регулярно и отслеживаем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Документация сборки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Оставляем всем знания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"/>
          <p:cNvSpPr txBox="1">
            <a:spLocks noGrp="1"/>
          </p:cNvSpPr>
          <p:nvPr>
            <p:ph type="title"/>
          </p:nvPr>
        </p:nvSpPr>
        <p:spPr>
          <a:xfrm>
            <a:off x="620712" y="3724881"/>
            <a:ext cx="5475289" cy="182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70"/>
              <a:buFont typeface="Helvetica Neue"/>
              <a:buNone/>
            </a:pPr>
            <a:r>
              <a:rPr lang="en-US" sz="6270"/>
              <a:t>Спасибо </a:t>
            </a:r>
            <a:br>
              <a:rPr lang="en-US" sz="6270"/>
            </a:br>
            <a:r>
              <a:rPr lang="en-US" sz="6270"/>
              <a:t>за внимание!</a:t>
            </a:r>
            <a:endParaRPr/>
          </a:p>
        </p:txBody>
      </p:sp>
      <p:sp>
        <p:nvSpPr>
          <p:cNvPr id="791" name="Google Shape;791;p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3EE13-4233-110F-CF0C-6646EE848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New Color">
  <a:themeElements>
    <a:clrScheme name="VK New Colo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FF"/>
      </a:accent1>
      <a:accent2>
        <a:srgbClr val="8024C0"/>
      </a:accent2>
      <a:accent3>
        <a:srgbClr val="FF3885"/>
      </a:accent3>
      <a:accent4>
        <a:srgbClr val="00EAFF"/>
      </a:accent4>
      <a:accent5>
        <a:srgbClr val="BEB6AE"/>
      </a:accent5>
      <a:accent6>
        <a:srgbClr val="17D68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K New Color">
  <a:themeElements>
    <a:clrScheme name="VK New Colo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FF"/>
      </a:accent1>
      <a:accent2>
        <a:srgbClr val="8024C0"/>
      </a:accent2>
      <a:accent3>
        <a:srgbClr val="FF3885"/>
      </a:accent3>
      <a:accent4>
        <a:srgbClr val="00EAFF"/>
      </a:accent4>
      <a:accent5>
        <a:srgbClr val="BEB6AE"/>
      </a:accent5>
      <a:accent6>
        <a:srgbClr val="17D68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1075</Words>
  <Application>Microsoft Macintosh PowerPoint</Application>
  <PresentationFormat>Widescreen</PresentationFormat>
  <Paragraphs>174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Helvetica Neue</vt:lpstr>
      <vt:lpstr>Arial</vt:lpstr>
      <vt:lpstr>Play</vt:lpstr>
      <vt:lpstr>VK New Color</vt:lpstr>
      <vt:lpstr>CI/CD </vt:lpstr>
      <vt:lpstr>СI/CD: Зачем?</vt:lpstr>
      <vt:lpstr>А какую проблему мы решаем?</vt:lpstr>
      <vt:lpstr>А какую проблему мы решаем?</vt:lpstr>
      <vt:lpstr>Что это?</vt:lpstr>
      <vt:lpstr>CI/CD</vt:lpstr>
      <vt:lpstr>CI/CD</vt:lpstr>
      <vt:lpstr>Time to Market</vt:lpstr>
      <vt:lpstr>А мне это нужно?</vt:lpstr>
      <vt:lpstr>А мне это нужно?</vt:lpstr>
      <vt:lpstr>СI/CD: Как?</vt:lpstr>
      <vt:lpstr>Стратегия ветвления в git </vt:lpstr>
      <vt:lpstr>Git flow</vt:lpstr>
      <vt:lpstr>Trunk based development</vt:lpstr>
      <vt:lpstr>Из чего состоит CI/CD</vt:lpstr>
      <vt:lpstr>Stage</vt:lpstr>
      <vt:lpstr>Этап 1: проверки и тестирование</vt:lpstr>
      <vt:lpstr>Этап 2: сборка</vt:lpstr>
      <vt:lpstr>Этап 2: сборка</vt:lpstr>
      <vt:lpstr>Этап 3: деплой и уведомления</vt:lpstr>
      <vt:lpstr>Инструменты и сервисы</vt:lpstr>
      <vt:lpstr>YAML-конфигурация CI/CD</vt:lpstr>
      <vt:lpstr>Как сделать хорошо</vt:lpstr>
      <vt:lpstr>Спасибо 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</dc:title>
  <cp:lastModifiedBy>Pavel Galanin</cp:lastModifiedBy>
  <cp:revision>1</cp:revision>
  <dcterms:modified xsi:type="dcterms:W3CDTF">2026-03-10T16:25:21Z</dcterms:modified>
</cp:coreProperties>
</file>