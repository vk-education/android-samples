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51"/>
  </p:notesMasterIdLst>
  <p:sldIdLst>
    <p:sldId id="256" r:id="rId2"/>
    <p:sldId id="258" r:id="rId3"/>
    <p:sldId id="259" r:id="rId4"/>
    <p:sldId id="260" r:id="rId5"/>
    <p:sldId id="261" r:id="rId6"/>
    <p:sldId id="650" r:id="rId7"/>
    <p:sldId id="270" r:id="rId8"/>
    <p:sldId id="651" r:id="rId9"/>
    <p:sldId id="271" r:id="rId10"/>
    <p:sldId id="275" r:id="rId11"/>
    <p:sldId id="614" r:id="rId12"/>
    <p:sldId id="277" r:id="rId13"/>
    <p:sldId id="278" r:id="rId14"/>
    <p:sldId id="279" r:id="rId15"/>
    <p:sldId id="280" r:id="rId16"/>
    <p:sldId id="284" r:id="rId17"/>
    <p:sldId id="281" r:id="rId18"/>
    <p:sldId id="285" r:id="rId19"/>
    <p:sldId id="629" r:id="rId20"/>
    <p:sldId id="624" r:id="rId21"/>
    <p:sldId id="288" r:id="rId22"/>
    <p:sldId id="272" r:id="rId23"/>
    <p:sldId id="273" r:id="rId24"/>
    <p:sldId id="274" r:id="rId25"/>
    <p:sldId id="620" r:id="rId26"/>
    <p:sldId id="630" r:id="rId27"/>
    <p:sldId id="625" r:id="rId28"/>
    <p:sldId id="645" r:id="rId29"/>
    <p:sldId id="646" r:id="rId30"/>
    <p:sldId id="647" r:id="rId31"/>
    <p:sldId id="648" r:id="rId32"/>
    <p:sldId id="649" r:id="rId33"/>
    <p:sldId id="644" r:id="rId34"/>
    <p:sldId id="626" r:id="rId35"/>
    <p:sldId id="627" r:id="rId36"/>
    <p:sldId id="631" r:id="rId37"/>
    <p:sldId id="635" r:id="rId38"/>
    <p:sldId id="636" r:id="rId39"/>
    <p:sldId id="639" r:id="rId40"/>
    <p:sldId id="640" r:id="rId41"/>
    <p:sldId id="641" r:id="rId42"/>
    <p:sldId id="643" r:id="rId43"/>
    <p:sldId id="623" r:id="rId44"/>
    <p:sldId id="632" r:id="rId45"/>
    <p:sldId id="633" r:id="rId46"/>
    <p:sldId id="634" r:id="rId47"/>
    <p:sldId id="319" r:id="rId48"/>
    <p:sldId id="642" r:id="rId49"/>
    <p:sldId id="617" r:id="rId50"/>
  </p:sldIdLst>
  <p:sldSz cx="12192000" cy="6858000"/>
  <p:notesSz cx="6858000" cy="9144000"/>
  <p:embeddedFontLs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Consolas" panose="020B0609020204030204" pitchFamily="49" charset="0"/>
      <p:regular r:id="rId56"/>
      <p:bold r:id="rId57"/>
      <p:italic r:id="rId58"/>
      <p:boldItalic r:id="rId59"/>
    </p:embeddedFont>
    <p:embeddedFont>
      <p:font typeface="Play" pitchFamily="2" charset="0"/>
      <p:regular r:id="rId60"/>
      <p:bold r:id="rId61"/>
    </p:embeddedFont>
    <p:embeddedFont>
      <p:font typeface="Roboto Mono" pitchFamily="49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B2B"/>
    <a:srgbClr val="D8EFFF"/>
    <a:srgbClr val="D8D8D8"/>
    <a:srgbClr val="1A2120"/>
    <a:srgbClr val="1D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D6D392-DA3D-D94F-A4E8-197473B91AEA}" v="731" dt="2024-05-07T06:49:53.082"/>
  </p1510:revLst>
</p1510:revInfo>
</file>

<file path=ppt/tableStyles.xml><?xml version="1.0" encoding="utf-8"?>
<a:tblStyleLst xmlns:a="http://schemas.openxmlformats.org/drawingml/2006/main" def="{5069669D-4BB4-4E00-B360-16363657C172}">
  <a:tblStyle styleId="{5069669D-4BB4-4E00-B360-16363657C172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tcBdr/>
        <a:fill>
          <a:solidFill>
            <a:srgbClr val="CAD5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5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722255-23CB-4B83-81A8-3CFC10BA859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97"/>
    <p:restoredTop sz="85271"/>
  </p:normalViewPr>
  <p:slideViewPr>
    <p:cSldViewPr snapToGrid="0">
      <p:cViewPr varScale="1">
        <p:scale>
          <a:sx n="84" d="100"/>
          <a:sy n="84" d="100"/>
        </p:scale>
        <p:origin x="21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16c8b97e20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16c8b97e20_0_5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g116c8b97e20_0_5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3f6178bb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13f6178bb3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g13f6178bb3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16c8b97e20_1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116c8b97e20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5532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113f7d3c74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113f7d3c743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113f7d3c743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113f7d3c74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113f7d3c743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113f7d3c743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5645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13f7d3c74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13f7d3c743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113f7d3c743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71426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31856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4254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79322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95499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33656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74420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67988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19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39487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2144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21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709432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113f7d3c74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113f7d3c743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g113f7d3c743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3f7d3c743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3f7d3c743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3" name="Google Shape;713;g113f7d3c743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13f7d3c74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13f7d3c743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g113f7d3c743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13f7d3c74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13f7d3c743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1" name="Google Shape;731;g113f7d3c743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13f7d3c74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13f7d3c743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g113f7d3c743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801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109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16c8b97e20_1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g116c8b97e20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174bb37861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174bb37861_0_5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g1174bb37861_0_5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16c8b97e20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16c8b97e20_1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g116c8b97e20_1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174bb37861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1174bb37861_0_5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g1174bb37861_0_5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173da8670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173da86709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g1173da86709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81191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3f6178bb3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3f6178bb37_0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g13f6178bb37_0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17947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E34E-929E-244F-845D-5A7B988E6FAE}" type="slidenum">
              <a:rPr lang="en-RU" smtClean="0"/>
              <a:t>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02472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3139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25459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77589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79783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90737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49436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43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32200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99567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5c5b7fa2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15c5b7fa2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15c5b7fa2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8688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16c8b97e20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16c8b97e20_1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g116c8b97e20_1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0041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chemeClr val="accen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3066460" y="0"/>
            <a:ext cx="9141306" cy="6857984"/>
          </a:xfrm>
          <a:custGeom>
            <a:avLst/>
            <a:gdLst/>
            <a:ahLst/>
            <a:cxnLst/>
            <a:rect l="l" t="t" r="r" b="b"/>
            <a:pathLst>
              <a:path w="9141306" h="6857984" extrusionOk="0">
                <a:moveTo>
                  <a:pt x="0" y="0"/>
                </a:moveTo>
                <a:lnTo>
                  <a:pt x="2220627" y="0"/>
                </a:lnTo>
                <a:lnTo>
                  <a:pt x="2227664" y="71102"/>
                </a:lnTo>
                <a:cubicBezTo>
                  <a:pt x="2553673" y="2682585"/>
                  <a:pt x="3819226" y="4693753"/>
                  <a:pt x="5269599" y="4980435"/>
                </a:cubicBezTo>
                <a:lnTo>
                  <a:pt x="5269599" y="0"/>
                </a:lnTo>
                <a:lnTo>
                  <a:pt x="7482942" y="0"/>
                </a:lnTo>
                <a:lnTo>
                  <a:pt x="7482942" y="2561872"/>
                </a:lnTo>
                <a:cubicBezTo>
                  <a:pt x="8043875" y="2462017"/>
                  <a:pt x="8561096" y="2193961"/>
                  <a:pt x="9008436" y="1827258"/>
                </a:cubicBezTo>
                <a:lnTo>
                  <a:pt x="9141306" y="1710545"/>
                </a:lnTo>
                <a:lnTo>
                  <a:pt x="9141306" y="5220992"/>
                </a:lnTo>
                <a:lnTo>
                  <a:pt x="9053277" y="5161765"/>
                </a:lnTo>
                <a:cubicBezTo>
                  <a:pt x="8633864" y="4904410"/>
                  <a:pt x="8120266" y="4711796"/>
                  <a:pt x="7482942" y="4623280"/>
                </a:cubicBezTo>
                <a:lnTo>
                  <a:pt x="7482942" y="6857984"/>
                </a:lnTo>
                <a:lnTo>
                  <a:pt x="3958880" y="6857984"/>
                </a:lnTo>
                <a:lnTo>
                  <a:pt x="3937392" y="6847097"/>
                </a:lnTo>
                <a:cubicBezTo>
                  <a:pt x="1772771" y="5668291"/>
                  <a:pt x="481691" y="3223920"/>
                  <a:pt x="53599" y="39433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>
            <a:spLocks noGrp="1"/>
          </p:cNvSpPr>
          <p:nvPr>
            <p:ph type="body" idx="1"/>
          </p:nvPr>
        </p:nvSpPr>
        <p:spPr>
          <a:xfrm>
            <a:off x="658813" y="3307439"/>
            <a:ext cx="1022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622261" y="1052209"/>
            <a:ext cx="10220325" cy="183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>
            <a:off x="658071" y="5503765"/>
            <a:ext cx="697010" cy="697010"/>
            <a:chOff x="658071" y="5503765"/>
            <a:chExt cx="697010" cy="697010"/>
          </a:xfrm>
        </p:grpSpPr>
        <p:grpSp>
          <p:nvGrpSpPr>
            <p:cNvPr id="58" name="Google Shape;58;p2"/>
            <p:cNvGrpSpPr/>
            <p:nvPr/>
          </p:nvGrpSpPr>
          <p:grpSpPr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5619750" y="295275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780486" y="3242471"/>
                <a:ext cx="635397" cy="396478"/>
              </a:xfrm>
              <a:custGeom>
                <a:avLst/>
                <a:gdLst/>
                <a:ahLst/>
                <a:cxnLst/>
                <a:rect l="l" t="t" r="r" b="b"/>
                <a:pathLst>
                  <a:path w="635397" h="396478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p2"/>
            <p:cNvSpPr/>
            <p:nvPr/>
          </p:nvSpPr>
          <p:spPr>
            <a:xfrm>
              <a:off x="775543" y="5715464"/>
              <a:ext cx="463247" cy="290797"/>
            </a:xfrm>
            <a:custGeom>
              <a:avLst/>
              <a:gdLst/>
              <a:ahLst/>
              <a:cxnLst/>
              <a:rect l="l" t="t" r="r" b="b"/>
              <a:pathLst>
                <a:path w="861139" h="540569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body" idx="1"/>
          </p:nvPr>
        </p:nvSpPr>
        <p:spPr>
          <a:xfrm>
            <a:off x="658813" y="3307439"/>
            <a:ext cx="1022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622261" y="1052209"/>
            <a:ext cx="10220325" cy="183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3" name="Google Shape;143;p19"/>
          <p:cNvGrpSpPr/>
          <p:nvPr/>
        </p:nvGrpSpPr>
        <p:grpSpPr>
          <a:xfrm>
            <a:off x="658071" y="5503765"/>
            <a:ext cx="697010" cy="697010"/>
            <a:chOff x="658071" y="5503765"/>
            <a:chExt cx="697010" cy="697010"/>
          </a:xfrm>
        </p:grpSpPr>
        <p:grpSp>
          <p:nvGrpSpPr>
            <p:cNvPr id="144" name="Google Shape;144;p19"/>
            <p:cNvGrpSpPr/>
            <p:nvPr/>
          </p:nvGrpSpPr>
          <p:grpSpPr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145" name="Google Shape;145;p19"/>
              <p:cNvSpPr/>
              <p:nvPr/>
            </p:nvSpPr>
            <p:spPr>
              <a:xfrm>
                <a:off x="5619750" y="295275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5780486" y="3242471"/>
                <a:ext cx="635397" cy="396478"/>
              </a:xfrm>
              <a:custGeom>
                <a:avLst/>
                <a:gdLst/>
                <a:ahLst/>
                <a:cxnLst/>
                <a:rect l="l" t="t" r="r" b="b"/>
                <a:pathLst>
                  <a:path w="635397" h="396478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" name="Google Shape;147;p19"/>
            <p:cNvSpPr/>
            <p:nvPr/>
          </p:nvSpPr>
          <p:spPr>
            <a:xfrm>
              <a:off x="775543" y="5715464"/>
              <a:ext cx="463247" cy="290797"/>
            </a:xfrm>
            <a:custGeom>
              <a:avLst/>
              <a:gdLst/>
              <a:ahLst/>
              <a:cxnLst/>
              <a:rect l="l" t="t" r="r" b="b"/>
              <a:pathLst>
                <a:path w="861139" h="540569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объект">
  <p:cSld name="Заголовок + объект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2 строки + объект">
  <p:cSld name="Заголовок в 2 строки + объект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6311901" y="692150"/>
            <a:ext cx="5208586" cy="554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2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2 объекта">
  <p:cSld name="Заголовок + 2 объекта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body" idx="1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body" idx="2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актоид">
  <p:cSld name="1 фактоид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4"/>
          <p:cNvPicPr preferRelativeResize="0"/>
          <p:nvPr/>
        </p:nvPicPr>
        <p:blipFill rotWithShape="1">
          <a:blip r:embed="rId2">
            <a:alphaModFix/>
          </a:blip>
          <a:srcRect l="34450" t="19159" r="15833" b="18805"/>
          <a:stretch/>
        </p:blipFill>
        <p:spPr>
          <a:xfrm>
            <a:off x="5939756" y="0"/>
            <a:ext cx="625224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2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700"/>
              <a:buNone/>
              <a:defRPr sz="167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0"/>
              <a:buChar char="•"/>
              <a:defRPr sz="18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0"/>
              <a:buChar char="−"/>
              <a:defRPr sz="18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0"/>
              <a:buChar char="•"/>
              <a:defRPr sz="18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0"/>
              <a:buChar char="•"/>
              <a:defRPr sz="18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фактоида">
  <p:cSld name="2 фактоида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5"/>
          <p:cNvPicPr preferRelativeResize="0"/>
          <p:nvPr/>
        </p:nvPicPr>
        <p:blipFill rotWithShape="1">
          <a:blip r:embed="rId2">
            <a:alphaModFix/>
          </a:blip>
          <a:srcRect l="34450" t="19159" r="15833" b="18805"/>
          <a:stretch/>
        </p:blipFill>
        <p:spPr>
          <a:xfrm>
            <a:off x="5939756" y="0"/>
            <a:ext cx="625224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672853" y="3878709"/>
            <a:ext cx="8131144" cy="176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sz="115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2"/>
          </p:nvPr>
        </p:nvSpPr>
        <p:spPr>
          <a:xfrm>
            <a:off x="672852" y="5715426"/>
            <a:ext cx="8131144" cy="48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body" idx="3"/>
          </p:nvPr>
        </p:nvSpPr>
        <p:spPr>
          <a:xfrm>
            <a:off x="671514" y="1045518"/>
            <a:ext cx="8131144" cy="176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sz="115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body" idx="4"/>
          </p:nvPr>
        </p:nvSpPr>
        <p:spPr>
          <a:xfrm>
            <a:off x="671513" y="2882235"/>
            <a:ext cx="8131144" cy="48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фактоида">
  <p:cSld name="4 фактоида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body" idx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2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3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4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body" idx="5"/>
          </p:nvPr>
        </p:nvSpPr>
        <p:spPr>
          <a:xfrm>
            <a:off x="680012" y="3864033"/>
            <a:ext cx="5239525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body" idx="6"/>
          </p:nvPr>
        </p:nvSpPr>
        <p:spPr>
          <a:xfrm>
            <a:off x="680011" y="5058095"/>
            <a:ext cx="5239525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7"/>
          </p:nvPr>
        </p:nvSpPr>
        <p:spPr>
          <a:xfrm>
            <a:off x="678673" y="1773238"/>
            <a:ext cx="5239525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8"/>
          </p:nvPr>
        </p:nvSpPr>
        <p:spPr>
          <a:xfrm>
            <a:off x="678673" y="2967300"/>
            <a:ext cx="5239525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фактоида + текст">
  <p:cSld name="4 фактоида + текст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>
            <a:spLocks noGrp="1"/>
          </p:cNvSpPr>
          <p:nvPr>
            <p:ph type="body" idx="1"/>
          </p:nvPr>
        </p:nvSpPr>
        <p:spPr>
          <a:xfrm>
            <a:off x="5345018" y="617220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body" idx="2"/>
          </p:nvPr>
        </p:nvSpPr>
        <p:spPr>
          <a:xfrm>
            <a:off x="5345017" y="1620441"/>
            <a:ext cx="2779200" cy="49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body" idx="3"/>
          </p:nvPr>
        </p:nvSpPr>
        <p:spPr>
          <a:xfrm>
            <a:off x="5345018" y="2680786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body" idx="4"/>
          </p:nvPr>
        </p:nvSpPr>
        <p:spPr>
          <a:xfrm>
            <a:off x="5345017" y="3684008"/>
            <a:ext cx="27792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body" idx="5"/>
          </p:nvPr>
        </p:nvSpPr>
        <p:spPr>
          <a:xfrm>
            <a:off x="8424464" y="617220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6"/>
          </p:nvPr>
        </p:nvSpPr>
        <p:spPr>
          <a:xfrm>
            <a:off x="8424463" y="1620442"/>
            <a:ext cx="27792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7"/>
          </p:nvPr>
        </p:nvSpPr>
        <p:spPr>
          <a:xfrm>
            <a:off x="8424465" y="2680786"/>
            <a:ext cx="2779200" cy="9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body" idx="8"/>
          </p:nvPr>
        </p:nvSpPr>
        <p:spPr>
          <a:xfrm>
            <a:off x="8424463" y="3684008"/>
            <a:ext cx="27792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body" idx="9"/>
          </p:nvPr>
        </p:nvSpPr>
        <p:spPr>
          <a:xfrm>
            <a:off x="668348" y="2495796"/>
            <a:ext cx="3384000" cy="111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3366029" cy="160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фактоидов">
  <p:cSld name="6 фактоидов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5345020" y="617220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2"/>
          </p:nvPr>
        </p:nvSpPr>
        <p:spPr>
          <a:xfrm>
            <a:off x="5345020" y="145276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3"/>
          </p:nvPr>
        </p:nvSpPr>
        <p:spPr>
          <a:xfrm>
            <a:off x="8375766" y="617220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4"/>
          </p:nvPr>
        </p:nvSpPr>
        <p:spPr>
          <a:xfrm>
            <a:off x="8375766" y="145276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5"/>
          </p:nvPr>
        </p:nvSpPr>
        <p:spPr>
          <a:xfrm>
            <a:off x="5345020" y="2293322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6"/>
          </p:nvPr>
        </p:nvSpPr>
        <p:spPr>
          <a:xfrm>
            <a:off x="5345020" y="3128871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7"/>
          </p:nvPr>
        </p:nvSpPr>
        <p:spPr>
          <a:xfrm>
            <a:off x="8375766" y="2293322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body" idx="8"/>
          </p:nvPr>
        </p:nvSpPr>
        <p:spPr>
          <a:xfrm>
            <a:off x="8375766" y="3128872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9"/>
          </p:nvPr>
        </p:nvSpPr>
        <p:spPr>
          <a:xfrm>
            <a:off x="5345020" y="3971489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body" idx="13"/>
          </p:nvPr>
        </p:nvSpPr>
        <p:spPr>
          <a:xfrm>
            <a:off x="5345020" y="480703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body" idx="14"/>
          </p:nvPr>
        </p:nvSpPr>
        <p:spPr>
          <a:xfrm>
            <a:off x="8375766" y="3971489"/>
            <a:ext cx="24840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body" idx="15"/>
          </p:nvPr>
        </p:nvSpPr>
        <p:spPr>
          <a:xfrm>
            <a:off x="8375766" y="4807039"/>
            <a:ext cx="2484000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body" idx="16"/>
          </p:nvPr>
        </p:nvSpPr>
        <p:spPr>
          <a:xfrm>
            <a:off x="671513" y="2496201"/>
            <a:ext cx="3384000" cy="111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3366029" cy="160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фактоидов">
  <p:cSld name="9 фактоидов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>
            <a:spLocks noGrp="1"/>
          </p:cNvSpPr>
          <p:nvPr>
            <p:ph type="body" idx="1"/>
          </p:nvPr>
        </p:nvSpPr>
        <p:spPr>
          <a:xfrm>
            <a:off x="5342973" y="621775"/>
            <a:ext cx="1764000" cy="806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2"/>
          </p:nvPr>
        </p:nvSpPr>
        <p:spPr>
          <a:xfrm>
            <a:off x="5342973" y="143976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3"/>
          </p:nvPr>
        </p:nvSpPr>
        <p:spPr>
          <a:xfrm>
            <a:off x="7395993" y="621775"/>
            <a:ext cx="1764000" cy="806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4"/>
          </p:nvPr>
        </p:nvSpPr>
        <p:spPr>
          <a:xfrm>
            <a:off x="7395993" y="143976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5"/>
          </p:nvPr>
        </p:nvSpPr>
        <p:spPr>
          <a:xfrm>
            <a:off x="9445338" y="621775"/>
            <a:ext cx="1764000" cy="806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6"/>
          </p:nvPr>
        </p:nvSpPr>
        <p:spPr>
          <a:xfrm>
            <a:off x="9445338" y="143976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7"/>
          </p:nvPr>
        </p:nvSpPr>
        <p:spPr>
          <a:xfrm>
            <a:off x="5342973" y="2524164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8"/>
          </p:nvPr>
        </p:nvSpPr>
        <p:spPr>
          <a:xfrm>
            <a:off x="5342973" y="333580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9"/>
          </p:nvPr>
        </p:nvSpPr>
        <p:spPr>
          <a:xfrm>
            <a:off x="7399668" y="2524164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3"/>
          </p:nvPr>
        </p:nvSpPr>
        <p:spPr>
          <a:xfrm>
            <a:off x="7399668" y="333580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body" idx="14"/>
          </p:nvPr>
        </p:nvSpPr>
        <p:spPr>
          <a:xfrm>
            <a:off x="9452688" y="2524164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5"/>
          </p:nvPr>
        </p:nvSpPr>
        <p:spPr>
          <a:xfrm>
            <a:off x="9452688" y="3335807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16"/>
          </p:nvPr>
        </p:nvSpPr>
        <p:spPr>
          <a:xfrm>
            <a:off x="5342973" y="4348797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7"/>
          </p:nvPr>
        </p:nvSpPr>
        <p:spPr>
          <a:xfrm>
            <a:off x="5342973" y="5157265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18"/>
          </p:nvPr>
        </p:nvSpPr>
        <p:spPr>
          <a:xfrm>
            <a:off x="7395993" y="4348797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19"/>
          </p:nvPr>
        </p:nvSpPr>
        <p:spPr>
          <a:xfrm>
            <a:off x="7395993" y="5157265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20"/>
          </p:nvPr>
        </p:nvSpPr>
        <p:spPr>
          <a:xfrm>
            <a:off x="9445338" y="4348797"/>
            <a:ext cx="1764000" cy="7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21"/>
          </p:nvPr>
        </p:nvSpPr>
        <p:spPr>
          <a:xfrm>
            <a:off x="9445338" y="5157265"/>
            <a:ext cx="1764000" cy="60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22"/>
          </p:nvPr>
        </p:nvSpPr>
        <p:spPr>
          <a:xfrm>
            <a:off x="671513" y="2487267"/>
            <a:ext cx="3384000" cy="111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3366029" cy="160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фактоидов">
  <p:cSld name="8 фактоидов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671513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671513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3433450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body" idx="4"/>
          </p:nvPr>
        </p:nvSpPr>
        <p:spPr>
          <a:xfrm>
            <a:off x="3433450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body" idx="5"/>
          </p:nvPr>
        </p:nvSpPr>
        <p:spPr>
          <a:xfrm>
            <a:off x="6195388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body" idx="6"/>
          </p:nvPr>
        </p:nvSpPr>
        <p:spPr>
          <a:xfrm>
            <a:off x="6195388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body" idx="7"/>
          </p:nvPr>
        </p:nvSpPr>
        <p:spPr>
          <a:xfrm>
            <a:off x="8957326" y="2052229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body" idx="8"/>
          </p:nvPr>
        </p:nvSpPr>
        <p:spPr>
          <a:xfrm>
            <a:off x="8957326" y="2947811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body" idx="9"/>
          </p:nvPr>
        </p:nvSpPr>
        <p:spPr>
          <a:xfrm>
            <a:off x="671513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body" idx="13"/>
          </p:nvPr>
        </p:nvSpPr>
        <p:spPr>
          <a:xfrm>
            <a:off x="671513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14"/>
          </p:nvPr>
        </p:nvSpPr>
        <p:spPr>
          <a:xfrm>
            <a:off x="3433450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body" idx="15"/>
          </p:nvPr>
        </p:nvSpPr>
        <p:spPr>
          <a:xfrm>
            <a:off x="3433450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body" idx="16"/>
          </p:nvPr>
        </p:nvSpPr>
        <p:spPr>
          <a:xfrm>
            <a:off x="6195388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body" idx="17"/>
          </p:nvPr>
        </p:nvSpPr>
        <p:spPr>
          <a:xfrm>
            <a:off x="6195388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body" idx="18"/>
          </p:nvPr>
        </p:nvSpPr>
        <p:spPr>
          <a:xfrm>
            <a:off x="8957326" y="4142061"/>
            <a:ext cx="2575861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body" idx="19"/>
          </p:nvPr>
        </p:nvSpPr>
        <p:spPr>
          <a:xfrm>
            <a:off x="8957326" y="5031926"/>
            <a:ext cx="2575861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68554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а (android) ">
  <p:cSld name="Мокап телефона (android) 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8440" y="692150"/>
            <a:ext cx="2655710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>
            <a:spLocks noGrp="1"/>
          </p:cNvSpPr>
          <p:nvPr>
            <p:ph type="pic" idx="2"/>
          </p:nvPr>
        </p:nvSpPr>
        <p:spPr>
          <a:xfrm>
            <a:off x="7767579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3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1 android)">
  <p:cSld name="Два мокапа телефона (1 android)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18754" y="692150"/>
            <a:ext cx="2655710" cy="550862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5" name="Google Shape;265;p32"/>
          <p:cNvSpPr>
            <a:spLocks noGrp="1"/>
          </p:cNvSpPr>
          <p:nvPr>
            <p:ph type="pic" idx="2"/>
          </p:nvPr>
        </p:nvSpPr>
        <p:spPr>
          <a:xfrm>
            <a:off x="9057893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66" name="Google Shape;266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04129" y="692150"/>
            <a:ext cx="2655710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>
            <a:spLocks noGrp="1"/>
          </p:cNvSpPr>
          <p:nvPr>
            <p:ph type="pic" idx="3"/>
          </p:nvPr>
        </p:nvSpPr>
        <p:spPr>
          <a:xfrm>
            <a:off x="6343268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2 android) ">
  <p:cSld name="Два мокапа телефона (2 android) 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6850065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title"/>
          </p:nvPr>
        </p:nvSpPr>
        <p:spPr>
          <a:xfrm>
            <a:off x="6855885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2" name="Google Shape;27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0574" y="692150"/>
            <a:ext cx="2655710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3"/>
          <p:cNvSpPr>
            <a:spLocks noGrp="1"/>
          </p:cNvSpPr>
          <p:nvPr>
            <p:ph type="pic" idx="2"/>
          </p:nvPr>
        </p:nvSpPr>
        <p:spPr>
          <a:xfrm>
            <a:off x="3469713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74" name="Google Shape;27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5949" y="692150"/>
            <a:ext cx="2655710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>
            <a:spLocks noGrp="1"/>
          </p:cNvSpPr>
          <p:nvPr>
            <p:ph type="pic" idx="3"/>
          </p:nvPr>
        </p:nvSpPr>
        <p:spPr>
          <a:xfrm>
            <a:off x="755088" y="1009595"/>
            <a:ext cx="2389452" cy="5034018"/>
          </a:xfrm>
          <a:prstGeom prst="roundRect">
            <a:avLst>
              <a:gd name="adj" fmla="val 8068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Увеличенный мокап телефона (android) ">
  <p:cSld name="Увеличенный мокап телефона (android) 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71106" y="692150"/>
            <a:ext cx="3863416" cy="801371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>
            <a:spLocks noGrp="1"/>
          </p:cNvSpPr>
          <p:nvPr>
            <p:ph type="pic" idx="2"/>
          </p:nvPr>
        </p:nvSpPr>
        <p:spPr>
          <a:xfrm>
            <a:off x="7274309" y="1170527"/>
            <a:ext cx="3457422" cy="7345452"/>
          </a:xfrm>
          <a:prstGeom prst="roundRect">
            <a:avLst>
              <a:gd name="adj" fmla="val 6986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34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2448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2448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1)">
  <p:cSld name="Два мокапа телефона (1)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5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86" name="Google Shape;286;p35"/>
          <p:cNvGrpSpPr/>
          <p:nvPr/>
        </p:nvGrpSpPr>
        <p:grpSpPr>
          <a:xfrm>
            <a:off x="8616940" y="452282"/>
            <a:ext cx="3169715" cy="5991381"/>
            <a:chOff x="7488229" y="591001"/>
            <a:chExt cx="2987144" cy="5646287"/>
          </a:xfrm>
        </p:grpSpPr>
        <p:sp>
          <p:nvSpPr>
            <p:cNvPr id="287" name="Google Shape;287;p35"/>
            <p:cNvSpPr/>
            <p:nvPr/>
          </p:nvSpPr>
          <p:spPr>
            <a:xfrm>
              <a:off x="7796469" y="917781"/>
              <a:ext cx="2370667" cy="5014561"/>
            </a:xfrm>
            <a:prstGeom prst="roundRect">
              <a:avLst>
                <a:gd name="adj" fmla="val 9524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3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488229" y="591001"/>
              <a:ext cx="2987144" cy="56462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9" name="Google Shape;289;p35"/>
          <p:cNvSpPr>
            <a:spLocks noGrp="1"/>
          </p:cNvSpPr>
          <p:nvPr>
            <p:ph type="pic" idx="2"/>
          </p:nvPr>
        </p:nvSpPr>
        <p:spPr>
          <a:xfrm>
            <a:off x="8989031" y="795427"/>
            <a:ext cx="2428737" cy="529537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90" name="Google Shape;290;p35"/>
          <p:cNvGrpSpPr/>
          <p:nvPr/>
        </p:nvGrpSpPr>
        <p:grpSpPr>
          <a:xfrm>
            <a:off x="5750197" y="452282"/>
            <a:ext cx="3169715" cy="5991381"/>
            <a:chOff x="7488230" y="591001"/>
            <a:chExt cx="2987144" cy="5646287"/>
          </a:xfrm>
        </p:grpSpPr>
        <p:sp>
          <p:nvSpPr>
            <p:cNvPr id="291" name="Google Shape;291;p35"/>
            <p:cNvSpPr/>
            <p:nvPr/>
          </p:nvSpPr>
          <p:spPr>
            <a:xfrm>
              <a:off x="7796469" y="917781"/>
              <a:ext cx="2370667" cy="5014561"/>
            </a:xfrm>
            <a:prstGeom prst="roundRect">
              <a:avLst>
                <a:gd name="adj" fmla="val 9524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2" name="Google Shape;292;p3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488230" y="591001"/>
              <a:ext cx="2987144" cy="56462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35"/>
          <p:cNvSpPr>
            <a:spLocks noGrp="1"/>
          </p:cNvSpPr>
          <p:nvPr>
            <p:ph type="pic" idx="3"/>
          </p:nvPr>
        </p:nvSpPr>
        <p:spPr>
          <a:xfrm>
            <a:off x="6122287" y="795427"/>
            <a:ext cx="2428737" cy="529537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2)">
  <p:cSld name="Два мокапа телефона (2)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/>
          <p:nvPr/>
        </p:nvSpPr>
        <p:spPr>
          <a:xfrm>
            <a:off x="3622719" y="799034"/>
            <a:ext cx="2515560" cy="5321045"/>
          </a:xfrm>
          <a:prstGeom prst="roundRect">
            <a:avLst>
              <a:gd name="adj" fmla="val 9524"/>
            </a:avLst>
          </a:prstGeom>
          <a:solidFill>
            <a:schemeClr val="dk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6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36"/>
          <p:cNvSpPr txBox="1">
            <a:spLocks noGrp="1"/>
          </p:cNvSpPr>
          <p:nvPr>
            <p:ph type="body" idx="1"/>
          </p:nvPr>
        </p:nvSpPr>
        <p:spPr>
          <a:xfrm>
            <a:off x="6850065" y="2055970"/>
            <a:ext cx="466301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title"/>
          </p:nvPr>
        </p:nvSpPr>
        <p:spPr>
          <a:xfrm>
            <a:off x="6855885" y="692150"/>
            <a:ext cx="466301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6"/>
          <p:cNvSpPr>
            <a:spLocks noGrp="1"/>
          </p:cNvSpPr>
          <p:nvPr>
            <p:ph type="pic" idx="2"/>
          </p:nvPr>
        </p:nvSpPr>
        <p:spPr>
          <a:xfrm>
            <a:off x="3667731" y="795427"/>
            <a:ext cx="2428737" cy="529537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36"/>
          <p:cNvSpPr/>
          <p:nvPr/>
        </p:nvSpPr>
        <p:spPr>
          <a:xfrm>
            <a:off x="755975" y="799034"/>
            <a:ext cx="2515560" cy="5321045"/>
          </a:xfrm>
          <a:prstGeom prst="roundRect">
            <a:avLst>
              <a:gd name="adj" fmla="val 9524"/>
            </a:avLst>
          </a:prstGeom>
          <a:solidFill>
            <a:schemeClr val="dk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6"/>
          <p:cNvSpPr>
            <a:spLocks noGrp="1"/>
          </p:cNvSpPr>
          <p:nvPr>
            <p:ph type="pic" idx="3"/>
          </p:nvPr>
        </p:nvSpPr>
        <p:spPr>
          <a:xfrm>
            <a:off x="800987" y="795427"/>
            <a:ext cx="2428737" cy="529537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02" name="Google Shape;30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5641" y="452282"/>
            <a:ext cx="3169715" cy="599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8897" y="452282"/>
            <a:ext cx="3169715" cy="5991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Увеличенный мокап телефона ">
  <p:cSld name="Увеличенный мокап телефона 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/>
        </p:nvSpPr>
        <p:spPr>
          <a:xfrm>
            <a:off x="7508394" y="991396"/>
            <a:ext cx="3355918" cy="7215892"/>
          </a:xfrm>
          <a:prstGeom prst="roundRect">
            <a:avLst>
              <a:gd name="adj" fmla="val 9524"/>
            </a:avLst>
          </a:prstGeom>
          <a:solidFill>
            <a:schemeClr val="dk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7"/>
          <p:cNvSpPr>
            <a:spLocks noGrp="1"/>
          </p:cNvSpPr>
          <p:nvPr>
            <p:ph type="pic" idx="2"/>
          </p:nvPr>
        </p:nvSpPr>
        <p:spPr>
          <a:xfrm>
            <a:off x="7530643" y="991396"/>
            <a:ext cx="3311420" cy="7164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37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7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2448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3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2448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0" name="Google Shape;310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39061" y="498013"/>
            <a:ext cx="4303545" cy="8134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криншот (16:9)">
  <p:cSld name="Скриншот (16:9)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>
            <a:spLocks noGrp="1"/>
          </p:cNvSpPr>
          <p:nvPr>
            <p:ph type="pic" idx="2"/>
          </p:nvPr>
        </p:nvSpPr>
        <p:spPr>
          <a:xfrm>
            <a:off x="5671080" y="2083205"/>
            <a:ext cx="5866489" cy="35996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313" name="Google Shape;31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76900" y="1773238"/>
            <a:ext cx="5868988" cy="30996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1"/>
          </p:nvPr>
        </p:nvSpPr>
        <p:spPr>
          <a:xfrm>
            <a:off x="671514" y="177323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3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68554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">
  <p:cSld name="1 фото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ftr" idx="11"/>
          </p:nvPr>
        </p:nvSpPr>
        <p:spPr>
          <a:xfrm>
            <a:off x="671514" y="167981"/>
            <a:ext cx="4663017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9"/>
          <p:cNvSpPr txBox="1">
            <a:spLocks noGrp="1"/>
          </p:cNvSpPr>
          <p:nvPr>
            <p:ph type="body" idx="1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 фото">
  <p:cSld name="1_1 фото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в кружке">
  <p:cSld name="Фото в кружке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>
            <a:spLocks noGrp="1"/>
          </p:cNvSpPr>
          <p:nvPr>
            <p:ph type="pic" idx="2"/>
          </p:nvPr>
        </p:nvSpPr>
        <p:spPr>
          <a:xfrm>
            <a:off x="1608083" y="1773237"/>
            <a:ext cx="3156225" cy="31562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35" name="Google Shape;335;p42"/>
          <p:cNvSpPr txBox="1">
            <a:spLocks noGrp="1"/>
          </p:cNvSpPr>
          <p:nvPr>
            <p:ph type="title"/>
          </p:nvPr>
        </p:nvSpPr>
        <p:spPr>
          <a:xfrm>
            <a:off x="5340350" y="2201188"/>
            <a:ext cx="4891856" cy="1063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42"/>
          <p:cNvSpPr txBox="1">
            <a:spLocks noGrp="1"/>
          </p:cNvSpPr>
          <p:nvPr>
            <p:ph type="body" idx="1"/>
          </p:nvPr>
        </p:nvSpPr>
        <p:spPr>
          <a:xfrm>
            <a:off x="5337598" y="3441164"/>
            <a:ext cx="4894515" cy="1172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42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сообществ">
  <p:cSld name="16 сообществ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>
            <a:spLocks noGrp="1"/>
          </p:cNvSpPr>
          <p:nvPr>
            <p:ph type="pic" idx="2"/>
          </p:nvPr>
        </p:nvSpPr>
        <p:spPr>
          <a:xfrm>
            <a:off x="5349730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>
            <a:spLocks noGrp="1"/>
          </p:cNvSpPr>
          <p:nvPr>
            <p:ph type="pic" idx="3"/>
          </p:nvPr>
        </p:nvSpPr>
        <p:spPr>
          <a:xfrm>
            <a:off x="6950627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>
            <a:spLocks noGrp="1"/>
          </p:cNvSpPr>
          <p:nvPr>
            <p:ph type="pic" idx="4"/>
          </p:nvPr>
        </p:nvSpPr>
        <p:spPr>
          <a:xfrm>
            <a:off x="8511197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>
            <a:spLocks noGrp="1"/>
          </p:cNvSpPr>
          <p:nvPr>
            <p:ph type="pic" idx="5"/>
          </p:nvPr>
        </p:nvSpPr>
        <p:spPr>
          <a:xfrm>
            <a:off x="10112094" y="800100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>
            <a:spLocks noGrp="1"/>
          </p:cNvSpPr>
          <p:nvPr>
            <p:ph type="pic" idx="6"/>
          </p:nvPr>
        </p:nvSpPr>
        <p:spPr>
          <a:xfrm>
            <a:off x="5349730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>
            <a:spLocks noGrp="1"/>
          </p:cNvSpPr>
          <p:nvPr>
            <p:ph type="pic" idx="7"/>
          </p:nvPr>
        </p:nvSpPr>
        <p:spPr>
          <a:xfrm>
            <a:off x="6950627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43"/>
          <p:cNvSpPr>
            <a:spLocks noGrp="1"/>
          </p:cNvSpPr>
          <p:nvPr>
            <p:ph type="pic" idx="8"/>
          </p:nvPr>
        </p:nvSpPr>
        <p:spPr>
          <a:xfrm>
            <a:off x="8511197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>
            <a:spLocks noGrp="1"/>
          </p:cNvSpPr>
          <p:nvPr>
            <p:ph type="pic" idx="9"/>
          </p:nvPr>
        </p:nvSpPr>
        <p:spPr>
          <a:xfrm>
            <a:off x="10112094" y="2248639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>
            <a:spLocks noGrp="1"/>
          </p:cNvSpPr>
          <p:nvPr>
            <p:ph type="pic" idx="13"/>
          </p:nvPr>
        </p:nvSpPr>
        <p:spPr>
          <a:xfrm>
            <a:off x="5349730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3"/>
          <p:cNvSpPr>
            <a:spLocks noGrp="1"/>
          </p:cNvSpPr>
          <p:nvPr>
            <p:ph type="pic" idx="14"/>
          </p:nvPr>
        </p:nvSpPr>
        <p:spPr>
          <a:xfrm>
            <a:off x="6950627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15"/>
          </p:nvPr>
        </p:nvSpPr>
        <p:spPr>
          <a:xfrm>
            <a:off x="8511197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16"/>
          </p:nvPr>
        </p:nvSpPr>
        <p:spPr>
          <a:xfrm>
            <a:off x="10112094" y="3697178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>
            <a:spLocks noGrp="1"/>
          </p:cNvSpPr>
          <p:nvPr>
            <p:ph type="pic" idx="17"/>
          </p:nvPr>
        </p:nvSpPr>
        <p:spPr>
          <a:xfrm>
            <a:off x="5349730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3"/>
          <p:cNvSpPr>
            <a:spLocks noGrp="1"/>
          </p:cNvSpPr>
          <p:nvPr>
            <p:ph type="pic" idx="18"/>
          </p:nvPr>
        </p:nvSpPr>
        <p:spPr>
          <a:xfrm>
            <a:off x="6950627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3"/>
          <p:cNvSpPr>
            <a:spLocks noGrp="1"/>
          </p:cNvSpPr>
          <p:nvPr>
            <p:ph type="pic" idx="19"/>
          </p:nvPr>
        </p:nvSpPr>
        <p:spPr>
          <a:xfrm>
            <a:off x="8511197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3"/>
          <p:cNvSpPr>
            <a:spLocks noGrp="1"/>
          </p:cNvSpPr>
          <p:nvPr>
            <p:ph type="pic" idx="20"/>
          </p:nvPr>
        </p:nvSpPr>
        <p:spPr>
          <a:xfrm>
            <a:off x="10112094" y="5145716"/>
            <a:ext cx="1091571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3"/>
          <p:cNvSpPr txBox="1">
            <a:spLocks noGrp="1"/>
          </p:cNvSpPr>
          <p:nvPr>
            <p:ph type="body" idx="1"/>
          </p:nvPr>
        </p:nvSpPr>
        <p:spPr>
          <a:xfrm>
            <a:off x="671513" y="2550946"/>
            <a:ext cx="3371850" cy="368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title"/>
          </p:nvPr>
        </p:nvSpPr>
        <p:spPr>
          <a:xfrm>
            <a:off x="677334" y="692149"/>
            <a:ext cx="3366029" cy="1708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Финальный слайд">
    <p:bg>
      <p:bgPr>
        <a:solidFill>
          <a:schemeClr val="accen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/>
          <p:cNvPicPr preferRelativeResize="0"/>
          <p:nvPr/>
        </p:nvPicPr>
        <p:blipFill rotWithShape="1">
          <a:blip r:embed="rId2">
            <a:alphaModFix/>
          </a:blip>
          <a:srcRect t="4670" r="3105" b="9240"/>
          <a:stretch/>
        </p:blipFill>
        <p:spPr>
          <a:xfrm>
            <a:off x="6311900" y="-1"/>
            <a:ext cx="58801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620713" y="583317"/>
            <a:ext cx="5475287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6" name="Google Shape;126;p16"/>
          <p:cNvGrpSpPr/>
          <p:nvPr/>
        </p:nvGrpSpPr>
        <p:grpSpPr>
          <a:xfrm>
            <a:off x="658071" y="5503765"/>
            <a:ext cx="697010" cy="697010"/>
            <a:chOff x="658071" y="5503765"/>
            <a:chExt cx="697010" cy="697010"/>
          </a:xfrm>
        </p:grpSpPr>
        <p:grpSp>
          <p:nvGrpSpPr>
            <p:cNvPr id="127" name="Google Shape;127;p16"/>
            <p:cNvGrpSpPr/>
            <p:nvPr/>
          </p:nvGrpSpPr>
          <p:grpSpPr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128" name="Google Shape;128;p16"/>
              <p:cNvSpPr/>
              <p:nvPr/>
            </p:nvSpPr>
            <p:spPr>
              <a:xfrm>
                <a:off x="5619750" y="295275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5780486" y="3242471"/>
                <a:ext cx="635397" cy="396478"/>
              </a:xfrm>
              <a:custGeom>
                <a:avLst/>
                <a:gdLst/>
                <a:ahLst/>
                <a:cxnLst/>
                <a:rect l="l" t="t" r="r" b="b"/>
                <a:pathLst>
                  <a:path w="635397" h="396478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" name="Google Shape;130;p16"/>
            <p:cNvSpPr/>
            <p:nvPr/>
          </p:nvSpPr>
          <p:spPr>
            <a:xfrm>
              <a:off x="775543" y="5715464"/>
              <a:ext cx="463247" cy="290797"/>
            </a:xfrm>
            <a:custGeom>
              <a:avLst/>
              <a:gdLst/>
              <a:ahLst/>
              <a:cxnLst/>
              <a:rect l="l" t="t" r="r" b="b"/>
              <a:pathLst>
                <a:path w="861139" h="540569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85789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раздела">
  <p:cSld name="1_Титульный слайд раздела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603172" y="1119966"/>
            <a:ext cx="462137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5032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+ текст в две колонки">
  <p:cSld name="2_Заголовок + текст в две колонки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body" idx="1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2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69001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DE17-3A92-D752-AA17-DEA10CFD6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130549"/>
            <a:ext cx="10515600" cy="89614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3E889-D142-F166-C0D5-7A3B17D06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4A3DF-D2E3-94AE-2EDD-1F8DE200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7239-E3E1-0719-D2C2-85DE9909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B86F1-5EA2-6DD2-9F66-597C2B74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D80B-6A9F-1C4F-8AA0-392818DE5C84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690973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Акцент">
  <p:cSld name="Акцент"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1999417" y="2971952"/>
            <a:ext cx="8193166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7117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список">
  <p:cSld name="Заголовок + список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body" idx="1"/>
          </p:nvPr>
        </p:nvSpPr>
        <p:spPr>
          <a:xfrm>
            <a:off x="6096000" y="692151"/>
            <a:ext cx="5437188" cy="550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165527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14435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 + подпись">
  <p:cSld name="1 фото + подпись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>
            <a:spLocks noGrp="1"/>
          </p:cNvSpPr>
          <p:nvPr>
            <p:ph type="pic" idx="2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28" name="Google Shape;328;p41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body" idx="4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04816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метиться на портале">
  <p:cSld name="Отметиться на портале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>
            <a:spLocks noGrp="1"/>
          </p:cNvSpPr>
          <p:nvPr>
            <p:ph type="pic" idx="2"/>
          </p:nvPr>
        </p:nvSpPr>
        <p:spPr>
          <a:xfrm>
            <a:off x="0" y="0"/>
            <a:ext cx="359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360" name="Google Shape;36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994" y="1271765"/>
            <a:ext cx="6837006" cy="593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039" y="1659639"/>
            <a:ext cx="6000900" cy="344070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4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29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00" cy="41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20728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A6A6A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771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8" r:id="rId24"/>
    <p:sldLayoutId id="2147483689" r:id="rId25"/>
    <p:sldLayoutId id="2147483703" r:id="rId26"/>
    <p:sldLayoutId id="2147483704" r:id="rId27"/>
    <p:sldLayoutId id="2147483705" r:id="rId28"/>
    <p:sldLayoutId id="2147483707" r:id="rId29"/>
    <p:sldLayoutId id="2147483709" r:id="rId30"/>
    <p:sldLayoutId id="2147483710" r:id="rId31"/>
    <p:sldLayoutId id="2147483711" r:id="rId32"/>
    <p:sldLayoutId id="2147483712" r:id="rId33"/>
    <p:sldLayoutId id="2147483713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5110">
          <p15:clr>
            <a:srgbClr val="FDE53C"/>
          </p15:clr>
        </p15:guide>
        <p15:guide id="5" pos="2547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436">
          <p15:clr>
            <a:srgbClr val="FDE53C"/>
          </p15:clr>
        </p15:guide>
        <p15:guide id="8" orient="horz" pos="1117">
          <p15:clr>
            <a:srgbClr val="FDE53C"/>
          </p15:clr>
        </p15:guide>
        <p15:guide id="9" pos="2116">
          <p15:clr>
            <a:srgbClr val="FDE53C"/>
          </p15:clr>
        </p15:guide>
        <p15:guide id="10" pos="554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developer.android.com/guide/platform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>
            <a:spLocks noGrp="1"/>
          </p:cNvSpPr>
          <p:nvPr>
            <p:ph type="body" idx="1"/>
          </p:nvPr>
        </p:nvSpPr>
        <p:spPr>
          <a:xfrm>
            <a:off x="705112" y="4472024"/>
            <a:ext cx="10223500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dirty="0"/>
              <a:t>Павел Галанин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lang="ru-RU" sz="5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dirty="0"/>
              <a:t>2025</a:t>
            </a:r>
            <a:endParaRPr dirty="0"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39173" y="308484"/>
            <a:ext cx="1022032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lang="ru-RU" sz="6000" dirty="0"/>
              <a:t>Введение.</a:t>
            </a:r>
            <a:br>
              <a:rPr lang="ru-RU" sz="6000" dirty="0"/>
            </a:br>
            <a:r>
              <a:rPr lang="ru-RU" sz="6000" dirty="0"/>
              <a:t>Знакомство с </a:t>
            </a:r>
            <a:br>
              <a:rPr lang="en-US" sz="6000" dirty="0"/>
            </a:br>
            <a:r>
              <a:rPr lang="en-GB" sz="6000" dirty="0"/>
              <a:t>Android OS</a:t>
            </a:r>
            <a:r>
              <a:rPr lang="ru-RU" sz="6000" dirty="0"/>
              <a:t>.</a:t>
            </a:r>
            <a:br>
              <a:rPr lang="ru-RU" sz="6000" dirty="0"/>
            </a:br>
            <a:r>
              <a:rPr lang="en-GB" sz="6000" dirty="0"/>
              <a:t>GIT</a:t>
            </a:r>
            <a:endParaRPr lang="ru-RU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5"/>
          <p:cNvSpPr txBox="1">
            <a:spLocks noGrp="1"/>
          </p:cNvSpPr>
          <p:nvPr>
            <p:ph type="title"/>
          </p:nvPr>
        </p:nvSpPr>
        <p:spPr>
          <a:xfrm>
            <a:off x="7219200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Не забудьте отметиться!</a:t>
            </a:r>
            <a:endParaRPr/>
          </a:p>
        </p:txBody>
      </p:sp>
      <p:sp>
        <p:nvSpPr>
          <p:cNvPr id="594" name="Google Shape;594;p65"/>
          <p:cNvSpPr txBox="1">
            <a:spLocks noGrp="1"/>
          </p:cNvSpPr>
          <p:nvPr>
            <p:ph type="body" idx="1"/>
          </p:nvPr>
        </p:nvSpPr>
        <p:spPr>
          <a:xfrm>
            <a:off x="7225800" y="1905525"/>
            <a:ext cx="4649700" cy="42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7"/>
          <p:cNvPicPr preferRelativeResize="0"/>
          <p:nvPr/>
        </p:nvPicPr>
        <p:blipFill rotWithShape="1">
          <a:blip r:embed="rId3">
            <a:alphaModFix/>
          </a:blip>
          <a:srcRect l="20473" t="26084" r="9289" b="2608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7"/>
          <p:cNvSpPr txBox="1">
            <a:spLocks noGrp="1"/>
          </p:cNvSpPr>
          <p:nvPr>
            <p:ph type="title"/>
          </p:nvPr>
        </p:nvSpPr>
        <p:spPr>
          <a:xfrm>
            <a:off x="537858" y="2879938"/>
            <a:ext cx="10406554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</a:pPr>
            <a:r>
              <a:rPr lang="ru-RU" dirty="0">
                <a:solidFill>
                  <a:schemeClr val="bg1"/>
                </a:solidFill>
              </a:rPr>
              <a:t>Познакомимся</a:t>
            </a:r>
            <a:br>
              <a:rPr lang="ru-RU" dirty="0">
                <a:solidFill>
                  <a:schemeClr val="bg1"/>
                </a:solidFill>
              </a:rPr>
            </a:br>
            <a:endParaRPr lang="en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Преподаватели</a:t>
            </a:r>
            <a:endParaRPr/>
          </a:p>
        </p:txBody>
      </p:sp>
      <p:sp>
        <p:nvSpPr>
          <p:cNvPr id="614" name="Google Shape;614;p67"/>
          <p:cNvSpPr txBox="1"/>
          <p:nvPr/>
        </p:nvSpPr>
        <p:spPr>
          <a:xfrm>
            <a:off x="7181302" y="4157966"/>
            <a:ext cx="2030400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Павел</a:t>
            </a:r>
            <a:b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Галанин</a:t>
            </a:r>
            <a:endParaRPr sz="3600" dirty="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15" name="Google Shape;615;p67"/>
          <p:cNvSpPr txBox="1"/>
          <p:nvPr/>
        </p:nvSpPr>
        <p:spPr>
          <a:xfrm>
            <a:off x="7181302" y="2088408"/>
            <a:ext cx="3000000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Алексей</a:t>
            </a:r>
            <a:b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Киселёв</a:t>
            </a:r>
            <a:endParaRPr sz="3600" dirty="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616" name="Google Shape;616;p6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1191" t="12301" r="21191" b="30081"/>
          <a:stretch/>
        </p:blipFill>
        <p:spPr>
          <a:xfrm>
            <a:off x="5831080" y="4139132"/>
            <a:ext cx="1219500" cy="1219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7" name="Google Shape;617;p67"/>
          <p:cNvPicPr preferRelativeResize="0">
            <a:picLocks noGrp="1"/>
          </p:cNvPicPr>
          <p:nvPr>
            <p:ph type="pic" idx="4"/>
          </p:nvPr>
        </p:nvPicPr>
        <p:blipFill rotWithShape="1">
          <a:blip r:embed="rId4">
            <a:alphaModFix/>
          </a:blip>
          <a:srcRect l="3338" t="4257" r="9026" b="37334"/>
          <a:stretch/>
        </p:blipFill>
        <p:spPr>
          <a:xfrm>
            <a:off x="677334" y="2070851"/>
            <a:ext cx="1219500" cy="1219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627BA9-62B0-8D42-773E-B6AE8151C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4" y="4139132"/>
            <a:ext cx="1219500" cy="1219500"/>
          </a:xfrm>
          <a:prstGeom prst="ellipse">
            <a:avLst/>
          </a:prstGeom>
        </p:spPr>
      </p:pic>
      <p:sp>
        <p:nvSpPr>
          <p:cNvPr id="5" name="Google Shape;615;p67">
            <a:extLst>
              <a:ext uri="{FF2B5EF4-FFF2-40B4-BE49-F238E27FC236}">
                <a16:creationId xmlns:a16="http://schemas.microsoft.com/office/drawing/2014/main" id="{72F55D77-330E-70B7-E3CF-21FF577F2269}"/>
              </a:ext>
            </a:extLst>
          </p:cNvPr>
          <p:cNvSpPr txBox="1"/>
          <p:nvPr/>
        </p:nvSpPr>
        <p:spPr>
          <a:xfrm>
            <a:off x="2056418" y="4157966"/>
            <a:ext cx="3000000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Андрей Владиславов</a:t>
            </a:r>
            <a:endParaRPr sz="3600" dirty="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0D09F3-C8CA-4EAD-6519-FFEB6387D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1080" y="2069574"/>
            <a:ext cx="1219500" cy="1219500"/>
          </a:xfrm>
          <a:prstGeom prst="ellipse">
            <a:avLst/>
          </a:prstGeom>
        </p:spPr>
      </p:pic>
      <p:sp>
        <p:nvSpPr>
          <p:cNvPr id="8" name="Google Shape;615;p67">
            <a:extLst>
              <a:ext uri="{FF2B5EF4-FFF2-40B4-BE49-F238E27FC236}">
                <a16:creationId xmlns:a16="http://schemas.microsoft.com/office/drawing/2014/main" id="{E21B97D0-E072-7717-2766-6D1A47CB846A}"/>
              </a:ext>
            </a:extLst>
          </p:cNvPr>
          <p:cNvSpPr txBox="1"/>
          <p:nvPr/>
        </p:nvSpPr>
        <p:spPr>
          <a:xfrm>
            <a:off x="2056418" y="2088408"/>
            <a:ext cx="3000000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Алексей</a:t>
            </a:r>
            <a:b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3600" dirty="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Червяков</a:t>
            </a:r>
            <a:endParaRPr sz="3600" dirty="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8"/>
          <p:cNvSpPr txBox="1">
            <a:spLocks noGrp="1"/>
          </p:cNvSpPr>
          <p:nvPr>
            <p:ph type="title"/>
          </p:nvPr>
        </p:nvSpPr>
        <p:spPr>
          <a:xfrm>
            <a:off x="677864" y="692150"/>
            <a:ext cx="24030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/>
              <a:t>Менторы</a:t>
            </a:r>
            <a:endParaRPr/>
          </a:p>
        </p:txBody>
      </p:sp>
      <p:sp>
        <p:nvSpPr>
          <p:cNvPr id="623" name="Google Shape;623;p68"/>
          <p:cNvSpPr txBox="1"/>
          <p:nvPr/>
        </p:nvSpPr>
        <p:spPr>
          <a:xfrm>
            <a:off x="658800" y="1773250"/>
            <a:ext cx="33846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127000">
              <a:lnSpc>
                <a:spcPct val="110000"/>
              </a:lnSpc>
              <a:buClr>
                <a:schemeClr val="dk1"/>
              </a:buClr>
              <a:buSzPts val="1600"/>
            </a:pPr>
            <a:r>
              <a:rPr lang="ru-RU" sz="1600" dirty="0">
                <a:solidFill>
                  <a:schemeClr val="dk1"/>
                </a:solidFill>
              </a:rPr>
              <a:t>Кто наши менторы?</a:t>
            </a:r>
          </a:p>
          <a:p>
            <a:pPr marL="457200" indent="-330200">
              <a:lnSpc>
                <a:spcPct val="110000"/>
              </a:lnSpc>
              <a:buClr>
                <a:schemeClr val="dk1"/>
              </a:buClr>
              <a:buSzPts val="1600"/>
              <a:buFont typeface="Arial"/>
              <a:buChar char="●"/>
            </a:pPr>
            <a:r>
              <a:rPr lang="ru-RU" sz="1600" dirty="0">
                <a:solidFill>
                  <a:schemeClr val="dk1"/>
                </a:solidFill>
              </a:rPr>
              <a:t>Сотрудники </a:t>
            </a:r>
            <a:r>
              <a:rPr lang="en-US" sz="1600" dirty="0">
                <a:solidFill>
                  <a:schemeClr val="dk1"/>
                </a:solidFill>
              </a:rPr>
              <a:t>VK</a:t>
            </a:r>
          </a:p>
          <a:p>
            <a:pPr marL="457200" marR="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dirty="0">
                <a:solidFill>
                  <a:schemeClr val="dk1"/>
                </a:solidFill>
              </a:rPr>
              <a:t>Выпускники курсов</a:t>
            </a:r>
          </a:p>
          <a:p>
            <a:pPr marL="127000"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Люди с опытом, которые хотят помочь вам приобрести новые знания и реализовать проект любой сложности.</a:t>
            </a: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Одно условие - они вам помогают решать проблемы, но не пишут за вас код:)</a:t>
            </a: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624" name="Google Shape;62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038" y="932390"/>
            <a:ext cx="7489826" cy="4993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7"/>
          <p:cNvPicPr preferRelativeResize="0"/>
          <p:nvPr/>
        </p:nvPicPr>
        <p:blipFill rotWithShape="1">
          <a:blip r:embed="rId3">
            <a:alphaModFix/>
          </a:blip>
          <a:srcRect l="20473" t="26084" r="9289" b="2608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7"/>
          <p:cNvSpPr txBox="1">
            <a:spLocks noGrp="1"/>
          </p:cNvSpPr>
          <p:nvPr>
            <p:ph type="title"/>
          </p:nvPr>
        </p:nvSpPr>
        <p:spPr>
          <a:xfrm>
            <a:off x="537858" y="2116009"/>
            <a:ext cx="10406554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</a:pPr>
            <a:br>
              <a:rPr lang="ru-RU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Hello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Android!</a:t>
            </a:r>
            <a:endParaRPr lang="en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894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7"/>
          <p:cNvSpPr txBox="1">
            <a:spLocks noGrp="1"/>
          </p:cNvSpPr>
          <p:nvPr>
            <p:ph type="title"/>
          </p:nvPr>
        </p:nvSpPr>
        <p:spPr>
          <a:xfrm>
            <a:off x="499850" y="433070"/>
            <a:ext cx="820219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Какая ОС самая популярная в мире?</a:t>
            </a:r>
            <a:endParaRPr dirty="0"/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EF55FA73-A426-B749-6C38-38793D082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86" y="1229664"/>
            <a:ext cx="9236028" cy="519526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7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Кто это?</a:t>
            </a:r>
            <a:endParaRPr/>
          </a:p>
        </p:txBody>
      </p:sp>
      <p:pic>
        <p:nvPicPr>
          <p:cNvPr id="692" name="Google Shape;692;p7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66" r="16666"/>
          <a:stretch/>
        </p:blipFill>
        <p:spPr>
          <a:xfrm>
            <a:off x="0" y="0"/>
            <a:ext cx="6096000" cy="6857999"/>
          </a:xfrm>
          <a:prstGeom prst="rect">
            <a:avLst/>
          </a:prstGeom>
        </p:spPr>
      </p:pic>
      <p:sp>
        <p:nvSpPr>
          <p:cNvPr id="693" name="Google Shape;693;p77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712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7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66" r="16666"/>
          <a:stretch/>
        </p:blipFill>
        <p:spPr>
          <a:xfrm>
            <a:off x="0" y="0"/>
            <a:ext cx="6096000" cy="6857999"/>
          </a:xfrm>
          <a:prstGeom prst="rect">
            <a:avLst/>
          </a:prstGeom>
        </p:spPr>
      </p:pic>
      <p:sp>
        <p:nvSpPr>
          <p:cNvPr id="700" name="Google Shape;700;p78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Andy Rubin</a:t>
            </a:r>
            <a:endParaRPr/>
          </a:p>
        </p:txBody>
      </p:sp>
      <p:sp>
        <p:nvSpPr>
          <p:cNvPr id="701" name="Google Shape;701;p78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Основание стартапа - 2003 год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Покупка Google - 2005 год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 err="1"/>
              <a:t>Android</a:t>
            </a:r>
            <a:r>
              <a:rPr lang="ru-RU" dirty="0"/>
              <a:t> 1.0 - 2008 год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 err="1"/>
              <a:t>Android</a:t>
            </a:r>
            <a:r>
              <a:rPr lang="ru-RU" dirty="0"/>
              <a:t> 1.6 - 2009 год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Отошел от </a:t>
            </a:r>
            <a:r>
              <a:rPr lang="ru-RU" dirty="0" err="1"/>
              <a:t>Android</a:t>
            </a:r>
            <a:r>
              <a:rPr lang="ru-RU" dirty="0"/>
              <a:t> в 2013 году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Делал </a:t>
            </a:r>
            <a:r>
              <a:rPr lang="ru-RU" dirty="0" err="1"/>
              <a:t>Essential</a:t>
            </a:r>
            <a:r>
              <a:rPr lang="ru-RU" dirty="0"/>
              <a:t> Phone до 2020 года:(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373B-F485-1EA9-0A8F-9B08A51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344905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Android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2D7D-D0CF-4751-994B-A8CDD4EE7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427747"/>
            <a:ext cx="8402782" cy="5085348"/>
          </a:xfrm>
        </p:spPr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2003:</a:t>
            </a:r>
            <a:r>
              <a:rPr lang="ru-RU" sz="1800" dirty="0"/>
              <a:t> Основание </a:t>
            </a:r>
            <a:r>
              <a:rPr lang="en-GB" sz="1800" dirty="0"/>
              <a:t>Android Inc. — </a:t>
            </a:r>
            <a:r>
              <a:rPr lang="ru-RU" sz="1800" dirty="0"/>
              <a:t>изначально ориентирована на создание ОС для цифровых камер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2004:</a:t>
            </a:r>
            <a:r>
              <a:rPr lang="ru-RU" sz="1800" dirty="0"/>
              <a:t> Смена ориентации на мобильные устройства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2005:</a:t>
            </a:r>
            <a:r>
              <a:rPr lang="ru-RU" sz="1800" dirty="0"/>
              <a:t> </a:t>
            </a:r>
            <a:r>
              <a:rPr lang="en-GB" sz="1800" dirty="0"/>
              <a:t>Google </a:t>
            </a:r>
            <a:r>
              <a:rPr lang="ru-RU" sz="1800" dirty="0"/>
              <a:t>приобрела </a:t>
            </a:r>
            <a:r>
              <a:rPr lang="en-GB" sz="1800" dirty="0"/>
              <a:t>Android Inc. </a:t>
            </a:r>
            <a:r>
              <a:rPr lang="ru-RU" sz="1800" dirty="0"/>
              <a:t>за $50 миллионов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2007:</a:t>
            </a:r>
            <a:r>
              <a:rPr lang="ru-RU" sz="1800" dirty="0"/>
              <a:t> Создание </a:t>
            </a:r>
            <a:r>
              <a:rPr lang="en-GB" sz="1800" dirty="0"/>
              <a:t>Open Handset Alliance (Google, HTC, Motorola, Samsung, T-Mobile)</a:t>
            </a:r>
            <a:r>
              <a:rPr lang="ru-RU" sz="1800" dirty="0"/>
              <a:t>: </a:t>
            </a:r>
            <a:r>
              <a:rPr lang="en-GB" sz="1800" dirty="0"/>
              <a:t>Android </a:t>
            </a:r>
            <a:r>
              <a:rPr lang="ru-RU" sz="1800" dirty="0"/>
              <a:t> открытая платформа</a:t>
            </a:r>
          </a:p>
        </p:txBody>
      </p:sp>
      <p:pic>
        <p:nvPicPr>
          <p:cNvPr id="58370" name="Picture 2" descr="Android Logo and symbol, meaning, history, PNG, brand">
            <a:extLst>
              <a:ext uri="{FF2B5EF4-FFF2-40B4-BE49-F238E27FC236}">
                <a16:creationId xmlns:a16="http://schemas.microsoft.com/office/drawing/2014/main" id="{39396CD0-9D9C-1CD8-8848-6649AC224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486" y="2312641"/>
            <a:ext cx="3828514" cy="240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14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373B-F485-1EA9-0A8F-9B08A51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7" y="391469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HTC Dream/</a:t>
            </a:r>
            <a:r>
              <a:rPr lang="en-GB" dirty="0">
                <a:solidFill>
                  <a:schemeClr val="bg2"/>
                </a:solidFill>
              </a:rPr>
              <a:t>T-Mobile G1</a:t>
            </a:r>
            <a:endParaRPr lang="en-R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2D7D-D0CF-4751-994B-A8CDD4EE7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7" y="1363579"/>
            <a:ext cx="5909881" cy="5181433"/>
          </a:xfrm>
        </p:spPr>
        <p:txBody>
          <a:bodyPr anchor="ctr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2008:</a:t>
            </a:r>
            <a:r>
              <a:rPr lang="en-GB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HTC Dream/T-Mobile G1 — </a:t>
            </a: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первое устройство на базе </a:t>
            </a:r>
            <a:r>
              <a:rPr lang="en-GB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OS</a:t>
            </a:r>
          </a:p>
          <a:p>
            <a:pPr marL="228600" indent="0" algn="l"/>
            <a:endParaRPr lang="en-GB" sz="1800" b="1" i="0" dirty="0">
              <a:solidFill>
                <a:srgbClr val="1E293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 algn="l"/>
            <a:r>
              <a:rPr lang="en-GB" sz="18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1.0:</a:t>
            </a:r>
            <a:endParaRPr lang="en-GB" sz="1800" b="0" i="0" dirty="0">
              <a:solidFill>
                <a:srgbClr val="1E293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Ядро на базе </a:t>
            </a:r>
            <a:r>
              <a:rPr lang="en-GB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Приложения </a:t>
            </a:r>
            <a:r>
              <a:rPr lang="en-GB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Gmail, </a:t>
            </a: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Карты, </a:t>
            </a:r>
            <a:r>
              <a:rPr lang="en-GB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Настраиваемый интерфейс, гибкость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SDK </a:t>
            </a: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GB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1.0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mall white device with a keyboard&#10;&#10;Description automatically generated">
            <a:extLst>
              <a:ext uri="{FF2B5EF4-FFF2-40B4-BE49-F238E27FC236}">
                <a16:creationId xmlns:a16="http://schemas.microsoft.com/office/drawing/2014/main" id="{3B74F1ED-2035-1D49-6150-7A90AD476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248" y="1614791"/>
            <a:ext cx="5183825" cy="41289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6465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373B-F485-1EA9-0A8F-9B08A51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503291"/>
            <a:ext cx="10515600" cy="896145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Android versions and desserts</a:t>
            </a:r>
            <a:endParaRPr lang="en-R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2D7D-D0CF-4751-994B-A8CDD4EE7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112" y="1650627"/>
            <a:ext cx="10675776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0" i="0" dirty="0">
                <a:solidFill>
                  <a:srgbClr val="202122"/>
                </a:solidFill>
                <a:effectLst/>
              </a:rPr>
              <a:t>"Since these devices make our lives so sweet, each Android version is named after a dessert"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7D6BBD-DB0A-6594-6F63-CB84D4590B79}"/>
              </a:ext>
            </a:extLst>
          </p:cNvPr>
          <p:cNvGrpSpPr/>
          <p:nvPr/>
        </p:nvGrpSpPr>
        <p:grpSpPr>
          <a:xfrm>
            <a:off x="758112" y="2719863"/>
            <a:ext cx="8483597" cy="2959410"/>
            <a:chOff x="1062789" y="2580987"/>
            <a:chExt cx="10043038" cy="362730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1150E29-253E-EB18-A6EB-4A1C20E15527}"/>
                </a:ext>
              </a:extLst>
            </p:cNvPr>
            <p:cNvGrpSpPr/>
            <p:nvPr/>
          </p:nvGrpSpPr>
          <p:grpSpPr>
            <a:xfrm>
              <a:off x="1062789" y="2580987"/>
              <a:ext cx="10043038" cy="3627308"/>
              <a:chOff x="1062789" y="2580987"/>
              <a:chExt cx="10043038" cy="3627308"/>
            </a:xfrm>
          </p:grpSpPr>
          <p:pic>
            <p:nvPicPr>
              <p:cNvPr id="21508" name="Picture 4" descr="Android OS History and Versions - Coding Ninjas">
                <a:extLst>
                  <a:ext uri="{FF2B5EF4-FFF2-40B4-BE49-F238E27FC236}">
                    <a16:creationId xmlns:a16="http://schemas.microsoft.com/office/drawing/2014/main" id="{6481EF74-7597-210C-404F-D2869AD62F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2789" y="2580987"/>
                <a:ext cx="9927914" cy="36273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5F0E265-0C2A-BC73-9F65-34F69A9ECCC7}"/>
                  </a:ext>
                </a:extLst>
              </p:cNvPr>
              <p:cNvSpPr/>
              <p:nvPr/>
            </p:nvSpPr>
            <p:spPr>
              <a:xfrm>
                <a:off x="9657347" y="5678905"/>
                <a:ext cx="1448480" cy="304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RU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72997F-8B3D-D5BC-4798-4713C7178F37}"/>
                </a:ext>
              </a:extLst>
            </p:cNvPr>
            <p:cNvSpPr/>
            <p:nvPr/>
          </p:nvSpPr>
          <p:spPr>
            <a:xfrm>
              <a:off x="1062789" y="5526505"/>
              <a:ext cx="144848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</p:grp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E56ED43-89FA-C0BF-643E-989B0B21111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62"/>
          <a:stretch/>
        </p:blipFill>
        <p:spPr>
          <a:xfrm>
            <a:off x="9388054" y="2650168"/>
            <a:ext cx="1887502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3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373B-F485-1EA9-0A8F-9B08A51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8" y="410144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Early development and growth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EDF7E6-E86C-9E4C-3E9C-8AFF2BEC8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794" y="1553374"/>
            <a:ext cx="6588967" cy="2649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2009: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Samsung Galaxy i7500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Motorola Droid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LG GW620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8" name="Picture 7" descr="A close-up of a cell phone&#10;&#10;Description automatically generated">
            <a:extLst>
              <a:ext uri="{FF2B5EF4-FFF2-40B4-BE49-F238E27FC236}">
                <a16:creationId xmlns:a16="http://schemas.microsoft.com/office/drawing/2014/main" id="{65EFBE2C-BB21-A891-475F-41031062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777" y="1426798"/>
            <a:ext cx="1343371" cy="2429750"/>
          </a:xfrm>
          <a:prstGeom prst="rect">
            <a:avLst/>
          </a:prstGeom>
        </p:spPr>
      </p:pic>
      <p:pic>
        <p:nvPicPr>
          <p:cNvPr id="23554" name="Picture 2" descr="undefined">
            <a:extLst>
              <a:ext uri="{FF2B5EF4-FFF2-40B4-BE49-F238E27FC236}">
                <a16:creationId xmlns:a16="http://schemas.microsoft.com/office/drawing/2014/main" id="{14E9F70D-95C6-FE22-9B10-519140F93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687" y="1486088"/>
            <a:ext cx="3081559" cy="231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close-up of a cell phone&#10;&#10;Description automatically generated">
            <a:extLst>
              <a:ext uri="{FF2B5EF4-FFF2-40B4-BE49-F238E27FC236}">
                <a16:creationId xmlns:a16="http://schemas.microsoft.com/office/drawing/2014/main" id="{13B21E0E-7A74-5ED8-DE93-C219B84E5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246" y="1727105"/>
            <a:ext cx="2587997" cy="2102224"/>
          </a:xfrm>
          <a:prstGeom prst="rect">
            <a:avLst/>
          </a:prstGeom>
        </p:spPr>
      </p:pic>
      <p:pic>
        <p:nvPicPr>
          <p:cNvPr id="12" name="Picture 11" descr="A close-up of a tablet&#10;&#10;Description automatically generated">
            <a:extLst>
              <a:ext uri="{FF2B5EF4-FFF2-40B4-BE49-F238E27FC236}">
                <a16:creationId xmlns:a16="http://schemas.microsoft.com/office/drawing/2014/main" id="{AB3F5164-3CA1-1E4B-96D5-38A1EBCE2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381" y="3890884"/>
            <a:ext cx="1587841" cy="246546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EED360-C09F-EA15-30C6-E5D0B9D77B0A}"/>
              </a:ext>
            </a:extLst>
          </p:cNvPr>
          <p:cNvSpPr txBox="1">
            <a:spLocks/>
          </p:cNvSpPr>
          <p:nvPr/>
        </p:nvSpPr>
        <p:spPr>
          <a:xfrm>
            <a:off x="4618106" y="4999318"/>
            <a:ext cx="6588967" cy="1858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2010:</a:t>
            </a:r>
          </a:p>
          <a:p>
            <a:pPr marL="0" indent="0">
              <a:buNone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Samsung Galaxy Tab 7.0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(Android 2.2 Froyo)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18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373B-F485-1EA9-0A8F-9B08A51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53" y="358244"/>
            <a:ext cx="10515600" cy="89614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2014: Android 5.0 Lollipop</a:t>
            </a:r>
            <a:endParaRPr lang="en-RU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7CCDD-97D5-2F95-B7CC-F9B668048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455" y="5850820"/>
            <a:ext cx="306199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RU" dirty="0"/>
              <a:t>Material Design</a:t>
            </a:r>
          </a:p>
        </p:txBody>
      </p:sp>
      <p:pic>
        <p:nvPicPr>
          <p:cNvPr id="25602" name="Picture 2" descr="Google shows off new &quot;Material Design&quot; in Android L [VIDEO] - Phandroid">
            <a:extLst>
              <a:ext uri="{FF2B5EF4-FFF2-40B4-BE49-F238E27FC236}">
                <a16:creationId xmlns:a16="http://schemas.microsoft.com/office/drawing/2014/main" id="{A95FE3DF-E70E-8D3C-AC87-C942C9DC7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99" y="1609013"/>
            <a:ext cx="7116437" cy="421310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242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373B-F485-1EA9-0A8F-9B08A51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28" y="451209"/>
            <a:ext cx="10515600" cy="89614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Android 6.0 Marshmallow</a:t>
            </a:r>
            <a:endParaRPr lang="en-RU" dirty="0">
              <a:solidFill>
                <a:schemeClr val="bg2"/>
              </a:solidFill>
            </a:endParaRPr>
          </a:p>
        </p:txBody>
      </p:sp>
      <p:pic>
        <p:nvPicPr>
          <p:cNvPr id="27650" name="Picture 2" descr="Android Developers Blog: Building better apps with Runtime Permissions">
            <a:extLst>
              <a:ext uri="{FF2B5EF4-FFF2-40B4-BE49-F238E27FC236}">
                <a16:creationId xmlns:a16="http://schemas.microsoft.com/office/drawing/2014/main" id="{8241D589-4A73-B122-4D0E-7F5491B52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008" y="2037346"/>
            <a:ext cx="2382003" cy="423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Android Marshmallow and the new runtime permissions – looking for best  practices | What it all boils down to">
            <a:extLst>
              <a:ext uri="{FF2B5EF4-FFF2-40B4-BE49-F238E27FC236}">
                <a16:creationId xmlns:a16="http://schemas.microsoft.com/office/drawing/2014/main" id="{B7F01A1E-ECF1-9294-425C-2D4FD7040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191" y="2169297"/>
            <a:ext cx="2316546" cy="411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A6A46620-FD9F-0029-3220-E97FB9694FFA}"/>
              </a:ext>
            </a:extLst>
          </p:cNvPr>
          <p:cNvSpPr/>
          <p:nvPr/>
        </p:nvSpPr>
        <p:spPr>
          <a:xfrm>
            <a:off x="5330892" y="3806890"/>
            <a:ext cx="1772816" cy="45719"/>
          </a:xfrm>
          <a:prstGeom prst="rightArrow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EC740C-63D2-36D2-46D4-1E6F29E90420}"/>
              </a:ext>
            </a:extLst>
          </p:cNvPr>
          <p:cNvSpPr txBox="1"/>
          <p:nvPr/>
        </p:nvSpPr>
        <p:spPr>
          <a:xfrm>
            <a:off x="5066959" y="13473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dirty="0"/>
              <a:t>Runtime permissions</a:t>
            </a:r>
          </a:p>
        </p:txBody>
      </p:sp>
    </p:spTree>
    <p:extLst>
      <p:ext uri="{BB962C8B-B14F-4D97-AF65-F5344CB8AC3E}">
        <p14:creationId xmlns:p14="http://schemas.microsoft.com/office/powerpoint/2010/main" val="2639935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373B-F485-1EA9-0A8F-9B08A511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000" y="404797"/>
            <a:ext cx="10515600" cy="896145"/>
          </a:xfrm>
        </p:spPr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Wear OS (ex. Android Wear)</a:t>
            </a:r>
            <a:endParaRPr lang="en-GB" b="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C16E36-0554-B209-33A1-9031C056F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000" y="1825625"/>
            <a:ext cx="5319333" cy="4351338"/>
          </a:xfrm>
        </p:spPr>
        <p:txBody>
          <a:bodyPr anchor="ctr">
            <a:normAutofit/>
          </a:bodyPr>
          <a:lstStyle/>
          <a:p>
            <a:pPr marL="5143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RU" sz="1800" dirty="0"/>
              <a:t>2014: LG G Watch - </a:t>
            </a:r>
            <a:r>
              <a:rPr lang="ru-RU" sz="1800" dirty="0"/>
              <a:t>первые часы</a:t>
            </a:r>
            <a:r>
              <a:rPr lang="en-US" sz="1800" dirty="0"/>
              <a:t> </a:t>
            </a:r>
            <a:r>
              <a:rPr lang="ru-RU" sz="1800" dirty="0"/>
              <a:t>на</a:t>
            </a:r>
            <a:r>
              <a:rPr lang="en-RU" sz="1800" dirty="0"/>
              <a:t> Android Wear</a:t>
            </a:r>
          </a:p>
          <a:p>
            <a:pPr marL="5143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RU" sz="1800" dirty="0"/>
              <a:t>2018: </a:t>
            </a:r>
            <a:r>
              <a:rPr lang="en-GB" sz="1800" dirty="0">
                <a:solidFill>
                  <a:srgbClr val="000000"/>
                </a:solidFill>
              </a:rPr>
              <a:t>Android Wear </a:t>
            </a:r>
            <a:r>
              <a:rPr lang="ru-RU" sz="1800" dirty="0">
                <a:solidFill>
                  <a:srgbClr val="000000"/>
                </a:solidFill>
              </a:rPr>
              <a:t>переименовано в </a:t>
            </a:r>
            <a:r>
              <a:rPr lang="en-GB" sz="1800" dirty="0">
                <a:solidFill>
                  <a:srgbClr val="000000"/>
                </a:solidFill>
              </a:rPr>
              <a:t>Wear OS</a:t>
            </a:r>
          </a:p>
          <a:p>
            <a:pPr marL="5143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</a:rPr>
              <a:t>2025: Wear OS 5.1</a:t>
            </a:r>
            <a:r>
              <a:rPr lang="ru-RU" sz="1800" dirty="0">
                <a:solidFill>
                  <a:srgbClr val="000000"/>
                </a:solidFill>
              </a:rPr>
              <a:t> </a:t>
            </a:r>
            <a:r>
              <a:rPr lang="en-GB" sz="1800" dirty="0">
                <a:solidFill>
                  <a:srgbClr val="000000"/>
                </a:solidFill>
              </a:rPr>
              <a:t>(6.0 </a:t>
            </a:r>
            <a:r>
              <a:rPr lang="ru-RU" sz="1800" dirty="0">
                <a:solidFill>
                  <a:srgbClr val="000000"/>
                </a:solidFill>
              </a:rPr>
              <a:t>в</a:t>
            </a:r>
            <a:r>
              <a:rPr lang="en-GB" sz="1800" dirty="0">
                <a:solidFill>
                  <a:srgbClr val="000000"/>
                </a:solidFill>
              </a:rPr>
              <a:t> preview)</a:t>
            </a:r>
            <a:endParaRPr lang="en-RU" sz="1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B64537-8277-F574-B221-652D7FA1E1B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588967" cy="4201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2395737B-2452-31ED-3F0F-56F39F012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6855" y="219675"/>
            <a:ext cx="944594" cy="71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Order the Google Pixel Watch 2 Smartwatch | Verizon">
            <a:extLst>
              <a:ext uri="{FF2B5EF4-FFF2-40B4-BE49-F238E27FC236}">
                <a16:creationId xmlns:a16="http://schemas.microsoft.com/office/drawing/2014/main" id="{34F1EAC6-D77D-A2C9-E882-4F6B941AA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9950" y="2296139"/>
            <a:ext cx="2141499" cy="326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close-up of a smart watch&#10;&#10;Description automatically generated">
            <a:extLst>
              <a:ext uri="{FF2B5EF4-FFF2-40B4-BE49-F238E27FC236}">
                <a16:creationId xmlns:a16="http://schemas.microsoft.com/office/drawing/2014/main" id="{CBE93910-F8DF-A6F5-067E-F9069FBEFE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834" r="15955"/>
          <a:stretch/>
        </p:blipFill>
        <p:spPr>
          <a:xfrm>
            <a:off x="6528200" y="2474651"/>
            <a:ext cx="2465884" cy="290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72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B222-D083-2942-BDCE-4A7C9036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85" y="390117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Next Android 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2B217-625A-7C8D-5B00-57415D201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85" y="1668472"/>
            <a:ext cx="6946961" cy="4351338"/>
          </a:xfrm>
        </p:spPr>
        <p:txBody>
          <a:bodyPr anchor="ctr">
            <a:normAutofit/>
          </a:bodyPr>
          <a:lstStyle/>
          <a:p>
            <a:pPr>
              <a:spcBef>
                <a:spcPts val="1600"/>
              </a:spcBef>
            </a:pPr>
            <a:r>
              <a:rPr lang="en-GB" sz="1800" dirty="0"/>
              <a:t>2016: Android 7.0 Nougat - split-screen multitasking</a:t>
            </a:r>
          </a:p>
          <a:p>
            <a:pPr>
              <a:spcBef>
                <a:spcPts val="1600"/>
              </a:spcBef>
            </a:pPr>
            <a:r>
              <a:rPr lang="en-GB" sz="1800" dirty="0"/>
              <a:t>2017: Android 8.0 Oreo - picture-in-picture mode</a:t>
            </a:r>
          </a:p>
          <a:p>
            <a:pPr>
              <a:spcBef>
                <a:spcPts val="1600"/>
              </a:spcBef>
            </a:pPr>
            <a:r>
              <a:rPr lang="en-GB" sz="1800" dirty="0"/>
              <a:t>2021: Android 12 - Material You</a:t>
            </a:r>
          </a:p>
          <a:p>
            <a:pPr>
              <a:spcBef>
                <a:spcPts val="1600"/>
              </a:spcBef>
            </a:pPr>
            <a:r>
              <a:rPr lang="en-GB" sz="1800" dirty="0"/>
              <a:t>202</a:t>
            </a:r>
            <a:r>
              <a:rPr lang="ru-RU" sz="1800" dirty="0"/>
              <a:t>5</a:t>
            </a:r>
            <a:r>
              <a:rPr lang="en-GB" sz="1800" dirty="0"/>
              <a:t>: Android 1</a:t>
            </a:r>
            <a:r>
              <a:rPr lang="en-US" sz="1800" dirty="0"/>
              <a:t>6</a:t>
            </a:r>
            <a:endParaRPr lang="en-RU" sz="1800" dirty="0"/>
          </a:p>
        </p:txBody>
      </p:sp>
      <p:pic>
        <p:nvPicPr>
          <p:cNvPr id="32772" name="Picture 4" descr="HTC Dream - Full phone specifications">
            <a:extLst>
              <a:ext uri="{FF2B5EF4-FFF2-40B4-BE49-F238E27FC236}">
                <a16:creationId xmlns:a16="http://schemas.microsoft.com/office/drawing/2014/main" id="{A8FCB26D-E44D-32CC-7D18-842382587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5" r="16256"/>
          <a:stretch/>
        </p:blipFill>
        <p:spPr bwMode="auto">
          <a:xfrm>
            <a:off x="7637631" y="1825625"/>
            <a:ext cx="2033648" cy="399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creen shot of a cell phone&#10;&#10;Description automatically generated">
            <a:extLst>
              <a:ext uri="{FF2B5EF4-FFF2-40B4-BE49-F238E27FC236}">
                <a16:creationId xmlns:a16="http://schemas.microsoft.com/office/drawing/2014/main" id="{DC64653F-C5DE-D4F8-AB96-F800A4813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278" y="1825625"/>
            <a:ext cx="1914127" cy="399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31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B222-D083-2942-BDCE-4A7C9036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400088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Android 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2B217-625A-7C8D-5B00-57415D201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7" y="1788424"/>
            <a:ext cx="53851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RU" sz="1800" dirty="0"/>
              <a:t>Android Open Source Project (</a:t>
            </a:r>
            <a:r>
              <a:rPr lang="en-RU" sz="1800" dirty="0">
                <a:solidFill>
                  <a:schemeClr val="bg2"/>
                </a:solidFill>
              </a:rPr>
              <a:t>AOSP</a:t>
            </a:r>
            <a:r>
              <a:rPr lang="en-RU" sz="1800" dirty="0"/>
              <a:t>): </a:t>
            </a:r>
            <a:br>
              <a:rPr lang="ru-RU" sz="1800" dirty="0"/>
            </a:br>
            <a:r>
              <a:rPr lang="en-RU" sz="1800" dirty="0"/>
              <a:t>kernel + base software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M</a:t>
            </a:r>
            <a:r>
              <a:rPr lang="en-GB" sz="1800" b="0" i="0" dirty="0">
                <a:effectLst/>
              </a:rPr>
              <a:t>anufacturers’ versions:</a:t>
            </a:r>
          </a:p>
          <a:p>
            <a:pPr marL="0" indent="0">
              <a:buNone/>
            </a:pPr>
            <a:r>
              <a:rPr lang="en-GB" sz="1800" dirty="0" err="1"/>
              <a:t>PixelOS</a:t>
            </a:r>
            <a:r>
              <a:rPr lang="en-GB" sz="1800" dirty="0"/>
              <a:t> (Google)</a:t>
            </a:r>
          </a:p>
          <a:p>
            <a:pPr marL="0" indent="0">
              <a:buNone/>
            </a:pPr>
            <a:r>
              <a:rPr lang="en-GB" sz="1800" dirty="0"/>
              <a:t>One UI (Samsung)</a:t>
            </a:r>
          </a:p>
          <a:p>
            <a:pPr marL="0" indent="0">
              <a:buNone/>
            </a:pPr>
            <a:r>
              <a:rPr lang="en-GB" sz="1800" dirty="0"/>
              <a:t>MIUI → </a:t>
            </a:r>
            <a:r>
              <a:rPr lang="en-GB" sz="1800" b="0" i="0" dirty="0">
                <a:effectLst/>
              </a:rPr>
              <a:t>Hyper OS </a:t>
            </a:r>
            <a:r>
              <a:rPr lang="en-GB" sz="1800" dirty="0"/>
              <a:t>(Xiaomi)</a:t>
            </a:r>
          </a:p>
          <a:p>
            <a:pPr marL="0" indent="0">
              <a:buNone/>
            </a:pPr>
            <a:r>
              <a:rPr lang="en-GB" sz="1800" dirty="0" err="1"/>
              <a:t>HarmonyOS</a:t>
            </a:r>
            <a:r>
              <a:rPr lang="en-GB" sz="1800" dirty="0"/>
              <a:t> (Huawei)</a:t>
            </a:r>
          </a:p>
          <a:p>
            <a:pPr marL="0" indent="0">
              <a:buNone/>
            </a:pPr>
            <a:r>
              <a:rPr lang="en-GB" sz="1800" dirty="0" err="1"/>
              <a:t>OxygenOS</a:t>
            </a:r>
            <a:r>
              <a:rPr lang="en-GB" sz="1800" dirty="0"/>
              <a:t> (One Plus)</a:t>
            </a:r>
          </a:p>
          <a:p>
            <a:pPr marL="0" indent="0">
              <a:buNone/>
            </a:pPr>
            <a:r>
              <a:rPr lang="en-GB" sz="1800" dirty="0"/>
              <a:t>…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RU" sz="1800" dirty="0"/>
          </a:p>
          <a:p>
            <a:endParaRPr lang="en-RU" sz="1800" dirty="0"/>
          </a:p>
        </p:txBody>
      </p:sp>
      <p:pic>
        <p:nvPicPr>
          <p:cNvPr id="36868" name="Picture 4" descr="OxygenOS vs OneUI vs Pixel OS vs MIUI - WHICH GIVE FAST UPDATES? - YouTube">
            <a:extLst>
              <a:ext uri="{FF2B5EF4-FFF2-40B4-BE49-F238E27FC236}">
                <a16:creationId xmlns:a16="http://schemas.microsoft.com/office/drawing/2014/main" id="{530D6534-5118-969C-6847-29231AB03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027" y="2550156"/>
            <a:ext cx="5797423" cy="3261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green cartoon character holding a white and blue square&#10;&#10;Description automatically generated">
            <a:extLst>
              <a:ext uri="{FF2B5EF4-FFF2-40B4-BE49-F238E27FC236}">
                <a16:creationId xmlns:a16="http://schemas.microsoft.com/office/drawing/2014/main" id="{1CE82756-2352-5A86-924F-C49632C25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44" y="1314310"/>
            <a:ext cx="846112" cy="94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00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B222-D083-2942-BDCE-4A7C9036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400088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Android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OS</a:t>
            </a:r>
            <a:endParaRPr lang="en-R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2B217-625A-7C8D-5B00-57415D201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691" y="5094573"/>
            <a:ext cx="3685309" cy="876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Android</a:t>
            </a:r>
            <a:r>
              <a:rPr lang="en-GB" sz="2000" dirty="0">
                <a:solidFill>
                  <a:schemeClr val="tx1"/>
                </a:solidFill>
              </a:rPr>
              <a:t> TV</a:t>
            </a:r>
          </a:p>
        </p:txBody>
      </p:sp>
      <p:pic>
        <p:nvPicPr>
          <p:cNvPr id="7170" name="Picture 2" descr="Android TV">
            <a:extLst>
              <a:ext uri="{FF2B5EF4-FFF2-40B4-BE49-F238E27FC236}">
                <a16:creationId xmlns:a16="http://schemas.microsoft.com/office/drawing/2014/main" id="{7FD06BA9-1699-7EB2-5A91-C491652F9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95" y="2070922"/>
            <a:ext cx="5496079" cy="298276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182391-4273-F873-8DC7-04C6592B0756}"/>
              </a:ext>
            </a:extLst>
          </p:cNvPr>
          <p:cNvSpPr txBox="1">
            <a:spLocks/>
          </p:cNvSpPr>
          <p:nvPr/>
        </p:nvSpPr>
        <p:spPr>
          <a:xfrm>
            <a:off x="6594762" y="5051314"/>
            <a:ext cx="5018417" cy="87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/>
            <a:r>
              <a:rPr lang="en-US" sz="2000" dirty="0">
                <a:solidFill>
                  <a:schemeClr val="tx1"/>
                </a:solidFill>
              </a:rPr>
              <a:t>Android</a:t>
            </a:r>
            <a:r>
              <a:rPr lang="en-GB" sz="2000" dirty="0">
                <a:solidFill>
                  <a:schemeClr val="tx1"/>
                </a:solidFill>
              </a:rPr>
              <a:t> Automotive OS</a:t>
            </a:r>
          </a:p>
          <a:p>
            <a:pPr marL="0" indent="0" algn="ctr"/>
            <a:endParaRPr lang="en-GB" sz="2000" dirty="0">
              <a:solidFill>
                <a:schemeClr val="tx1"/>
              </a:solidFill>
            </a:endParaRPr>
          </a:p>
        </p:txBody>
      </p:sp>
      <p:pic>
        <p:nvPicPr>
          <p:cNvPr id="10" name="Picture 9" descr="A screen of a car navigation system&#10;&#10;Description automatically generated">
            <a:extLst>
              <a:ext uri="{FF2B5EF4-FFF2-40B4-BE49-F238E27FC236}">
                <a16:creationId xmlns:a16="http://schemas.microsoft.com/office/drawing/2014/main" id="{7FEE622F-E8A3-AF83-F911-432395CB6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65" y="2070922"/>
            <a:ext cx="5285440" cy="29861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03746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7"/>
          <p:cNvPicPr preferRelativeResize="0"/>
          <p:nvPr/>
        </p:nvPicPr>
        <p:blipFill rotWithShape="1">
          <a:blip r:embed="rId3">
            <a:alphaModFix/>
          </a:blip>
          <a:srcRect l="20473" t="26084" r="9289" b="2608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7"/>
          <p:cNvSpPr txBox="1">
            <a:spLocks noGrp="1"/>
          </p:cNvSpPr>
          <p:nvPr>
            <p:ph type="title"/>
          </p:nvPr>
        </p:nvSpPr>
        <p:spPr>
          <a:xfrm>
            <a:off x="603172" y="1119966"/>
            <a:ext cx="10406554" cy="2742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</a:pPr>
            <a:br>
              <a:rPr lang="ru-RU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Android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особенности разработки</a:t>
            </a:r>
            <a:endParaRPr lang="en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305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7D6A-BBA7-44DB-88BF-8D84A774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381687"/>
            <a:ext cx="10515600" cy="896145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Особенности мобильной разработки</a:t>
            </a:r>
            <a:endParaRPr lang="en-RU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6942-586C-9031-86E5-FCC01087A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13" y="1773238"/>
            <a:ext cx="5265332" cy="4493419"/>
          </a:xfrm>
        </p:spPr>
        <p:txBody>
          <a:bodyPr anchor="ctr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Ограниченные ресурсы, нужно следить за потреблением батареи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Нестабильная сеть, офлайн-режим</a:t>
            </a:r>
          </a:p>
        </p:txBody>
      </p:sp>
      <p:pic>
        <p:nvPicPr>
          <p:cNvPr id="1026" name="Picture 2" descr="no internet connection on smartphone concept illustration flat design  vector eps10. modern graphic element for landing page, empty state ui,  infographic, icon 7746393 Vector Art at Vecteezy">
            <a:extLst>
              <a:ext uri="{FF2B5EF4-FFF2-40B4-BE49-F238E27FC236}">
                <a16:creationId xmlns:a16="http://schemas.microsoft.com/office/drawing/2014/main" id="{C45AE996-7FB5-D8A1-E16A-C86412394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333" y="1773238"/>
            <a:ext cx="4069080" cy="406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979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7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012" r="25012"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708" name="Google Shape;708;p79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Какие плюсы у Android?</a:t>
            </a:r>
            <a:endParaRPr/>
          </a:p>
        </p:txBody>
      </p:sp>
      <p:sp>
        <p:nvSpPr>
          <p:cNvPr id="709" name="Google Shape;709;p79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Свободная платформа и открытый код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Множество производителей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Множество дизайнов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Разный ценовой сегмент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Поддержка от Google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8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775" t="1810" r="17775" b="1254"/>
          <a:stretch/>
        </p:blipFill>
        <p:spPr>
          <a:xfrm>
            <a:off x="-9728" y="0"/>
            <a:ext cx="6254885" cy="6858000"/>
          </a:xfrm>
          <a:prstGeom prst="rect">
            <a:avLst/>
          </a:prstGeom>
        </p:spPr>
      </p:pic>
      <p:sp>
        <p:nvSpPr>
          <p:cNvPr id="716" name="Google Shape;716;p80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accent3"/>
                </a:solidFill>
              </a:rPr>
              <a:t>Какие минусы у Android?</a:t>
            </a:r>
            <a:endParaRPr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80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Свободная платформа и открытый код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Множество производителей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Множество дизайнов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Разный ценовой сегмент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Поддержка от Google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8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3433" r="13440"/>
          <a:stretch/>
        </p:blipFill>
        <p:spPr>
          <a:xfrm>
            <a:off x="6108600" y="1232750"/>
            <a:ext cx="5437200" cy="4182300"/>
          </a:xfrm>
          <a:prstGeom prst="rect">
            <a:avLst/>
          </a:prstGeom>
        </p:spPr>
      </p:pic>
      <p:sp>
        <p:nvSpPr>
          <p:cNvPr id="724" name="Google Shape;724;p8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Андроид разработка не стоит на месте</a:t>
            </a:r>
            <a:endParaRPr dirty="0"/>
          </a:p>
        </p:txBody>
      </p:sp>
      <p:sp>
        <p:nvSpPr>
          <p:cNvPr id="725" name="Google Shape;725;p81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00" cy="3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81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81"/>
          <p:cNvSpPr txBox="1">
            <a:spLocks noGrp="1"/>
          </p:cNvSpPr>
          <p:nvPr>
            <p:ph type="body" idx="4"/>
          </p:nvPr>
        </p:nvSpPr>
        <p:spPr>
          <a:xfrm>
            <a:off x="671514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Фрагментация предусмотрена на раннем этапе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Команда разработчиков занимается обратной совместимостью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Команда разработчиков дает советы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Поддержка </a:t>
            </a:r>
            <a:r>
              <a:rPr lang="ru-RU" dirty="0" err="1"/>
              <a:t>Android</a:t>
            </a:r>
            <a:r>
              <a:rPr lang="ru-RU" dirty="0"/>
              <a:t>-экспертов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Большое сообщество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Много примеров кода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Курсы от VK:)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2"/>
          <p:cNvSpPr txBox="1">
            <a:spLocks noGrp="1"/>
          </p:cNvSpPr>
          <p:nvPr>
            <p:ph type="body" idx="1"/>
          </p:nvPr>
        </p:nvSpPr>
        <p:spPr>
          <a:xfrm>
            <a:off x="671514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Linux based</a:t>
            </a: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 sz="1800" dirty="0"/>
              <a:t>HAL - для удобства </a:t>
            </a:r>
            <a:r>
              <a:rPr lang="ru-RU" sz="1800" dirty="0" err="1"/>
              <a:t>портируемости</a:t>
            </a:r>
            <a:endParaRPr lang="en-US" sz="1800"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 sz="1800" dirty="0"/>
              <a:t>Нативный библиотеки</a:t>
            </a:r>
            <a:endParaRPr lang="en-US" sz="1800"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 sz="1800" dirty="0"/>
              <a:t>Собственная среда выполнения - ART</a:t>
            </a:r>
            <a:endParaRPr lang="en-US" sz="1800"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Android</a:t>
            </a:r>
            <a:r>
              <a:rPr lang="ru-RU" sz="1800" dirty="0"/>
              <a:t> API</a:t>
            </a:r>
            <a:endParaRPr lang="en-US" sz="1800"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 sz="1800" dirty="0"/>
              <a:t>Приложения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734" name="Google Shape;734;p8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Архитектура Android</a:t>
            </a:r>
            <a:endParaRPr/>
          </a:p>
        </p:txBody>
      </p:sp>
      <p:pic>
        <p:nvPicPr>
          <p:cNvPr id="735" name="Google Shape;73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2934" y="152400"/>
            <a:ext cx="4450262" cy="6553204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82"/>
          <p:cNvSpPr txBox="1"/>
          <p:nvPr/>
        </p:nvSpPr>
        <p:spPr>
          <a:xfrm>
            <a:off x="677325" y="6000675"/>
            <a:ext cx="43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4"/>
              </a:rPr>
              <a:t>https://developer.android.com/guide/platform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ndroid Studio - Narwhal | 2025.1.1 | What's new | Android App">
            <a:extLst>
              <a:ext uri="{FF2B5EF4-FFF2-40B4-BE49-F238E27FC236}">
                <a16:creationId xmlns:a16="http://schemas.microsoft.com/office/drawing/2014/main" id="{135F7438-5051-A25F-2579-9B8D2E1C8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923" y="789677"/>
            <a:ext cx="3497504" cy="196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4" name="Google Shape;734;p82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Разработка под </a:t>
            </a:r>
            <a:r>
              <a:rPr lang="en-US" dirty="0"/>
              <a:t>Android OS</a:t>
            </a:r>
            <a:endParaRPr dirty="0"/>
          </a:p>
        </p:txBody>
      </p:sp>
      <p:pic>
        <p:nvPicPr>
          <p:cNvPr id="1026" name="Picture 2" descr="Android Studio Tutorial (2024 Edition) - Part 1">
            <a:extLst>
              <a:ext uri="{FF2B5EF4-FFF2-40B4-BE49-F238E27FC236}">
                <a16:creationId xmlns:a16="http://schemas.microsoft.com/office/drawing/2014/main" id="{E0809D98-0177-626F-021F-245423F3E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0" r="6500"/>
          <a:stretch/>
        </p:blipFill>
        <p:spPr bwMode="auto">
          <a:xfrm>
            <a:off x="671514" y="1773350"/>
            <a:ext cx="7169477" cy="462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639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7"/>
          <p:cNvPicPr preferRelativeResize="0"/>
          <p:nvPr/>
        </p:nvPicPr>
        <p:blipFill rotWithShape="1">
          <a:blip r:embed="rId3">
            <a:alphaModFix/>
          </a:blip>
          <a:srcRect l="20473" t="26084" r="9289" b="2608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sp>
        <p:nvSpPr>
          <p:cNvPr id="385" name="Google Shape;385;p47"/>
          <p:cNvSpPr txBox="1">
            <a:spLocks noGrp="1"/>
          </p:cNvSpPr>
          <p:nvPr>
            <p:ph type="title"/>
          </p:nvPr>
        </p:nvSpPr>
        <p:spPr>
          <a:xfrm>
            <a:off x="533899" y="2971952"/>
            <a:ext cx="1040655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</a:pPr>
            <a:r>
              <a:rPr lang="ru-RU" sz="7200" dirty="0">
                <a:solidFill>
                  <a:schemeClr val="bg1"/>
                </a:solidFill>
              </a:rPr>
              <a:t>Правила игры</a:t>
            </a:r>
            <a:endParaRPr lang="en-RU" sz="7200" dirty="0">
              <a:solidFill>
                <a:schemeClr val="bg1"/>
              </a:solidFill>
            </a:endParaRPr>
          </a:p>
        </p:txBody>
      </p:sp>
      <p:sp>
        <p:nvSpPr>
          <p:cNvPr id="2" name="Google Shape;385;p47">
            <a:extLst>
              <a:ext uri="{FF2B5EF4-FFF2-40B4-BE49-F238E27FC236}">
                <a16:creationId xmlns:a16="http://schemas.microsoft.com/office/drawing/2014/main" id="{76439537-1226-3C76-B1AF-1C91D870BD83}"/>
              </a:ext>
            </a:extLst>
          </p:cNvPr>
          <p:cNvSpPr txBox="1">
            <a:spLocks/>
          </p:cNvSpPr>
          <p:nvPr/>
        </p:nvSpPr>
        <p:spPr>
          <a:xfrm>
            <a:off x="533899" y="4234694"/>
            <a:ext cx="1040655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</a:pPr>
            <a:r>
              <a:rPr lang="ru-RU" sz="3200" dirty="0">
                <a:solidFill>
                  <a:schemeClr val="bg1"/>
                </a:solidFill>
              </a:rPr>
              <a:t>Дедлайны и оценки</a:t>
            </a:r>
            <a:endParaRPr lang="en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81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5"/>
          <p:cNvSpPr txBox="1"/>
          <p:nvPr/>
        </p:nvSpPr>
        <p:spPr>
          <a:xfrm>
            <a:off x="4843201" y="3791110"/>
            <a:ext cx="2505600" cy="16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3 домашних задания</a:t>
            </a:r>
            <a:br>
              <a:rPr lang="ru-RU" sz="1800" dirty="0">
                <a:solidFill>
                  <a:schemeClr val="dk1"/>
                </a:solidFill>
              </a:rPr>
            </a:br>
            <a:r>
              <a:rPr lang="ru-RU" sz="1800" dirty="0">
                <a:solidFill>
                  <a:schemeClr val="dk1"/>
                </a:solidFill>
              </a:rPr>
              <a:t>(по 10 баллов)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85"/>
          <p:cNvSpPr txBox="1"/>
          <p:nvPr/>
        </p:nvSpPr>
        <p:spPr>
          <a:xfrm>
            <a:off x="8469814" y="3770075"/>
            <a:ext cx="2505600" cy="16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3 РК - рубежных контроля</a:t>
            </a:r>
            <a:br>
              <a:rPr lang="ru-RU" sz="1800" dirty="0">
                <a:solidFill>
                  <a:schemeClr val="dk1"/>
                </a:solidFill>
              </a:rPr>
            </a:br>
            <a:r>
              <a:rPr lang="ru-RU" sz="1800" dirty="0">
                <a:solidFill>
                  <a:schemeClr val="dk1"/>
                </a:solidFill>
              </a:rPr>
              <a:t>(по 10 баллов)</a:t>
            </a:r>
            <a:endParaRPr dirty="0"/>
          </a:p>
        </p:txBody>
      </p:sp>
      <p:sp>
        <p:nvSpPr>
          <p:cNvPr id="768" name="Google Shape;768;p85"/>
          <p:cNvSpPr/>
          <p:nvPr/>
        </p:nvSpPr>
        <p:spPr>
          <a:xfrm>
            <a:off x="1216586" y="2835484"/>
            <a:ext cx="749100" cy="74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dirty="0"/>
          </a:p>
        </p:txBody>
      </p:sp>
      <p:sp>
        <p:nvSpPr>
          <p:cNvPr id="769" name="Google Shape;769;p85"/>
          <p:cNvSpPr/>
          <p:nvPr/>
        </p:nvSpPr>
        <p:spPr>
          <a:xfrm>
            <a:off x="4843201" y="2835484"/>
            <a:ext cx="749100" cy="74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dirty="0"/>
          </a:p>
        </p:txBody>
      </p:sp>
      <p:sp>
        <p:nvSpPr>
          <p:cNvPr id="770" name="Google Shape;770;p85"/>
          <p:cNvSpPr/>
          <p:nvPr/>
        </p:nvSpPr>
        <p:spPr>
          <a:xfrm>
            <a:off x="8469815" y="2876753"/>
            <a:ext cx="749100" cy="74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/>
          </a:p>
        </p:txBody>
      </p:sp>
      <p:sp>
        <p:nvSpPr>
          <p:cNvPr id="4" name="Google Shape;734;p82">
            <a:extLst>
              <a:ext uri="{FF2B5EF4-FFF2-40B4-BE49-F238E27FC236}">
                <a16:creationId xmlns:a16="http://schemas.microsoft.com/office/drawing/2014/main" id="{FE3A112F-BE68-5E60-2F31-7F3DC267E4AD}"/>
              </a:ext>
            </a:extLst>
          </p:cNvPr>
          <p:cNvSpPr txBox="1">
            <a:spLocks/>
          </p:cNvSpPr>
          <p:nvPr/>
        </p:nvSpPr>
        <p:spPr>
          <a:xfrm>
            <a:off x="641636" y="309974"/>
            <a:ext cx="46629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/>
              <a:t>Из чего сложится оценка за семестр</a:t>
            </a:r>
            <a:endParaRPr lang="en-GB" dirty="0"/>
          </a:p>
        </p:txBody>
      </p:sp>
      <p:sp>
        <p:nvSpPr>
          <p:cNvPr id="5" name="Google Shape;766;p85">
            <a:extLst>
              <a:ext uri="{FF2B5EF4-FFF2-40B4-BE49-F238E27FC236}">
                <a16:creationId xmlns:a16="http://schemas.microsoft.com/office/drawing/2014/main" id="{ACB41303-1F19-2207-F213-AD3BCF2E0FB4}"/>
              </a:ext>
            </a:extLst>
          </p:cNvPr>
          <p:cNvSpPr txBox="1"/>
          <p:nvPr/>
        </p:nvSpPr>
        <p:spPr>
          <a:xfrm>
            <a:off x="1216586" y="3791110"/>
            <a:ext cx="2505600" cy="16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8 тестов</a:t>
            </a:r>
            <a:br>
              <a:rPr lang="ru-RU" sz="1800" dirty="0">
                <a:solidFill>
                  <a:schemeClr val="dk1"/>
                </a:solidFill>
              </a:rPr>
            </a:br>
            <a:r>
              <a:rPr lang="ru-RU" sz="1800" dirty="0">
                <a:solidFill>
                  <a:schemeClr val="dk1"/>
                </a:solidFill>
              </a:rPr>
              <a:t>(по 5 баллов)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8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000" b="6009"/>
          <a:stretch/>
        </p:blipFill>
        <p:spPr>
          <a:xfrm>
            <a:off x="6096000" y="1484631"/>
            <a:ext cx="5437199" cy="4182300"/>
          </a:xfrm>
          <a:prstGeom prst="rect">
            <a:avLst/>
          </a:prstGeom>
        </p:spPr>
      </p:pic>
      <p:sp>
        <p:nvSpPr>
          <p:cNvPr id="777" name="Google Shape;777;p86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00" cy="3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86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8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Тесты</a:t>
            </a:r>
            <a:endParaRPr/>
          </a:p>
        </p:txBody>
      </p:sp>
      <p:sp>
        <p:nvSpPr>
          <p:cNvPr id="780" name="Google Shape;780;p86"/>
          <p:cNvSpPr txBox="1">
            <a:spLocks noGrp="1"/>
          </p:cNvSpPr>
          <p:nvPr>
            <p:ph type="body" idx="4"/>
          </p:nvPr>
        </p:nvSpPr>
        <p:spPr>
          <a:xfrm>
            <a:off x="677334" y="1484631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Основная цель тестов - понять, был ли закреплен материал лекции.</a:t>
            </a:r>
            <a:endParaRPr dirty="0"/>
          </a:p>
          <a:p>
            <a:pPr marL="0" indent="0"/>
            <a:r>
              <a:rPr lang="ru-RU" dirty="0"/>
              <a:t>Приступить к тесту можно будет только в течении недели после лекции.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Тест будет небольшим, на его прохождение дается 15 минут. Только </a:t>
            </a:r>
            <a:r>
              <a:rPr lang="ru-RU" b="1" dirty="0">
                <a:solidFill>
                  <a:schemeClr val="accent3"/>
                </a:solidFill>
              </a:rPr>
              <a:t>1</a:t>
            </a:r>
            <a:r>
              <a:rPr lang="ru-RU" dirty="0"/>
              <a:t> попытка!</a:t>
            </a:r>
            <a:endParaRPr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87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00" cy="3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8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Домашние задания</a:t>
            </a:r>
            <a:endParaRPr/>
          </a:p>
        </p:txBody>
      </p:sp>
      <p:pic>
        <p:nvPicPr>
          <p:cNvPr id="788" name="Google Shape;788;p8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537" b="11545"/>
          <a:stretch/>
        </p:blipFill>
        <p:spPr>
          <a:xfrm>
            <a:off x="6096000" y="692151"/>
            <a:ext cx="5437200" cy="4182300"/>
          </a:xfrm>
          <a:prstGeom prst="rect">
            <a:avLst/>
          </a:prstGeom>
        </p:spPr>
      </p:pic>
      <p:sp>
        <p:nvSpPr>
          <p:cNvPr id="789" name="Google Shape;789;p87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87"/>
          <p:cNvSpPr txBox="1">
            <a:spLocks noGrp="1"/>
          </p:cNvSpPr>
          <p:nvPr>
            <p:ph type="body" idx="4"/>
          </p:nvPr>
        </p:nvSpPr>
        <p:spPr>
          <a:xfrm>
            <a:off x="671514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Основная цель ДЗ - это постепенное погружение в самостоятельную разработку приложения.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ДЗ будет выдаваться примерно за 3-4 недели до проверки. В это время будут читаться лекции, которые помогут вам сделать ДЗ.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Но ДЗ 2 и 3 будут содержать условия, которые потребуют от вас самостоятельной работы. С этим вам помогут преподаватели и менторы.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Проверка ДЗ осуществляется на ближайшем РК.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8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00" cy="3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8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Рубежные контроли, РК</a:t>
            </a:r>
            <a:endParaRPr sz="3000" dirty="0"/>
          </a:p>
        </p:txBody>
      </p:sp>
      <p:sp>
        <p:nvSpPr>
          <p:cNvPr id="798" name="Google Shape;798;p88"/>
          <p:cNvSpPr txBox="1">
            <a:spLocks noGrp="1"/>
          </p:cNvSpPr>
          <p:nvPr>
            <p:ph type="body" idx="4"/>
          </p:nvPr>
        </p:nvSpPr>
        <p:spPr>
          <a:xfrm>
            <a:off x="671514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Основная цель РК - это проверить, как вы работаете с </a:t>
            </a:r>
            <a:r>
              <a:rPr lang="ru-RU" dirty="0" err="1"/>
              <a:t>Android</a:t>
            </a:r>
            <a:r>
              <a:rPr lang="ru-RU" dirty="0"/>
              <a:t>-кодом.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В основном задания будут в виде модификации кода вашего ДЗ, чтобы получить некоторое другое поведение.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799" name="Google Shape;799;p8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6664" r="6664"/>
          <a:stretch/>
        </p:blipFill>
        <p:spPr>
          <a:xfrm>
            <a:off x="6096000" y="1773350"/>
            <a:ext cx="5437200" cy="4182300"/>
          </a:xfrm>
          <a:prstGeom prst="rect">
            <a:avLst/>
          </a:prstGeom>
        </p:spPr>
      </p:pic>
      <p:sp>
        <p:nvSpPr>
          <p:cNvPr id="800" name="Google Shape;800;p88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92"/>
          <p:cNvSpPr txBox="1">
            <a:spLocks noGrp="1"/>
          </p:cNvSpPr>
          <p:nvPr>
            <p:ph type="title"/>
          </p:nvPr>
        </p:nvSpPr>
        <p:spPr>
          <a:xfrm>
            <a:off x="677334" y="524510"/>
            <a:ext cx="46629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ожидаем по итогу семестра</a:t>
            </a:r>
            <a:endParaRPr dirty="0"/>
          </a:p>
        </p:txBody>
      </p:sp>
      <p:pic>
        <p:nvPicPr>
          <p:cNvPr id="829" name="Google Shape;829;p9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30" name="Google Shape;830;p92"/>
          <p:cNvSpPr txBox="1">
            <a:spLocks noGrp="1"/>
          </p:cNvSpPr>
          <p:nvPr>
            <p:ph type="body" idx="1"/>
          </p:nvPr>
        </p:nvSpPr>
        <p:spPr>
          <a:xfrm>
            <a:off x="671514" y="2018599"/>
            <a:ext cx="4649700" cy="418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Закреплена база по </a:t>
            </a:r>
            <a:r>
              <a:rPr lang="ru-RU" dirty="0" err="1"/>
              <a:t>Android</a:t>
            </a:r>
            <a:r>
              <a:rPr lang="ru-RU" dirty="0"/>
              <a:t>, позволяющая реализовывать более сложные приложения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ru-RU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Получено представление о комьюнити </a:t>
            </a:r>
            <a:r>
              <a:rPr lang="ru-RU" dirty="0" err="1"/>
              <a:t>Android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ru-RU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Лучшие студенты будут допущены ко второму семестру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Мы прилагаем максимум усилий, чтобы поделиться с вами всем своим опытом и вскрыть подводные камни как можно раньше.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Но путь к профессионализму лежит через практику.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7"/>
          <p:cNvPicPr preferRelativeResize="0"/>
          <p:nvPr/>
        </p:nvPicPr>
        <p:blipFill rotWithShape="1">
          <a:blip r:embed="rId3">
            <a:alphaModFix/>
          </a:blip>
          <a:srcRect l="20473" t="26084" r="9289" b="2608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sp>
        <p:nvSpPr>
          <p:cNvPr id="385" name="Google Shape;385;p47"/>
          <p:cNvSpPr txBox="1">
            <a:spLocks noGrp="1"/>
          </p:cNvSpPr>
          <p:nvPr>
            <p:ph type="title"/>
          </p:nvPr>
        </p:nvSpPr>
        <p:spPr>
          <a:xfrm>
            <a:off x="533899" y="2971952"/>
            <a:ext cx="1040655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</a:pPr>
            <a:r>
              <a:rPr lang="en-US" sz="7200" dirty="0">
                <a:solidFill>
                  <a:schemeClr val="bg1"/>
                </a:solidFill>
              </a:rPr>
              <a:t>GIT</a:t>
            </a:r>
            <a:endParaRPr lang="en-RU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47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9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00" cy="64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Зачем понадобились </a:t>
            </a:r>
            <a:r>
              <a:rPr lang="en-US" dirty="0"/>
              <a:t>VCS?</a:t>
            </a:r>
            <a:endParaRPr dirty="0"/>
          </a:p>
        </p:txBody>
      </p:sp>
      <p:pic>
        <p:nvPicPr>
          <p:cNvPr id="4" name="Google Shape;855;p95">
            <a:extLst>
              <a:ext uri="{FF2B5EF4-FFF2-40B4-BE49-F238E27FC236}">
                <a16:creationId xmlns:a16="http://schemas.microsoft.com/office/drawing/2014/main" id="{79642D7A-ACD6-125A-DF56-42AC5B76E6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540" y="2430438"/>
            <a:ext cx="5434481" cy="199712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6C08E4-1CAF-115A-AF65-95C3E5C31286}"/>
              </a:ext>
            </a:extLst>
          </p:cNvPr>
          <p:cNvSpPr txBox="1"/>
          <p:nvPr/>
        </p:nvSpPr>
        <p:spPr>
          <a:xfrm>
            <a:off x="6522543" y="2365459"/>
            <a:ext cx="522891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</a:rPr>
              <a:t>Отслеживать изменения в коде и возвращаться к предыдущим версиям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</a:rPr>
              <a:t>Работать над проектом в команде, </a:t>
            </a:r>
            <a:r>
              <a:rPr lang="ru-RU" sz="1800" dirty="0"/>
              <a:t>упрощая разрешение конфликтов</a:t>
            </a:r>
            <a:endParaRPr lang="ru-RU" sz="1800" dirty="0">
              <a:effectLst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</a:rPr>
              <a:t>Экспериментировать с новыми функциями без риска повредить основной код</a:t>
            </a:r>
          </a:p>
        </p:txBody>
      </p:sp>
    </p:spTree>
    <p:extLst>
      <p:ext uri="{BB962C8B-B14F-4D97-AF65-F5344CB8AC3E}">
        <p14:creationId xmlns:p14="http://schemas.microsoft.com/office/powerpoint/2010/main" val="410553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976E-F5EB-6AA4-1545-A00804E4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608279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VCS: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FCC7-D9D2-1E66-8F04-B37F21BB6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7" y="1639887"/>
            <a:ext cx="10515600" cy="4351338"/>
          </a:xfrm>
        </p:spPr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RU" sz="1800" dirty="0"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создан </a:t>
            </a:r>
            <a:r>
              <a:rPr lang="ru-RU" sz="1800" b="0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Линусом</a:t>
            </a: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0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Торвальдсом</a:t>
            </a:r>
            <a:r>
              <a:rPr lang="ru-RU" sz="1800" b="0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2005 году</a:t>
            </a:r>
            <a:endParaRPr lang="en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RU" sz="1800" dirty="0">
                <a:latin typeface="Arial" panose="020B0604020202020204" pitchFamily="34" charset="0"/>
                <a:cs typeface="Arial" panose="020B0604020202020204" pitchFamily="34" charset="0"/>
              </a:rPr>
              <a:t>GitHub, GitLab, Bitbucket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  <a:endParaRPr lang="en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160" name="Picture 8" descr="Git explained: Commit ranges">
            <a:extLst>
              <a:ext uri="{FF2B5EF4-FFF2-40B4-BE49-F238E27FC236}">
                <a16:creationId xmlns:a16="http://schemas.microsoft.com/office/drawing/2014/main" id="{A2AE20A4-DAE9-E59D-0053-C05328058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337" y="3054373"/>
            <a:ext cx="5509326" cy="272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logo of a git company&#10;&#10;Description automatically generated">
            <a:extLst>
              <a:ext uri="{FF2B5EF4-FFF2-40B4-BE49-F238E27FC236}">
                <a16:creationId xmlns:a16="http://schemas.microsoft.com/office/drawing/2014/main" id="{04D5F1DE-A54F-81EF-DAC2-03B35B404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5973" y="176841"/>
            <a:ext cx="19558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56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2334" y="1278515"/>
            <a:ext cx="6113787" cy="50141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D5B9E8-5FA7-D121-C66A-9464934F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626" y="477749"/>
            <a:ext cx="6464554" cy="498598"/>
          </a:xfrm>
        </p:spPr>
        <p:txBody>
          <a:bodyPr/>
          <a:lstStyle/>
          <a:p>
            <a:pPr algn="l"/>
            <a:r>
              <a:rPr lang="en-RU" sz="3600" dirty="0">
                <a:solidFill>
                  <a:schemeClr val="bg2"/>
                </a:solidFill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100647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B9E8-5FA7-D121-C66A-9464934F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64" y="370313"/>
            <a:ext cx="6464554" cy="498598"/>
          </a:xfrm>
        </p:spPr>
        <p:txBody>
          <a:bodyPr/>
          <a:lstStyle/>
          <a:p>
            <a:pPr algn="l"/>
            <a:r>
              <a:rPr lang="ru-RU" sz="3600" dirty="0">
                <a:solidFill>
                  <a:schemeClr val="bg2"/>
                </a:solidFill>
              </a:rPr>
              <a:t>Команды</a:t>
            </a:r>
            <a:r>
              <a:rPr lang="en-US" sz="3600" dirty="0">
                <a:solidFill>
                  <a:schemeClr val="bg2"/>
                </a:solidFill>
              </a:rPr>
              <a:t> git</a:t>
            </a:r>
            <a:endParaRPr lang="en-RU" sz="36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072E9-5432-949A-FD78-A93FF2012CA7}"/>
              </a:ext>
            </a:extLst>
          </p:cNvPr>
          <p:cNvSpPr txBox="1"/>
          <p:nvPr/>
        </p:nvSpPr>
        <p:spPr>
          <a:xfrm>
            <a:off x="617264" y="1347818"/>
            <a:ext cx="7084624" cy="513986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#</a:t>
            </a:r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 </a:t>
            </a:r>
            <a:r>
              <a:rPr lang="ru-RU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Создать репозиторий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git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init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# </a:t>
            </a:r>
            <a:r>
              <a:rPr lang="ru-RU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Связать с удаленным репозиторием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git remote add origin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git@github.com:nfirex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/kotlin-level-1.git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# </a:t>
            </a:r>
            <a:r>
              <a:rPr lang="ru-RU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Но проще - просто клонировать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git clone </a:t>
            </a:r>
            <a:r>
              <a:rPr lang="en-GB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git@github.com:nfirex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Mono" pitchFamily="49" charset="0"/>
                <a:ea typeface="Roboto Mono" pitchFamily="49" charset="0"/>
                <a:cs typeface="Roboto Mono"/>
                <a:sym typeface="Roboto Mono"/>
              </a:rPr>
              <a:t>/kotlin-level-1.git</a:t>
            </a:r>
            <a:endParaRPr lang="en-GB" sz="16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Roboto Mono" pitchFamily="49" charset="0"/>
              <a:ea typeface="Roboto Mono" pitchFamily="49" charset="0"/>
            </a:endParaRPr>
          </a:p>
          <a:p>
            <a:pPr algn="l"/>
            <a:endParaRPr lang="en-GB" sz="16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Roboto Mono" pitchFamily="49" charset="0"/>
              <a:ea typeface="Roboto Mono" pitchFamily="49" charset="0"/>
            </a:endParaRPr>
          </a:p>
          <a:p>
            <a:pPr algn="l"/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</a:endParaRPr>
          </a:p>
          <a:p>
            <a:pPr algn="l"/>
            <a:r>
              <a:rPr lang="en-GB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# </a:t>
            </a:r>
            <a:r>
              <a:rPr lang="ru-RU" sz="1600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</a:rPr>
              <a:t>Проверка состояния рабочего каталога и индекса. Показывает изменения, которые нужно </a:t>
            </a:r>
            <a:r>
              <a:rPr lang="ru-RU" sz="1600" i="0" dirty="0" err="1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</a:rPr>
              <a:t>закоммитить</a:t>
            </a:r>
            <a:r>
              <a:rPr lang="ru-RU" sz="1600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</a:rPr>
              <a:t>.</a:t>
            </a:r>
            <a:endParaRPr lang="en-GB" sz="1600" i="0" dirty="0">
              <a:solidFill>
                <a:schemeClr val="accent3"/>
              </a:solidFill>
              <a:effectLst/>
              <a:latin typeface="Roboto Mono" pitchFamily="49" charset="0"/>
              <a:ea typeface="Roboto Mono" pitchFamily="49" charset="0"/>
            </a:endParaRPr>
          </a:p>
          <a:p>
            <a:pPr algn="l"/>
            <a:r>
              <a:rPr lang="en-GB" sz="16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Roboto Mono" pitchFamily="49" charset="0"/>
                <a:ea typeface="Roboto Mono" pitchFamily="49" charset="0"/>
              </a:rPr>
              <a:t>git status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ru-RU" sz="16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Roboto Mono" pitchFamily="49" charset="0"/>
              <a:ea typeface="Roboto Mono" pitchFamily="49" charset="0"/>
            </a:endParaRPr>
          </a:p>
          <a:p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# </a:t>
            </a:r>
            <a:r>
              <a:rPr lang="ru-RU" sz="1600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</a:rPr>
              <a:t>Просмотр истории коммитов в текущей ветке.</a:t>
            </a:r>
          </a:p>
          <a:p>
            <a:pPr algn="l"/>
            <a:r>
              <a:rPr lang="en-GB" sz="16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Roboto Mono" pitchFamily="49" charset="0"/>
                <a:ea typeface="Roboto Mono" pitchFamily="49" charset="0"/>
              </a:rPr>
              <a:t>git log</a:t>
            </a:r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</a:endParaRPr>
          </a:p>
          <a:p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latin typeface="Roboto Mono" pitchFamily="49" charset="0"/>
              <a:ea typeface="Roboto Mono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072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10;p102">
            <a:extLst>
              <a:ext uri="{FF2B5EF4-FFF2-40B4-BE49-F238E27FC236}">
                <a16:creationId xmlns:a16="http://schemas.microsoft.com/office/drawing/2014/main" id="{6E7C1775-B312-6217-3569-246100EC2F6D}"/>
              </a:ext>
            </a:extLst>
          </p:cNvPr>
          <p:cNvSpPr txBox="1"/>
          <p:nvPr/>
        </p:nvSpPr>
        <p:spPr>
          <a:xfrm>
            <a:off x="617263" y="2687266"/>
            <a:ext cx="6269919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#Затянуть историю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fetch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#Затянуть изменения из ветки в свою ветку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pull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origin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master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823C7D1-70DB-E8F7-B1F3-35220CEBF9F3}"/>
              </a:ext>
            </a:extLst>
          </p:cNvPr>
          <p:cNvSpPr txBox="1">
            <a:spLocks/>
          </p:cNvSpPr>
          <p:nvPr/>
        </p:nvSpPr>
        <p:spPr>
          <a:xfrm>
            <a:off x="617264" y="370313"/>
            <a:ext cx="6464554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3600">
                <a:solidFill>
                  <a:schemeClr val="bg2"/>
                </a:solidFill>
              </a:rPr>
              <a:t>Команды</a:t>
            </a:r>
            <a:r>
              <a:rPr lang="en-US" sz="3600">
                <a:solidFill>
                  <a:schemeClr val="bg2"/>
                </a:solidFill>
              </a:rPr>
              <a:t> git</a:t>
            </a:r>
            <a:endParaRPr lang="en-RU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108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93;p100">
            <a:extLst>
              <a:ext uri="{FF2B5EF4-FFF2-40B4-BE49-F238E27FC236}">
                <a16:creationId xmlns:a16="http://schemas.microsoft.com/office/drawing/2014/main" id="{105DBF19-761B-F835-11A8-D7ECD9CE3350}"/>
              </a:ext>
            </a:extLst>
          </p:cNvPr>
          <p:cNvSpPr txBox="1"/>
          <p:nvPr/>
        </p:nvSpPr>
        <p:spPr>
          <a:xfrm>
            <a:off x="617264" y="1525024"/>
            <a:ext cx="8478098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#Создать ветку </a:t>
            </a:r>
            <a:r>
              <a:rPr lang="ru-RU" sz="1600" dirty="0" err="1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master</a:t>
            </a: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в текущем состоянии кода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branch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-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master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#Переключиться в другую ветку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checkout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feature-1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#Если нужная ветка не находится локально, тогда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потребуется создать ее локально перед подключением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можно сделать той же командой </a:t>
            </a:r>
            <a:r>
              <a:rPr lang="ru-RU" sz="1600" dirty="0" err="1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checkout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checkout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-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feature-2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origin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/feature-2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D81B6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8D36B3-2D57-C55E-C5EA-B5954632B2C5}"/>
              </a:ext>
            </a:extLst>
          </p:cNvPr>
          <p:cNvSpPr txBox="1">
            <a:spLocks/>
          </p:cNvSpPr>
          <p:nvPr/>
        </p:nvSpPr>
        <p:spPr>
          <a:xfrm>
            <a:off x="617264" y="370313"/>
            <a:ext cx="6464554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3600">
                <a:solidFill>
                  <a:schemeClr val="bg2"/>
                </a:solidFill>
              </a:rPr>
              <a:t>Команды</a:t>
            </a:r>
            <a:r>
              <a:rPr lang="en-US" sz="3600">
                <a:solidFill>
                  <a:schemeClr val="bg2"/>
                </a:solidFill>
              </a:rPr>
              <a:t> git</a:t>
            </a:r>
            <a:endParaRPr lang="en-RU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114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01;p101">
            <a:extLst>
              <a:ext uri="{FF2B5EF4-FFF2-40B4-BE49-F238E27FC236}">
                <a16:creationId xmlns:a16="http://schemas.microsoft.com/office/drawing/2014/main" id="{2E8DAA7B-E283-B5DF-5659-4F29B37845C3}"/>
              </a:ext>
            </a:extLst>
          </p:cNvPr>
          <p:cNvSpPr txBox="1"/>
          <p:nvPr/>
        </p:nvSpPr>
        <p:spPr>
          <a:xfrm>
            <a:off x="617264" y="2330528"/>
            <a:ext cx="5304300" cy="252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US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Добавить все сделанные изменения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--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all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Зафиксировать изменения локально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-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ru-RU" sz="16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ru-RU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r>
              <a:rPr lang="ru-RU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US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Отправить изменения на сервер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-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origin</a:t>
            </a:r>
            <a:r>
              <a:rPr lang="ru-RU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-RU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master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FEEC49-E23F-0228-6F10-76B323EFDD17}"/>
              </a:ext>
            </a:extLst>
          </p:cNvPr>
          <p:cNvSpPr txBox="1">
            <a:spLocks/>
          </p:cNvSpPr>
          <p:nvPr/>
        </p:nvSpPr>
        <p:spPr>
          <a:xfrm>
            <a:off x="617264" y="370313"/>
            <a:ext cx="6464554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3600" dirty="0">
                <a:solidFill>
                  <a:schemeClr val="bg2"/>
                </a:solidFill>
              </a:rPr>
              <a:t>Команды</a:t>
            </a:r>
            <a:r>
              <a:rPr lang="en-US" sz="3600" dirty="0">
                <a:solidFill>
                  <a:schemeClr val="bg2"/>
                </a:solidFill>
              </a:rPr>
              <a:t> git</a:t>
            </a:r>
            <a:endParaRPr lang="en-RU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53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C44E9-6CAC-6E3A-E7CE-7CFE1D9CC536}"/>
              </a:ext>
            </a:extLst>
          </p:cNvPr>
          <p:cNvSpPr txBox="1"/>
          <p:nvPr/>
        </p:nvSpPr>
        <p:spPr>
          <a:xfrm>
            <a:off x="617264" y="2459330"/>
            <a:ext cx="851452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#</a:t>
            </a:r>
            <a:r>
              <a:rPr lang="ru-RU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Когда использовать:</a:t>
            </a:r>
            <a:endParaRPr lang="en-US" i="0" dirty="0">
              <a:solidFill>
                <a:schemeClr val="accent3"/>
              </a:solidFill>
              <a:effectLst/>
              <a:latin typeface="Roboto Mono" pitchFamily="49" charset="0"/>
              <a:ea typeface="Roboto Mono" pitchFamily="49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# </a:t>
            </a:r>
            <a:r>
              <a:rPr lang="en-US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- </a:t>
            </a:r>
            <a:r>
              <a:rPr lang="ru-RU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Переписать историю коммитов (например, с помощью </a:t>
            </a:r>
            <a:r>
              <a:rPr lang="en-GB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git rebase)</a:t>
            </a:r>
          </a:p>
          <a:p>
            <a:pPr algn="l"/>
            <a:r>
              <a:rPr lang="en-US" sz="14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# -</a:t>
            </a:r>
            <a:r>
              <a:rPr lang="en-US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 </a:t>
            </a:r>
            <a:r>
              <a:rPr lang="ru-RU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Исправить ошибочные коммиты, уже отправленные в </a:t>
            </a:r>
            <a:r>
              <a:rPr lang="en-US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remote</a:t>
            </a:r>
            <a:endParaRPr lang="ru-RU" sz="1600" i="0" dirty="0">
              <a:solidFill>
                <a:srgbClr val="1E293B"/>
              </a:solidFill>
              <a:effectLst/>
              <a:latin typeface="Roboto Mono" pitchFamily="49" charset="0"/>
              <a:ea typeface="Roboto Mono" pitchFamily="49" charset="0"/>
              <a:cs typeface="Arial" panose="020B0604020202020204" pitchFamily="34" charset="0"/>
            </a:endParaRPr>
          </a:p>
          <a:p>
            <a:r>
              <a:rPr lang="en-GB" sz="1600" i="0" dirty="0">
                <a:solidFill>
                  <a:srgbClr val="1E293B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git push --force</a:t>
            </a:r>
          </a:p>
          <a:p>
            <a:endParaRPr lang="ru-RU" sz="1600" dirty="0">
              <a:latin typeface="Roboto Mono" pitchFamily="49" charset="0"/>
              <a:ea typeface="Roboto Mono" pitchFamily="49" charset="0"/>
              <a:cs typeface="Arial" panose="020B0604020202020204" pitchFamily="34" charset="0"/>
            </a:endParaRPr>
          </a:p>
          <a:p>
            <a:endParaRPr lang="en-US" sz="1600" dirty="0">
              <a:latin typeface="Roboto Mono" pitchFamily="49" charset="0"/>
              <a:ea typeface="Roboto Mono" pitchFamily="49" charset="0"/>
              <a:cs typeface="Arial" panose="020B0604020202020204" pitchFamily="34" charset="0"/>
            </a:endParaRPr>
          </a:p>
          <a:p>
            <a:r>
              <a:rPr lang="en-US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#</a:t>
            </a:r>
            <a:r>
              <a:rPr lang="ru-RU" i="0" dirty="0">
                <a:solidFill>
                  <a:schemeClr val="accent3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Позволяет избежать перезаписи изменений, сделанных другими пользователями</a:t>
            </a:r>
            <a:endParaRPr lang="en-GB" sz="1600" i="0" dirty="0">
              <a:solidFill>
                <a:srgbClr val="1E293B"/>
              </a:solidFill>
              <a:effectLst/>
              <a:latin typeface="Roboto Mono" pitchFamily="49" charset="0"/>
              <a:ea typeface="Roboto Mono" pitchFamily="49" charset="0"/>
              <a:cs typeface="Arial" panose="020B0604020202020204" pitchFamily="34" charset="0"/>
            </a:endParaRPr>
          </a:p>
          <a:p>
            <a:r>
              <a:rPr lang="en-GB" sz="1600" i="0" dirty="0">
                <a:solidFill>
                  <a:srgbClr val="1E293B"/>
                </a:solidFill>
                <a:effectLst/>
                <a:latin typeface="Roboto Mono" pitchFamily="49" charset="0"/>
                <a:ea typeface="Roboto Mono" pitchFamily="49" charset="0"/>
                <a:cs typeface="Arial" panose="020B0604020202020204" pitchFamily="34" charset="0"/>
              </a:rPr>
              <a:t>git push --force-with-lease</a:t>
            </a:r>
            <a:endParaRPr lang="ru-RU" sz="1600" i="0" dirty="0">
              <a:solidFill>
                <a:srgbClr val="1E293B"/>
              </a:solidFill>
              <a:effectLst/>
              <a:latin typeface="Roboto Mono" pitchFamily="49" charset="0"/>
              <a:ea typeface="Roboto Mono" pitchFamily="49" charset="0"/>
              <a:cs typeface="Arial" panose="020B0604020202020204" pitchFamily="34" charset="0"/>
            </a:endParaRPr>
          </a:p>
          <a:p>
            <a:endParaRPr lang="en-RU" sz="1600" dirty="0">
              <a:latin typeface="Roboto Mono" pitchFamily="49" charset="0"/>
              <a:ea typeface="Roboto Mono" pitchFamily="49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0DA4A-8728-2CBD-8C8A-8A6C7EA82A41}"/>
              </a:ext>
            </a:extLst>
          </p:cNvPr>
          <p:cNvSpPr txBox="1">
            <a:spLocks/>
          </p:cNvSpPr>
          <p:nvPr/>
        </p:nvSpPr>
        <p:spPr>
          <a:xfrm>
            <a:off x="617264" y="370313"/>
            <a:ext cx="6464554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3600">
                <a:solidFill>
                  <a:schemeClr val="bg2"/>
                </a:solidFill>
              </a:rPr>
              <a:t>Команды</a:t>
            </a:r>
            <a:r>
              <a:rPr lang="en-US" sz="3600">
                <a:solidFill>
                  <a:schemeClr val="bg2"/>
                </a:solidFill>
              </a:rPr>
              <a:t> git</a:t>
            </a:r>
            <a:endParaRPr lang="en-RU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3627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6882C-9088-DBE9-6948-F41CB44D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402923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Live</a:t>
            </a:r>
          </a:p>
        </p:txBody>
      </p:sp>
      <p:pic>
        <p:nvPicPr>
          <p:cNvPr id="8194" name="Picture 2" descr="GitLab Basics: A Beginner's First Look | by Okan Yenigün | DevOps.dev">
            <a:extLst>
              <a:ext uri="{FF2B5EF4-FFF2-40B4-BE49-F238E27FC236}">
                <a16:creationId xmlns:a16="http://schemas.microsoft.com/office/drawing/2014/main" id="{9EC3B3D7-3E30-E72E-ECD6-6C2C0FC8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489" y="1857163"/>
            <a:ext cx="5382368" cy="335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09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9" name="Google Shape;86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745" y="200811"/>
            <a:ext cx="4779818" cy="63756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8F3C4BD-CF89-A845-58B6-3FB6F220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22" y="431636"/>
            <a:ext cx="6464554" cy="997196"/>
          </a:xfrm>
        </p:spPr>
        <p:txBody>
          <a:bodyPr/>
          <a:lstStyle/>
          <a:p>
            <a:pPr algn="l"/>
            <a:r>
              <a:rPr lang="ru-RU" sz="3600" dirty="0">
                <a:solidFill>
                  <a:schemeClr val="bg2"/>
                </a:solidFill>
              </a:rPr>
              <a:t>Стратегии ветвления</a:t>
            </a:r>
            <a:r>
              <a:rPr lang="en-US" sz="3600" dirty="0">
                <a:solidFill>
                  <a:schemeClr val="bg2"/>
                </a:solidFill>
              </a:rPr>
              <a:t>: </a:t>
            </a:r>
            <a:br>
              <a:rPr lang="ru-RU" sz="3600" dirty="0">
                <a:solidFill>
                  <a:schemeClr val="bg2"/>
                </a:solidFill>
              </a:rPr>
            </a:br>
            <a:r>
              <a:rPr lang="en-US" sz="3600" dirty="0">
                <a:solidFill>
                  <a:schemeClr val="bg2"/>
                </a:solidFill>
              </a:rPr>
              <a:t>Git Flow</a:t>
            </a:r>
            <a:endParaRPr lang="en-RU" sz="3600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65772-48F3-D98E-5C5E-9B8F3EF24A1D}"/>
              </a:ext>
            </a:extLst>
          </p:cNvPr>
          <p:cNvSpPr txBox="1"/>
          <p:nvPr/>
        </p:nvSpPr>
        <p:spPr>
          <a:xfrm>
            <a:off x="457200" y="1860931"/>
            <a:ext cx="56388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/>
              <a:t>Долгоживующие</a:t>
            </a:r>
            <a:r>
              <a:rPr lang="ru-RU" sz="1600" dirty="0"/>
              <a:t> ветки </a:t>
            </a:r>
            <a:r>
              <a:rPr lang="en-US" sz="1600" dirty="0"/>
              <a:t>develop </a:t>
            </a:r>
            <a:r>
              <a:rPr lang="ru-RU" sz="1600" dirty="0"/>
              <a:t>и </a:t>
            </a:r>
            <a:r>
              <a:rPr lang="en-US" sz="1600" dirty="0"/>
              <a:t>master:</a:t>
            </a:r>
            <a:endParaRPr lang="ru-RU" sz="1600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feature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Roboto Mono" pitchFamily="49" charset="0"/>
                <a:cs typeface="Arial" panose="020B0604020202020204" pitchFamily="34" charset="0"/>
              </a:rPr>
              <a:t>-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Roboto Mono" pitchFamily="49" charset="0"/>
                <a:cs typeface="Arial" panose="020B0604020202020204" pitchFamily="34" charset="0"/>
              </a:rPr>
              <a:t>ветки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ea typeface="Roboto Mono" pitchFamily="49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develop</a:t>
            </a:r>
            <a:r>
              <a:rPr lang="en-US" sz="1600" dirty="0"/>
              <a:t> -</a:t>
            </a:r>
            <a:r>
              <a:rPr lang="ru-RU" sz="1600" dirty="0"/>
              <a:t> интеграционная ветка - сюда </a:t>
            </a:r>
            <a:r>
              <a:rPr lang="ru-RU" sz="1600" dirty="0" err="1"/>
              <a:t>мержатся</a:t>
            </a:r>
            <a:r>
              <a:rPr lang="ru-RU" sz="1600" dirty="0"/>
              <a:t> все новые фичи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release</a:t>
            </a:r>
            <a:r>
              <a:rPr lang="en-US" sz="1600" dirty="0"/>
              <a:t> - </a:t>
            </a:r>
            <a:r>
              <a:rPr lang="ru-RU" sz="1600" dirty="0"/>
              <a:t>ветка с «отрезанной» от </a:t>
            </a:r>
            <a:r>
              <a:rPr lang="ru-RU" sz="1600" dirty="0" err="1"/>
              <a:t>d</a:t>
            </a:r>
            <a:r>
              <a:rPr lang="en-US" sz="1600" dirty="0" err="1"/>
              <a:t>evelop</a:t>
            </a:r>
            <a:r>
              <a:rPr lang="en-US" sz="1600" dirty="0"/>
              <a:t> </a:t>
            </a:r>
            <a:r>
              <a:rPr lang="ru-RU" sz="1600" dirty="0"/>
              <a:t>функциональность</a:t>
            </a:r>
            <a:r>
              <a:rPr lang="en-US" sz="1600" dirty="0" err="1"/>
              <a:t>ю</a:t>
            </a:r>
            <a:r>
              <a:rPr lang="ru-RU" sz="1600" dirty="0"/>
              <a:t>, которая будет </a:t>
            </a:r>
            <a:r>
              <a:rPr lang="ru-RU" sz="1600" dirty="0" err="1"/>
              <a:t>релизиться</a:t>
            </a:r>
            <a:endParaRPr lang="ru-RU" sz="1600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hotfix</a:t>
            </a:r>
            <a:endParaRPr lang="ru-RU" sz="1600" dirty="0">
              <a:solidFill>
                <a:schemeClr val="accent3"/>
              </a:solidFill>
              <a:latin typeface="Roboto Mono" pitchFamily="49" charset="0"/>
              <a:ea typeface="Roboto Mono" pitchFamily="49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master</a:t>
            </a:r>
            <a:r>
              <a:rPr lang="en-US" sz="1600" dirty="0"/>
              <a:t>/</a:t>
            </a:r>
            <a:r>
              <a:rPr lang="en-US" sz="1600" dirty="0">
                <a:solidFill>
                  <a:schemeClr val="accent3"/>
                </a:solidFill>
                <a:latin typeface="Roboto Mono" pitchFamily="49" charset="0"/>
                <a:ea typeface="Roboto Mono" pitchFamily="49" charset="0"/>
              </a:rPr>
              <a:t>main</a:t>
            </a:r>
            <a:r>
              <a:rPr lang="en-US" sz="1600" dirty="0"/>
              <a:t> - </a:t>
            </a:r>
            <a:r>
              <a:rPr lang="ru-RU" sz="1600" dirty="0"/>
              <a:t>ветка с финальными релизами</a:t>
            </a:r>
          </a:p>
          <a:p>
            <a:endParaRPr lang="en-US" sz="1600" dirty="0"/>
          </a:p>
          <a:p>
            <a:endParaRPr lang="ru-RU" sz="1600" dirty="0"/>
          </a:p>
          <a:p>
            <a:r>
              <a:rPr lang="en-US" sz="1600" dirty="0"/>
              <a:t>→ </a:t>
            </a:r>
            <a:r>
              <a:rPr lang="ru-RU" sz="1600" dirty="0"/>
              <a:t>наиболее структурированный, но наиболее сложный</a:t>
            </a:r>
            <a:endParaRPr lang="en-RU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3C4BD-CF89-A845-58B6-3FB6F220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22" y="311951"/>
            <a:ext cx="6464554" cy="997196"/>
          </a:xfrm>
        </p:spPr>
        <p:txBody>
          <a:bodyPr/>
          <a:lstStyle/>
          <a:p>
            <a:pPr algn="l"/>
            <a:r>
              <a:rPr lang="ru-RU" sz="3600" dirty="0">
                <a:solidFill>
                  <a:schemeClr val="bg2"/>
                </a:solidFill>
              </a:rPr>
              <a:t>Стратегии ветвления</a:t>
            </a:r>
            <a:r>
              <a:rPr lang="en-US" sz="3600" dirty="0">
                <a:solidFill>
                  <a:schemeClr val="bg2"/>
                </a:solidFill>
              </a:rPr>
              <a:t>: </a:t>
            </a:r>
            <a:br>
              <a:rPr lang="en-US" sz="3600" dirty="0">
                <a:solidFill>
                  <a:schemeClr val="bg2"/>
                </a:solidFill>
              </a:rPr>
            </a:br>
            <a:r>
              <a:rPr lang="en-US" sz="3600" dirty="0">
                <a:solidFill>
                  <a:schemeClr val="bg2"/>
                </a:solidFill>
              </a:rPr>
              <a:t>GitHub Flow</a:t>
            </a:r>
            <a:endParaRPr lang="en-RU" sz="3600" dirty="0">
              <a:solidFill>
                <a:schemeClr val="bg2"/>
              </a:solidFill>
            </a:endParaRPr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7ED1E625-C825-CD4E-639E-4C9C1BBF3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72" y="2227634"/>
            <a:ext cx="5523294" cy="31608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E3EEDC41-2678-F5FE-0D4D-A4DF1626A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83" y="2227634"/>
            <a:ext cx="5929745" cy="31625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796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3C4BD-CF89-A845-58B6-3FB6F220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89" y="353511"/>
            <a:ext cx="10764982" cy="498598"/>
          </a:xfrm>
        </p:spPr>
        <p:txBody>
          <a:bodyPr/>
          <a:lstStyle/>
          <a:p>
            <a:pPr algn="l"/>
            <a:r>
              <a:rPr lang="en-RU" sz="3600" dirty="0">
                <a:solidFill>
                  <a:schemeClr val="bg2"/>
                </a:solidFill>
              </a:rPr>
              <a:t>Trunk based development</a:t>
            </a:r>
          </a:p>
        </p:txBody>
      </p:sp>
      <p:pic>
        <p:nvPicPr>
          <p:cNvPr id="4" name="Picture 3" descr="A diagram of a tree&#10;&#10;Description automatically generated">
            <a:extLst>
              <a:ext uri="{FF2B5EF4-FFF2-40B4-BE49-F238E27FC236}">
                <a16:creationId xmlns:a16="http://schemas.microsoft.com/office/drawing/2014/main" id="{D4603FC2-DEB2-4E91-CB41-3D2AD72B0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6041"/>
            <a:ext cx="5446201" cy="32049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 descr="A diagram of a tree branch&#10;&#10;Description automatically generated">
            <a:extLst>
              <a:ext uri="{FF2B5EF4-FFF2-40B4-BE49-F238E27FC236}">
                <a16:creationId xmlns:a16="http://schemas.microsoft.com/office/drawing/2014/main" id="{AFDAA614-7CAC-A8AB-8D90-F35FFADFC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99" y="2116041"/>
            <a:ext cx="5300560" cy="320498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174067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3C4BD-CF89-A845-58B6-3FB6F220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2" y="332592"/>
            <a:ext cx="10764982" cy="498598"/>
          </a:xfrm>
        </p:spPr>
        <p:txBody>
          <a:bodyPr/>
          <a:lstStyle/>
          <a:p>
            <a:pPr algn="l"/>
            <a:r>
              <a:rPr lang="en-RU" sz="3600" dirty="0">
                <a:solidFill>
                  <a:schemeClr val="bg2"/>
                </a:solidFill>
              </a:rPr>
              <a:t>Holly war: merge vs rebase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B37E43-6CF3-8A89-E26E-471C7CE4DF9E}"/>
              </a:ext>
            </a:extLst>
          </p:cNvPr>
          <p:cNvSpPr txBox="1"/>
          <p:nvPr/>
        </p:nvSpPr>
        <p:spPr>
          <a:xfrm>
            <a:off x="461621" y="1610924"/>
            <a:ext cx="4639412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RU" sz="1600" dirty="0">
                <a:solidFill>
                  <a:schemeClr val="accent3"/>
                </a:solidFill>
              </a:rPr>
              <a:t>merge</a:t>
            </a:r>
            <a:endParaRPr lang="en-RU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влитие через новый коммит - </a:t>
            </a:r>
            <a:r>
              <a:rPr lang="en-US" sz="1600" dirty="0"/>
              <a:t>merge commit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у </a:t>
            </a:r>
            <a:r>
              <a:rPr lang="en-US" sz="1600" dirty="0"/>
              <a:t>merge commit </a:t>
            </a:r>
            <a:r>
              <a:rPr lang="ru-RU" sz="1600" dirty="0"/>
              <a:t>два родительских коммита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сохраняет полную историю изменений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усложняет историю</a:t>
            </a:r>
            <a:endParaRPr lang="en-RU" sz="1600" dirty="0"/>
          </a:p>
          <a:p>
            <a:endParaRPr lang="en-RU" sz="1600" dirty="0"/>
          </a:p>
          <a:p>
            <a:endParaRPr lang="en-RU" sz="1600" dirty="0"/>
          </a:p>
          <a:p>
            <a:endParaRPr lang="en-RU" sz="1600" dirty="0"/>
          </a:p>
          <a:p>
            <a:endParaRPr lang="en-RU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1A779-130D-A1FA-2E9C-48D0F9DD4FED}"/>
              </a:ext>
            </a:extLst>
          </p:cNvPr>
          <p:cNvSpPr txBox="1"/>
          <p:nvPr/>
        </p:nvSpPr>
        <p:spPr>
          <a:xfrm>
            <a:off x="461621" y="3835937"/>
            <a:ext cx="5141151" cy="1308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RU" sz="1600" dirty="0">
                <a:solidFill>
                  <a:schemeClr val="accent3"/>
                </a:solidFill>
              </a:rPr>
              <a:t>rebase</a:t>
            </a:r>
            <a:endParaRPr lang="en-US" sz="1600" dirty="0">
              <a:solidFill>
                <a:schemeClr val="accent3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«перенос» коммитов с переписыванием истории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линейная история, простая для просмотра</a:t>
            </a:r>
            <a:endParaRPr lang="en-RU" sz="1600" dirty="0"/>
          </a:p>
          <a:p>
            <a:pPr>
              <a:spcBef>
                <a:spcPts val="600"/>
              </a:spcBef>
            </a:pPr>
            <a:endParaRPr lang="en-RU" sz="1600" dirty="0"/>
          </a:p>
        </p:txBody>
      </p:sp>
      <p:pic>
        <p:nvPicPr>
          <p:cNvPr id="6146" name="Picture 2" descr="Git Squash Merge Just Sweeps Problems under the Carpet">
            <a:extLst>
              <a:ext uri="{FF2B5EF4-FFF2-40B4-BE49-F238E27FC236}">
                <a16:creationId xmlns:a16="http://schemas.microsoft.com/office/drawing/2014/main" id="{3CBFDDFD-9E21-439E-BF77-EDD62A692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824" y="1023762"/>
            <a:ext cx="5806555" cy="510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8134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6882C-9088-DBE9-6948-F41CB44D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71" y="315375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Git: conflicts</a:t>
            </a:r>
          </a:p>
        </p:txBody>
      </p:sp>
      <p:pic>
        <p:nvPicPr>
          <p:cNvPr id="71682" name="Picture 2" descr="Resolve Git conflicts | WebStorm Documentation">
            <a:extLst>
              <a:ext uri="{FF2B5EF4-FFF2-40B4-BE49-F238E27FC236}">
                <a16:creationId xmlns:a16="http://schemas.microsoft.com/office/drawing/2014/main" id="{A1DFD823-9FF2-CFB3-365E-A23CA8C8D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006" y="1825625"/>
            <a:ext cx="9805987" cy="4096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919;p103">
            <a:extLst>
              <a:ext uri="{FF2B5EF4-FFF2-40B4-BE49-F238E27FC236}">
                <a16:creationId xmlns:a16="http://schemas.microsoft.com/office/drawing/2014/main" id="{A53674B7-2DFB-AC5A-085A-875B43BA01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0697" y="516321"/>
            <a:ext cx="4400550" cy="1209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508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6882C-9088-DBE9-6948-F41CB44D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27" y="402923"/>
            <a:ext cx="10515600" cy="896145"/>
          </a:xfrm>
        </p:spPr>
        <p:txBody>
          <a:bodyPr/>
          <a:lstStyle/>
          <a:p>
            <a:r>
              <a:rPr lang="en-RU" dirty="0">
                <a:solidFill>
                  <a:schemeClr val="bg2"/>
                </a:solidFill>
              </a:rPr>
              <a:t>git bisect</a:t>
            </a:r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86B56101-445C-3B0C-E920-B6EBBE523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588" y="1958974"/>
            <a:ext cx="7656824" cy="29400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832978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00"/>
          <p:cNvSpPr txBox="1">
            <a:spLocks noGrp="1"/>
          </p:cNvSpPr>
          <p:nvPr>
            <p:ph type="title"/>
          </p:nvPr>
        </p:nvSpPr>
        <p:spPr>
          <a:xfrm>
            <a:off x="620713" y="583317"/>
            <a:ext cx="5475300" cy="1828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Спасибо за внимание!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7454827"/>
      </p:ext>
    </p:extLst>
  </p:cSld>
  <p:clrMapOvr>
    <a:masterClrMapping/>
  </p:clrMapOvr>
</p:sld>
</file>

<file path=ppt/theme/theme1.xml><?xml version="1.0" encoding="utf-8"?>
<a:theme xmlns:a="http://schemas.openxmlformats.org/drawingml/2006/main" name="VK New Color">
  <a:themeElements>
    <a:clrScheme name="VK 2021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8024C0"/>
      </a:accent2>
      <a:accent3>
        <a:srgbClr val="FF3885"/>
      </a:accent3>
      <a:accent4>
        <a:srgbClr val="00EAFF"/>
      </a:accent4>
      <a:accent5>
        <a:srgbClr val="BEB6AE"/>
      </a:accent5>
      <a:accent6>
        <a:srgbClr val="17D685"/>
      </a:accent6>
      <a:hlink>
        <a:srgbClr val="0077FF"/>
      </a:hlink>
      <a:folHlink>
        <a:srgbClr val="A538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59787</TotalTime>
  <Words>1192</Words>
  <Application>Microsoft Macintosh PowerPoint</Application>
  <PresentationFormat>Widescreen</PresentationFormat>
  <Paragraphs>267</Paragraphs>
  <Slides>49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Consolas</vt:lpstr>
      <vt:lpstr>Play</vt:lpstr>
      <vt:lpstr>Calibri</vt:lpstr>
      <vt:lpstr>Roboto Mono</vt:lpstr>
      <vt:lpstr>VK New Color</vt:lpstr>
      <vt:lpstr>Введение. Знакомство с  Android OS. GIT</vt:lpstr>
      <vt:lpstr>Не забудьте отметиться!</vt:lpstr>
      <vt:lpstr>Познакомимся </vt:lpstr>
      <vt:lpstr>Преподаватели</vt:lpstr>
      <vt:lpstr>Менторы</vt:lpstr>
      <vt:lpstr> Hello Android!</vt:lpstr>
      <vt:lpstr>Какая ОС самая популярная в мире?</vt:lpstr>
      <vt:lpstr>Кто это?</vt:lpstr>
      <vt:lpstr>Andy Rubin</vt:lpstr>
      <vt:lpstr>Android OS</vt:lpstr>
      <vt:lpstr>HTC Dream/T-Mobile G1</vt:lpstr>
      <vt:lpstr>Android versions and desserts</vt:lpstr>
      <vt:lpstr>Early development and growth</vt:lpstr>
      <vt:lpstr>2014: Android 5.0 Lollipop</vt:lpstr>
      <vt:lpstr>Android 6.0 Marshmallow</vt:lpstr>
      <vt:lpstr>Wear OS (ex. Android Wear)</vt:lpstr>
      <vt:lpstr>Next Android versions</vt:lpstr>
      <vt:lpstr>Android variations</vt:lpstr>
      <vt:lpstr>Android OS</vt:lpstr>
      <vt:lpstr> Android OS: особенности разработки</vt:lpstr>
      <vt:lpstr>Особенности мобильной разработки</vt:lpstr>
      <vt:lpstr>Какие плюсы у Android?</vt:lpstr>
      <vt:lpstr>Какие минусы у Android? </vt:lpstr>
      <vt:lpstr>Андроид разработка не стоит на месте</vt:lpstr>
      <vt:lpstr>Архитектура Android</vt:lpstr>
      <vt:lpstr>Разработка под Android OS</vt:lpstr>
      <vt:lpstr>Правила игры</vt:lpstr>
      <vt:lpstr>PowerPoint Presentation</vt:lpstr>
      <vt:lpstr>Тесты</vt:lpstr>
      <vt:lpstr>Домашние задания</vt:lpstr>
      <vt:lpstr>Рубежные контроли, РК</vt:lpstr>
      <vt:lpstr>Что ожидаем по итогу семестра</vt:lpstr>
      <vt:lpstr>GIT</vt:lpstr>
      <vt:lpstr>Зачем понадобились VCS?</vt:lpstr>
      <vt:lpstr>VCS: git</vt:lpstr>
      <vt:lpstr>Repository</vt:lpstr>
      <vt:lpstr>Команды git</vt:lpstr>
      <vt:lpstr>PowerPoint Presentation</vt:lpstr>
      <vt:lpstr>PowerPoint Presentation</vt:lpstr>
      <vt:lpstr>PowerPoint Presentation</vt:lpstr>
      <vt:lpstr>PowerPoint Presentation</vt:lpstr>
      <vt:lpstr>Live</vt:lpstr>
      <vt:lpstr>Стратегии ветвления:  Git Flow</vt:lpstr>
      <vt:lpstr>Стратегии ветвления:  GitHub Flow</vt:lpstr>
      <vt:lpstr>Trunk based development</vt:lpstr>
      <vt:lpstr>Holly war: merge vs rebase</vt:lpstr>
      <vt:lpstr>Git: conflicts</vt:lpstr>
      <vt:lpstr>git bisect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Kotlin  Crash course</dc:title>
  <cp:lastModifiedBy>Pavel Galanin</cp:lastModifiedBy>
  <cp:revision>17</cp:revision>
  <dcterms:modified xsi:type="dcterms:W3CDTF">2025-10-07T17:17:33Z</dcterms:modified>
</cp:coreProperties>
</file>