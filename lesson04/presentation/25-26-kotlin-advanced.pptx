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37"/>
  </p:notesMasterIdLst>
  <p:sldIdLst>
    <p:sldId id="256" r:id="rId2"/>
    <p:sldId id="276" r:id="rId3"/>
    <p:sldId id="275" r:id="rId4"/>
    <p:sldId id="287" r:id="rId5"/>
    <p:sldId id="277" r:id="rId6"/>
    <p:sldId id="279" r:id="rId7"/>
    <p:sldId id="278" r:id="rId8"/>
    <p:sldId id="257" r:id="rId9"/>
    <p:sldId id="281" r:id="rId10"/>
    <p:sldId id="282" r:id="rId11"/>
    <p:sldId id="283" r:id="rId12"/>
    <p:sldId id="284" r:id="rId13"/>
    <p:sldId id="285" r:id="rId14"/>
    <p:sldId id="286" r:id="rId15"/>
    <p:sldId id="303" r:id="rId16"/>
    <p:sldId id="259" r:id="rId17"/>
    <p:sldId id="261" r:id="rId18"/>
    <p:sldId id="262" r:id="rId19"/>
    <p:sldId id="288" r:id="rId20"/>
    <p:sldId id="289" r:id="rId21"/>
    <p:sldId id="263" r:id="rId22"/>
    <p:sldId id="291" r:id="rId23"/>
    <p:sldId id="292" r:id="rId24"/>
    <p:sldId id="293" r:id="rId25"/>
    <p:sldId id="294" r:id="rId26"/>
    <p:sldId id="300" r:id="rId27"/>
    <p:sldId id="301" r:id="rId28"/>
    <p:sldId id="302" r:id="rId29"/>
    <p:sldId id="299" r:id="rId30"/>
    <p:sldId id="268" r:id="rId31"/>
    <p:sldId id="267" r:id="rId32"/>
    <p:sldId id="296" r:id="rId33"/>
    <p:sldId id="297" r:id="rId34"/>
    <p:sldId id="298" r:id="rId35"/>
    <p:sldId id="274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Consolas" panose="020B0609020204030204" pitchFamily="49" charset="0"/>
      <p:regular r:id="rId42"/>
      <p:bold r:id="rId43"/>
      <p:italic r:id="rId44"/>
      <p:boldItalic r:id="rId45"/>
    </p:embeddedFont>
    <p:embeddedFont>
      <p:font typeface="Play" pitchFamily="2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34">
          <p15:clr>
            <a:srgbClr val="A4A3A4"/>
          </p15:clr>
        </p15:guide>
        <p15:guide id="2" pos="3863">
          <p15:clr>
            <a:srgbClr val="A4A3A4"/>
          </p15:clr>
        </p15:guide>
        <p15:guide id="3" pos="3364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83FF"/>
    <a:srgbClr val="1D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A769CB-718A-492B-8718-FBFFD78639DB}">
  <a:tblStyle styleId="{45A769CB-718A-492B-8718-FBFFD78639DB}" styleName="Table_0">
    <a:wholeTbl>
      <a:tcTxStyle b="off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F"/>
          </a:solidFill>
        </a:fill>
      </a:tcStyle>
    </a:wholeTbl>
    <a:band1H>
      <a:tcTxStyle b="off" i="off"/>
      <a:tcStyle>
        <a:tcBdr/>
        <a:fill>
          <a:solidFill>
            <a:srgbClr val="CAD5F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5F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SF Pro Text Light"/>
          <a:ea typeface="SF Pro Text Light"/>
          <a:cs typeface="SF Pro Text Light"/>
        </a:font>
        <a:srgbClr val="FFFFFF"/>
      </a:tcTxStyle>
      <a:tcStyle>
        <a:tcBdr/>
        <a:fill>
          <a:solidFill>
            <a:srgbClr val="0077FF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rgbClr val="FFFFFF"/>
      </a:tcTxStyle>
      <a:tcStyle>
        <a:tcBdr/>
        <a:fill>
          <a:solidFill>
            <a:srgbClr val="0077FF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0077FF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SF Pro Text Light"/>
          <a:ea typeface="SF Pro Text Light"/>
          <a:cs typeface="SF Pro Text Light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077FF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85659"/>
  </p:normalViewPr>
  <p:slideViewPr>
    <p:cSldViewPr snapToGrid="0">
      <p:cViewPr varScale="1">
        <p:scale>
          <a:sx n="94" d="100"/>
          <a:sy n="94" d="100"/>
        </p:scale>
        <p:origin x="216" y="544"/>
      </p:cViewPr>
      <p:guideLst>
        <p:guide orient="horz" pos="1434"/>
        <p:guide pos="3863"/>
        <p:guide pos="3364"/>
        <p:guide orient="horz" pos="7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c09599833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08" name="Google Shape;508;g2c0959983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b="1" dirty="0"/>
              <a:t>Что такое </a:t>
            </a:r>
            <a:r>
              <a:rPr lang="en-GB" b="1" dirty="0"/>
              <a:t>Generics </a:t>
            </a:r>
            <a:r>
              <a:rPr lang="ru-RU" b="1" dirty="0"/>
              <a:t>и зачем они нужны?</a:t>
            </a:r>
          </a:p>
          <a:p>
            <a:r>
              <a:rPr lang="en-GB" dirty="0"/>
              <a:t>Generics (</a:t>
            </a:r>
            <a:r>
              <a:rPr lang="ru-RU" dirty="0"/>
              <a:t>Обобщения) позволяют использовать единую логику для разных типов объектов. До появления дженериков, если мы хотели написать универсальную коллекцию, нам приходилось использовать базовый тип </a:t>
            </a:r>
            <a:r>
              <a:rPr lang="en-GB" dirty="0"/>
              <a:t>Any. </a:t>
            </a:r>
            <a:r>
              <a:rPr lang="ru-RU" dirty="0"/>
              <a:t>Это приводило к необходимости постоянно </a:t>
            </a:r>
            <a:r>
              <a:rPr lang="ru-RU" dirty="0" err="1"/>
              <a:t>кастовать</a:t>
            </a:r>
            <a:r>
              <a:rPr lang="ru-RU" dirty="0"/>
              <a:t> типы (</a:t>
            </a:r>
            <a:r>
              <a:rPr lang="en-GB" dirty="0"/>
              <a:t>type casting) </a:t>
            </a:r>
            <a:r>
              <a:rPr lang="ru-RU" dirty="0"/>
              <a:t>и высокому риску получить </a:t>
            </a:r>
            <a:r>
              <a:rPr lang="en-GB" dirty="0" err="1"/>
              <a:t>ClassCastException</a:t>
            </a:r>
            <a:r>
              <a:rPr lang="en-GB" dirty="0"/>
              <a:t> </a:t>
            </a:r>
            <a:r>
              <a:rPr lang="ru-RU" dirty="0"/>
              <a:t>в </a:t>
            </a:r>
            <a:r>
              <a:rPr lang="ru-RU" dirty="0" err="1"/>
              <a:t>рантайме</a:t>
            </a:r>
            <a:r>
              <a:rPr lang="ru-RU" dirty="0"/>
              <a:t>. </a:t>
            </a:r>
            <a:r>
              <a:rPr lang="en-GB" dirty="0"/>
              <a:t>Generics </a:t>
            </a:r>
            <a:r>
              <a:rPr lang="ru-RU" dirty="0"/>
              <a:t>переносят эту проверку на этап компиляции, обеспечивая строгую типизацию.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818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Можно на: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класс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метод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свойство</a:t>
            </a:r>
            <a:endParaRPr dirty="0"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6489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мы уже говорили, дженерики работают по принципу стирания типов (</a:t>
            </a:r>
            <a:r>
              <a:rPr lang="en-GB" dirty="0"/>
              <a:t>type erasure) — </a:t>
            </a:r>
            <a:r>
              <a:rPr lang="ru-RU" dirty="0"/>
              <a:t>информация о </a:t>
            </a:r>
            <a:r>
              <a:rPr lang="en-GB" dirty="0"/>
              <a:t>generic-</a:t>
            </a:r>
            <a:r>
              <a:rPr lang="ru-RU" dirty="0"/>
              <a:t>типе не хранится в скомпилированном коде. Данные внутри коллекции хранятся в виде </a:t>
            </a:r>
            <a:r>
              <a:rPr lang="en-GB" dirty="0"/>
              <a:t>Any (</a:t>
            </a:r>
            <a:r>
              <a:rPr lang="ru-RU" dirty="0"/>
              <a:t>или </a:t>
            </a:r>
            <a:r>
              <a:rPr lang="en-GB" dirty="0"/>
              <a:t>Object </a:t>
            </a:r>
            <a:r>
              <a:rPr lang="ru-RU" dirty="0"/>
              <a:t>на уровне </a:t>
            </a:r>
            <a:r>
              <a:rPr lang="en-GB" dirty="0"/>
              <a:t>JVM), </a:t>
            </a:r>
            <a:r>
              <a:rPr lang="ru-RU" dirty="0"/>
              <a:t>а в местах использования компилятор автоматически подставляет приведение к нужному типу (</a:t>
            </a:r>
            <a:r>
              <a:rPr lang="en-GB" dirty="0"/>
              <a:t>cast).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Главная причина — </a:t>
            </a:r>
            <a:r>
              <a:rPr lang="ru-RU" b="1" dirty="0"/>
              <a:t>обратная совместимость исторического наследия </a:t>
            </a:r>
            <a:r>
              <a:rPr lang="en-GB" b="1" dirty="0"/>
              <a:t>JVM</a:t>
            </a:r>
            <a:r>
              <a:rPr lang="en-GB" dirty="0"/>
              <a:t>. </a:t>
            </a:r>
            <a:r>
              <a:rPr lang="ru-RU" dirty="0"/>
              <a:t>Дженерики появились только в </a:t>
            </a:r>
            <a:r>
              <a:rPr lang="en-GB" dirty="0"/>
              <a:t>Java 5. </a:t>
            </a:r>
            <a:r>
              <a:rPr lang="ru-RU" dirty="0"/>
              <a:t>До этого все коллекции работали с сырыми типами (</a:t>
            </a:r>
            <a:r>
              <a:rPr lang="en-GB" dirty="0"/>
              <a:t>raw types, </a:t>
            </a:r>
            <a:r>
              <a:rPr lang="ru-RU" dirty="0"/>
              <a:t>то есть просто с </a:t>
            </a:r>
            <a:r>
              <a:rPr lang="en-GB" dirty="0"/>
              <a:t>Object). </a:t>
            </a:r>
            <a:r>
              <a:rPr lang="ru-RU" dirty="0"/>
              <a:t>Чтобы старый байт-код (написанный до </a:t>
            </a:r>
            <a:r>
              <a:rPr lang="en-GB" dirty="0"/>
              <a:t>Java 5) </a:t>
            </a:r>
            <a:r>
              <a:rPr lang="ru-RU" dirty="0"/>
              <a:t>мог спокойно работать на новых виртуальных машинах, и чтобы новый код мог использовать старые библиотеки, разработчики решили не менять саму </a:t>
            </a:r>
            <a:r>
              <a:rPr lang="en-GB" dirty="0"/>
              <a:t>JVM. </a:t>
            </a:r>
            <a:r>
              <a:rPr lang="ru-RU" dirty="0"/>
              <a:t>Они реализовали дженерики исключительно как "синтаксический сахар" на уровне компилятора. Компилятор проверяет типы, убеждается, что всё безопасно, а потом... просто стирает их, превращая код в тот самый старый формат с </a:t>
            </a:r>
            <a:r>
              <a:rPr lang="en-GB" dirty="0"/>
              <a:t>Object </a:t>
            </a:r>
            <a:r>
              <a:rPr lang="ru-RU" dirty="0"/>
              <a:t>и явными кастами.</a:t>
            </a:r>
            <a:endParaRPr dirty="0"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3800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7836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1369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187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i="1" dirty="0">
                <a:solidFill>
                  <a:srgbClr val="8C8C8C"/>
                </a:solidFill>
                <a:effectLst/>
              </a:rPr>
              <a:t>// 3. Почему это безопасно?</a:t>
            </a:r>
            <a:br>
              <a:rPr lang="ru-RU" i="1" dirty="0">
                <a:solidFill>
                  <a:srgbClr val="8C8C8C"/>
                </a:solidFill>
                <a:effectLst/>
              </a:rPr>
            </a:br>
            <a:r>
              <a:rPr lang="ru-RU" i="1" dirty="0">
                <a:solidFill>
                  <a:srgbClr val="8C8C8C"/>
                </a:solidFill>
                <a:effectLst/>
              </a:rPr>
              <a:t>// Когда мы просим </a:t>
            </a:r>
            <a:r>
              <a:rPr lang="en-GB" i="1" dirty="0" err="1">
                <a:solidFill>
                  <a:srgbClr val="8C8C8C"/>
                </a:solidFill>
                <a:effectLst/>
              </a:rPr>
              <a:t>athletesList</a:t>
            </a:r>
            <a:r>
              <a:rPr lang="en-GB" i="1" dirty="0">
                <a:solidFill>
                  <a:srgbClr val="8C8C8C"/>
                </a:solidFill>
                <a:effectLst/>
              </a:rPr>
              <a:t> </a:t>
            </a:r>
            <a:r>
              <a:rPr lang="ru-RU" i="1" dirty="0">
                <a:solidFill>
                  <a:srgbClr val="8C8C8C"/>
                </a:solidFill>
                <a:effectLst/>
              </a:rPr>
              <a:t>дать нам следующего спортсмена, </a:t>
            </a:r>
            <a:br>
              <a:rPr lang="ru-RU" i="1" dirty="0">
                <a:solidFill>
                  <a:srgbClr val="8C8C8C"/>
                </a:solidFill>
                <a:effectLst/>
              </a:rPr>
            </a:br>
            <a:r>
              <a:rPr lang="ru-RU" i="1" dirty="0">
                <a:solidFill>
                  <a:srgbClr val="8C8C8C"/>
                </a:solidFill>
                <a:effectLst/>
              </a:rPr>
              <a:t>// под капотом вызывается </a:t>
            </a:r>
            <a:r>
              <a:rPr lang="en-GB" i="1" dirty="0" err="1">
                <a:solidFill>
                  <a:srgbClr val="8C8C8C"/>
                </a:solidFill>
                <a:effectLst/>
              </a:rPr>
              <a:t>DancerList</a:t>
            </a:r>
            <a:r>
              <a:rPr lang="en-GB" i="1" dirty="0">
                <a:solidFill>
                  <a:srgbClr val="8C8C8C"/>
                </a:solidFill>
                <a:effectLst/>
              </a:rPr>
              <a:t>, </a:t>
            </a:r>
            <a:r>
              <a:rPr lang="ru-RU" i="1" dirty="0">
                <a:solidFill>
                  <a:srgbClr val="8C8C8C"/>
                </a:solidFill>
                <a:effectLst/>
              </a:rPr>
              <a:t>который возвращает </a:t>
            </a:r>
            <a:r>
              <a:rPr lang="en-GB" i="1" dirty="0">
                <a:solidFill>
                  <a:srgbClr val="8C8C8C"/>
                </a:solidFill>
                <a:effectLst/>
              </a:rPr>
              <a:t>Dancer.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// </a:t>
            </a:r>
            <a:r>
              <a:rPr lang="ru-RU" i="1" dirty="0">
                <a:solidFill>
                  <a:srgbClr val="8C8C8C"/>
                </a:solidFill>
                <a:effectLst/>
              </a:rPr>
              <a:t>Так как любой </a:t>
            </a:r>
            <a:r>
              <a:rPr lang="en-GB" i="1" dirty="0">
                <a:solidFill>
                  <a:srgbClr val="8C8C8C"/>
                </a:solidFill>
                <a:effectLst/>
              </a:rPr>
              <a:t>Dancer </a:t>
            </a:r>
            <a:r>
              <a:rPr lang="ru-RU" i="1" dirty="0">
                <a:solidFill>
                  <a:srgbClr val="8C8C8C"/>
                </a:solidFill>
                <a:effectLst/>
              </a:rPr>
              <a:t>ГАРАНТИРОВАННО является </a:t>
            </a:r>
            <a:r>
              <a:rPr lang="en-GB" i="1" dirty="0">
                <a:solidFill>
                  <a:srgbClr val="8C8C8C"/>
                </a:solidFill>
                <a:effectLst/>
              </a:rPr>
              <a:t>Athlete, 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// </a:t>
            </a:r>
            <a:r>
              <a:rPr lang="ru-RU" i="1" dirty="0">
                <a:solidFill>
                  <a:srgbClr val="8C8C8C"/>
                </a:solidFill>
                <a:effectLst/>
              </a:rPr>
              <a:t>переменная </a:t>
            </a:r>
            <a:r>
              <a:rPr lang="en-GB" i="1" dirty="0">
                <a:solidFill>
                  <a:srgbClr val="8C8C8C"/>
                </a:solidFill>
                <a:effectLst/>
              </a:rPr>
              <a:t>next </a:t>
            </a:r>
            <a:r>
              <a:rPr lang="ru-RU" i="1" dirty="0">
                <a:solidFill>
                  <a:srgbClr val="8C8C8C"/>
                </a:solidFill>
                <a:effectLst/>
              </a:rPr>
              <a:t>получит правильный объект. Никаких ошибок приведения типов!</a:t>
            </a:r>
            <a:endParaRPr lang="ru-RU" dirty="0">
              <a:solidFill>
                <a:srgbClr val="080808"/>
              </a:solidFill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5251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913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2443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09599833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g2c0959983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2153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c095998332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g2c09599833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c095998332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g2c09599833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c095998332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Когда мы передаем функцию как параметр (лямбду), </a:t>
            </a:r>
            <a:r>
              <a:rPr lang="en-GB" dirty="0"/>
              <a:t>Kotlin </a:t>
            </a:r>
            <a:r>
              <a:rPr lang="ru-RU" dirty="0"/>
              <a:t>создает под капотом анонимный класс и выделяет под него память. В циклах это бьет по производительности. Модификатор </a:t>
            </a:r>
            <a:r>
              <a:rPr lang="en-GB" dirty="0"/>
              <a:t>inline </a:t>
            </a:r>
            <a:r>
              <a:rPr lang="ru-RU" dirty="0"/>
              <a:t>приказывает компилятору скопировать тело функции и лямбды прямо в место вызова. Память не выделяется, </a:t>
            </a:r>
            <a:r>
              <a:rPr lang="ru-RU" dirty="0" err="1"/>
              <a:t>оверхеда</a:t>
            </a:r>
            <a:r>
              <a:rPr lang="ru-RU" dirty="0"/>
              <a:t> нет. Большинство стандартных </a:t>
            </a:r>
            <a:r>
              <a:rPr lang="en-GB" dirty="0"/>
              <a:t>scope-</a:t>
            </a:r>
            <a:r>
              <a:rPr lang="ru-RU" dirty="0"/>
              <a:t>функций — </a:t>
            </a:r>
            <a:r>
              <a:rPr lang="ru-RU" dirty="0" err="1"/>
              <a:t>инлайновые</a:t>
            </a:r>
            <a:r>
              <a:rPr lang="ru-RU" dirty="0"/>
              <a:t>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Из-за обратной совместимости с </a:t>
            </a:r>
            <a:r>
              <a:rPr lang="en-GB" dirty="0"/>
              <a:t>Java, Kotlin </a:t>
            </a:r>
            <a:r>
              <a:rPr lang="ru-RU" dirty="0"/>
              <a:t>стирает типы дженериков в </a:t>
            </a:r>
            <a:r>
              <a:rPr lang="ru-RU" dirty="0" err="1"/>
              <a:t>рантайме</a:t>
            </a:r>
            <a:r>
              <a:rPr lang="ru-RU" dirty="0"/>
              <a:t> (</a:t>
            </a:r>
            <a:r>
              <a:rPr lang="en-GB" dirty="0"/>
              <a:t>Type Erasure). </a:t>
            </a:r>
            <a:r>
              <a:rPr lang="ru-RU" dirty="0"/>
              <a:t>Вы не можете написать </a:t>
            </a:r>
            <a:r>
              <a:rPr lang="en-GB" dirty="0"/>
              <a:t>T::</a:t>
            </a:r>
            <a:r>
              <a:rPr lang="en-GB" dirty="0" err="1"/>
              <a:t>class.java</a:t>
            </a:r>
            <a:r>
              <a:rPr lang="en-GB" dirty="0"/>
              <a:t> </a:t>
            </a:r>
            <a:r>
              <a:rPr lang="ru-RU" dirty="0"/>
              <a:t>внутри обычной функции. Но так как </a:t>
            </a:r>
            <a:r>
              <a:rPr lang="en-GB" dirty="0"/>
              <a:t>inline </a:t>
            </a:r>
            <a:r>
              <a:rPr lang="ru-RU" dirty="0"/>
              <a:t>копирует код в место вызова, компилятор на этапе вставки точно знает, какой тип там используется! Добавив модификатор </a:t>
            </a:r>
            <a:r>
              <a:rPr lang="en-GB" dirty="0"/>
              <a:t>reified </a:t>
            </a:r>
            <a:r>
              <a:rPr lang="ru-RU" dirty="0"/>
              <a:t>к дженерику </a:t>
            </a:r>
            <a:r>
              <a:rPr lang="ru-RU" dirty="0" err="1"/>
              <a:t>инлайн</a:t>
            </a:r>
            <a:r>
              <a:rPr lang="ru-RU" dirty="0"/>
              <a:t>-функции, мы сохраняем информацию о типе. Это избавляет нас от необходимости передавать </a:t>
            </a:r>
            <a:r>
              <a:rPr lang="en-GB" dirty="0"/>
              <a:t>Class&lt;T&gt; </a:t>
            </a:r>
            <a:r>
              <a:rPr lang="ru-RU" dirty="0"/>
              <a:t>параметром.</a:t>
            </a:r>
            <a:endParaRPr dirty="0"/>
          </a:p>
        </p:txBody>
      </p:sp>
      <p:sp>
        <p:nvSpPr>
          <p:cNvPr id="574" name="Google Shape;574;g2c09599833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c095998332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g2c09599833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559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c095998332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Делегаты — это тот инструмент, который позволяет сделать код невероятно чистым, убрав из него тонны </a:t>
            </a:r>
            <a:r>
              <a:rPr lang="ru-RU" dirty="0" err="1"/>
              <a:t>бойлерплейта</a:t>
            </a:r>
            <a:r>
              <a:rPr lang="ru-RU" dirty="0"/>
              <a:t>. </a:t>
            </a:r>
            <a:endParaRPr dirty="0"/>
          </a:p>
        </p:txBody>
      </p:sp>
      <p:sp>
        <p:nvSpPr>
          <p:cNvPr id="574" name="Google Shape;574;g2c09599833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3373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09599833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2c0959983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09599833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2c0959983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9990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09599833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2c0959983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7544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09599833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2c0959983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5372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c095998332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Делегаты — это тот инструмент, который позволяет сделать код невероятно чистым, убрав из него тонны </a:t>
            </a:r>
            <a:r>
              <a:rPr lang="ru-RU" dirty="0" err="1"/>
              <a:t>бойлерплейта</a:t>
            </a:r>
            <a:r>
              <a:rPr lang="ru-RU" dirty="0"/>
              <a:t>. </a:t>
            </a:r>
            <a:endParaRPr dirty="0"/>
          </a:p>
        </p:txBody>
      </p:sp>
      <p:sp>
        <p:nvSpPr>
          <p:cNvPr id="574" name="Google Shape;574;g2c09599833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10795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09599833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Обычно мы пишем код, компилятор всё строго проверяет, и программа работает по жестко заданному сценарию. Но код на </a:t>
            </a:r>
            <a:r>
              <a:rPr lang="en-GB" dirty="0"/>
              <a:t>Kotlin </a:t>
            </a:r>
            <a:r>
              <a:rPr lang="ru-RU" dirty="0"/>
              <a:t>или </a:t>
            </a:r>
            <a:r>
              <a:rPr lang="en-GB" dirty="0"/>
              <a:t>Java </a:t>
            </a:r>
            <a:r>
              <a:rPr lang="ru-RU" dirty="0"/>
              <a:t>исполняется на виртуальной машине. Эта виртуальная машина знает о всех свойствах, методах, классах и тому подобных вещах, которые есть в программе в момент её работы .</a:t>
            </a:r>
          </a:p>
          <a:p>
            <a:r>
              <a:rPr lang="ru-RU" dirty="0"/>
              <a:t>+1</a:t>
            </a:r>
          </a:p>
          <a:p>
            <a:r>
              <a:rPr lang="ru-RU" dirty="0"/>
              <a:t>Рефлексия (</a:t>
            </a:r>
            <a:r>
              <a:rPr lang="en-GB" dirty="0"/>
              <a:t>Reflection) — </a:t>
            </a:r>
            <a:r>
              <a:rPr lang="ru-RU" dirty="0"/>
              <a:t>это механизм, который позволяет программе изучать саму себя во время выполнения (</a:t>
            </a:r>
            <a:r>
              <a:rPr lang="en-GB" dirty="0"/>
              <a:t>runtime). </a:t>
            </a:r>
            <a:r>
              <a:rPr lang="ru-RU" dirty="0"/>
              <a:t>Программа может посмотреть, какие методы есть у неизвестного ей объекта, и даже вызвать их по строковому имени! Конечно, это не очень надежно, так как компилятор не сможет подсказать вам ошибку, если вы опечатаетесь в названии метода. Тем не менее, возможность такая есть, и на ней строятся многие мощные библиотеки.</a:t>
            </a:r>
          </a:p>
          <a:p>
            <a:r>
              <a:rPr lang="ru-RU" dirty="0"/>
              <a:t>+4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g2c0959983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619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09599833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g2c0959983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76782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09599833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g2c09599833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21427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c095998332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Делегаты — это тот инструмент, который позволяет сделать код невероятно чистым, убрав из него тонны </a:t>
            </a:r>
            <a:r>
              <a:rPr lang="ru-RU" dirty="0" err="1"/>
              <a:t>бойлерплейта</a:t>
            </a:r>
            <a:r>
              <a:rPr lang="ru-RU" dirty="0"/>
              <a:t>. </a:t>
            </a:r>
            <a:endParaRPr dirty="0"/>
          </a:p>
        </p:txBody>
      </p:sp>
      <p:sp>
        <p:nvSpPr>
          <p:cNvPr id="574" name="Google Shape;574;g2c09599833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53069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c095998332_0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Отличий всего два:</a:t>
            </a:r>
          </a:p>
          <a:p>
            <a:pPr>
              <a:buFont typeface="+mj-lt"/>
              <a:buAutoNum type="arabicPeriod"/>
            </a:pPr>
            <a:r>
              <a:rPr lang="ru-RU" dirty="0"/>
              <a:t>Как мы обращаемся к объекту внутри блока: через </a:t>
            </a:r>
            <a:r>
              <a:rPr lang="en-GB" dirty="0"/>
              <a:t>this (</a:t>
            </a:r>
            <a:r>
              <a:rPr lang="ru-RU" dirty="0"/>
              <a:t>как методы самого класса) или через </a:t>
            </a:r>
            <a:r>
              <a:rPr lang="en-GB" dirty="0"/>
              <a:t>it (</a:t>
            </a:r>
            <a:r>
              <a:rPr lang="ru-RU" dirty="0"/>
              <a:t>как аргумент лямбды).</a:t>
            </a:r>
          </a:p>
          <a:p>
            <a:pPr>
              <a:buFont typeface="+mj-lt"/>
              <a:buAutoNum type="arabicPeriod"/>
            </a:pPr>
            <a:r>
              <a:rPr lang="ru-RU" dirty="0"/>
              <a:t>Что возвращает функция: сам объект (удобно для цепочек) или результат выполнения последней строчки кода в лямбде.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6" name="Google Shape;656;g2c09599833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c182d38fdc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2c182d38fd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c182d38fdc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2c182d38fd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60190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c182d38fdc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2c182d38fd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27674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c182d38fdc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2c182d38fd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6683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c095998332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4" name="Google Shape;734;g2c095998332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2"/>
          <p:cNvPicPr preferRelativeResize="0"/>
          <p:nvPr/>
        </p:nvPicPr>
        <p:blipFill rotWithShape="1">
          <a:blip r:embed="rId2">
            <a:alphaModFix/>
          </a:blip>
          <a:srcRect l="3704" t="247" b="-247"/>
          <a:stretch/>
        </p:blipFill>
        <p:spPr>
          <a:xfrm>
            <a:off x="2225062" y="16938"/>
            <a:ext cx="996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>
            <a:spLocks noGrp="1"/>
          </p:cNvSpPr>
          <p:nvPr>
            <p:ph type="body" idx="1"/>
          </p:nvPr>
        </p:nvSpPr>
        <p:spPr>
          <a:xfrm>
            <a:off x="658813" y="3307439"/>
            <a:ext cx="1022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622261" y="1052209"/>
            <a:ext cx="10220325" cy="183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>
            <a:off x="658071" y="5503765"/>
            <a:ext cx="697010" cy="697010"/>
            <a:chOff x="658071" y="5503765"/>
            <a:chExt cx="697010" cy="697010"/>
          </a:xfrm>
        </p:grpSpPr>
        <p:grpSp>
          <p:nvGrpSpPr>
            <p:cNvPr id="58" name="Google Shape;58;p2"/>
            <p:cNvGrpSpPr/>
            <p:nvPr/>
          </p:nvGrpSpPr>
          <p:grpSpPr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5619750" y="295275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780486" y="3242471"/>
                <a:ext cx="635397" cy="396478"/>
              </a:xfrm>
              <a:custGeom>
                <a:avLst/>
                <a:gdLst/>
                <a:ahLst/>
                <a:cxnLst/>
                <a:rect l="l" t="t" r="r" b="b"/>
                <a:pathLst>
                  <a:path w="635397" h="396478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p2"/>
            <p:cNvSpPr/>
            <p:nvPr/>
          </p:nvSpPr>
          <p:spPr>
            <a:xfrm>
              <a:off x="775543" y="5715464"/>
              <a:ext cx="463247" cy="290797"/>
            </a:xfrm>
            <a:custGeom>
              <a:avLst/>
              <a:gdLst/>
              <a:ahLst/>
              <a:cxnLst/>
              <a:rect l="l" t="t" r="r" b="b"/>
              <a:pathLst>
                <a:path w="861139" h="540569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держание">
  <p:cSld name="Содержание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2681816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"/>
          <p:cNvSpPr txBox="1">
            <a:spLocks noGrp="1"/>
          </p:cNvSpPr>
          <p:nvPr>
            <p:ph type="body" idx="1"/>
          </p:nvPr>
        </p:nvSpPr>
        <p:spPr>
          <a:xfrm>
            <a:off x="4043363" y="692150"/>
            <a:ext cx="7489825" cy="55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  <a:def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одержание">
  <p:cSld name="1_Содержание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>
            <a:spLocks noGrp="1"/>
          </p:cNvSpPr>
          <p:nvPr>
            <p:ph type="pic" idx="2"/>
          </p:nvPr>
        </p:nvSpPr>
        <p:spPr>
          <a:xfrm>
            <a:off x="8112125" y="0"/>
            <a:ext cx="40798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1"/>
          </p:nvPr>
        </p:nvSpPr>
        <p:spPr>
          <a:xfrm>
            <a:off x="671513" y="1773238"/>
            <a:ext cx="5424487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  <a:defRPr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Титульный слайд раздела">
  <p:cSld name="3_Титульный слайд раздела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603172" y="1119966"/>
            <a:ext cx="462137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раздела">
  <p:cSld name="Титульный слайд раздела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>
            <a:spLocks noGrp="1"/>
          </p:cNvSpPr>
          <p:nvPr>
            <p:ph type="title"/>
          </p:nvPr>
        </p:nvSpPr>
        <p:spPr>
          <a:xfrm>
            <a:off x="603172" y="1119966"/>
            <a:ext cx="462137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9" name="Google Shape;79;p7"/>
          <p:cNvGrpSpPr/>
          <p:nvPr/>
        </p:nvGrpSpPr>
        <p:grpSpPr>
          <a:xfrm>
            <a:off x="7066328" y="0"/>
            <a:ext cx="5103281" cy="6858000"/>
            <a:chOff x="13297154" y="-2797570"/>
            <a:chExt cx="2934215" cy="3943120"/>
          </a:xfrm>
        </p:grpSpPr>
        <p:sp>
          <p:nvSpPr>
            <p:cNvPr id="80" name="Google Shape;80;p7"/>
            <p:cNvSpPr/>
            <p:nvPr/>
          </p:nvSpPr>
          <p:spPr>
            <a:xfrm>
              <a:off x="13297154" y="-2797533"/>
              <a:ext cx="856878" cy="985643"/>
            </a:xfrm>
            <a:custGeom>
              <a:avLst/>
              <a:gdLst/>
              <a:ahLst/>
              <a:cxnLst/>
              <a:rect l="l" t="t" r="r" b="b"/>
              <a:pathLst>
                <a:path w="856878" h="985643" extrusionOk="0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13297154" y="-1811708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13297154" y="-826063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13297154" y="159905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14335846" y="-2797533"/>
              <a:ext cx="856883" cy="985643"/>
            </a:xfrm>
            <a:custGeom>
              <a:avLst/>
              <a:gdLst/>
              <a:ahLst/>
              <a:cxnLst/>
              <a:rect l="l" t="t" r="r" b="b"/>
              <a:pathLst>
                <a:path w="856883" h="985643" extrusionOk="0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15374486" y="-2797570"/>
              <a:ext cx="856883" cy="985642"/>
            </a:xfrm>
            <a:custGeom>
              <a:avLst/>
              <a:gdLst/>
              <a:ahLst/>
              <a:cxnLst/>
              <a:rect l="l" t="t" r="r" b="b"/>
              <a:pathLst>
                <a:path w="856883" h="985642" extrusionOk="0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14335846" y="-1811708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4335846" y="-826063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15374486" y="-1811746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15374486" y="-826101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14335846" y="159905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15374486" y="159867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раздела">
  <p:cSld name="1_Титульный слайд раздела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603172" y="1119966"/>
            <a:ext cx="462137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Акцент">
  <p:cSld name="Акцент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999417" y="2971952"/>
            <a:ext cx="8193166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список">
  <p:cSld name="Заголовок + список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>
            <a:spLocks noGrp="1"/>
          </p:cNvSpPr>
          <p:nvPr>
            <p:ph type="body" idx="1"/>
          </p:nvPr>
        </p:nvSpPr>
        <p:spPr>
          <a:xfrm>
            <a:off x="6096000" y="692151"/>
            <a:ext cx="5437188" cy="550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165527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+ текст в две колонки">
  <p:cSld name="2_Заголовок + текст в две колонки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>
            <a:spLocks noGrp="1"/>
          </p:cNvSpPr>
          <p:nvPr>
            <p:ph type="body" idx="1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body" idx="2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фактоида + текст">
  <p:cSld name="2 фактоида + текст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body" idx="1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body" idx="2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3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4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5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без фото">
  <p:cSld name="Цитата без фото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2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body" idx="3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800" b="1" i="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">
  <p:cSld name="Цитата 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3013869" y="-1049149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800" b="1" i="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body" idx="1"/>
          </p:nvPr>
        </p:nvSpPr>
        <p:spPr>
          <a:xfrm>
            <a:off x="5346702" y="711409"/>
            <a:ext cx="6199186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>
            <a:spLocks noGrp="1"/>
          </p:cNvSpPr>
          <p:nvPr>
            <p:ph type="pic" idx="2"/>
          </p:nvPr>
        </p:nvSpPr>
        <p:spPr>
          <a:xfrm>
            <a:off x="671513" y="800101"/>
            <a:ext cx="3370771" cy="3371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3" name="Google Shape;123;p14"/>
          <p:cNvSpPr txBox="1">
            <a:spLocks noGrp="1"/>
          </p:cNvSpPr>
          <p:nvPr>
            <p:ph type="body" idx="3"/>
          </p:nvPr>
        </p:nvSpPr>
        <p:spPr>
          <a:xfrm>
            <a:off x="672592" y="4580422"/>
            <a:ext cx="3372026" cy="88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body" idx="4"/>
          </p:nvPr>
        </p:nvSpPr>
        <p:spPr>
          <a:xfrm>
            <a:off x="672592" y="5490168"/>
            <a:ext cx="3370771" cy="710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body" idx="5"/>
          </p:nvPr>
        </p:nvSpPr>
        <p:spPr>
          <a:xfrm>
            <a:off x="5346701" y="1983399"/>
            <a:ext cx="6194151" cy="416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а ">
  <p:cSld name="Мокап телефона 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>
            <a:spLocks noGrp="1"/>
          </p:cNvSpPr>
          <p:nvPr>
            <p:ph type="pic" idx="2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скриншот (1)">
  <p:cSld name="Заголовок + скриншот (1)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body" idx="2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текст">
  <p:cSld name="Заголовок + текст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Финальный слайд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620713" y="583317"/>
            <a:ext cx="5475287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658071" y="5503765"/>
            <a:ext cx="697010" cy="697010"/>
            <a:chOff x="658071" y="5503765"/>
            <a:chExt cx="697010" cy="697010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146" name="Google Shape;146;p18"/>
              <p:cNvSpPr/>
              <p:nvPr/>
            </p:nvSpPr>
            <p:spPr>
              <a:xfrm>
                <a:off x="5619750" y="295275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5780486" y="3242471"/>
                <a:ext cx="635397" cy="396478"/>
              </a:xfrm>
              <a:custGeom>
                <a:avLst/>
                <a:gdLst/>
                <a:ahLst/>
                <a:cxnLst/>
                <a:rect l="l" t="t" r="r" b="b"/>
                <a:pathLst>
                  <a:path w="635397" h="396478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" name="Google Shape;148;p18"/>
            <p:cNvSpPr/>
            <p:nvPr/>
          </p:nvSpPr>
          <p:spPr>
            <a:xfrm>
              <a:off x="775543" y="5715464"/>
              <a:ext cx="463247" cy="290797"/>
            </a:xfrm>
            <a:custGeom>
              <a:avLst/>
              <a:gdLst/>
              <a:ahLst/>
              <a:cxnLst/>
              <a:rect l="l" t="t" r="r" b="b"/>
              <a:pathLst>
                <a:path w="861139" h="540569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6449857" y="-1"/>
            <a:ext cx="5680147" cy="6857995"/>
            <a:chOff x="13083669" y="1592300"/>
            <a:chExt cx="3266072" cy="3943332"/>
          </a:xfrm>
        </p:grpSpPr>
        <p:sp>
          <p:nvSpPr>
            <p:cNvPr id="150" name="Google Shape;150;p18"/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/>
              <a:ahLst/>
              <a:cxnLst/>
              <a:rect l="l" t="t" r="r" b="b"/>
              <a:pathLst>
                <a:path w="610934" h="788668" extrusionOk="0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/>
              <a:ahLst/>
              <a:cxnLst/>
              <a:rect l="l" t="t" r="r" b="b"/>
              <a:pathLst>
                <a:path w="610930" h="788668" extrusionOk="0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/>
              <a:ahLst/>
              <a:cxnLst/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/>
              <a:ahLst/>
              <a:cxnLst/>
              <a:rect l="l" t="t" r="r" b="b"/>
              <a:pathLst>
                <a:path w="610934" h="788668" extrusionOk="0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/>
              <a:ahLst/>
              <a:cxnLst/>
              <a:rect l="l" t="t" r="r" b="b"/>
              <a:pathLst>
                <a:path w="610934" h="788671" extrusionOk="0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/>
              <a:ahLst/>
              <a:cxnLst/>
              <a:rect l="l" t="t" r="r" b="b"/>
              <a:pathLst>
                <a:path w="610930" h="788671" extrusionOk="0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/>
              <a:ahLst/>
              <a:cxnLst/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/>
              <a:ahLst/>
              <a:cxnLst/>
              <a:rect l="l" t="t" r="r" b="b"/>
              <a:pathLst>
                <a:path w="610934" h="788671" extrusionOk="0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/>
              <a:ahLst/>
              <a:cxnLst/>
              <a:rect l="l" t="t" r="r" b="b"/>
              <a:pathLst>
                <a:path w="610934" h="788674" extrusionOk="0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/>
              <a:ahLst/>
              <a:cxnLst/>
              <a:rect l="l" t="t" r="r" b="b"/>
              <a:pathLst>
                <a:path w="610930" h="788674" extrusionOk="0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/>
              <a:ahLst/>
              <a:cxnLst/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/>
              <a:ahLst/>
              <a:cxnLst/>
              <a:rect l="l" t="t" r="r" b="b"/>
              <a:pathLst>
                <a:path w="610934" h="788674" extrusionOk="0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/>
              <a:ahLst/>
              <a:cxnLst/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/>
              <a:ahLst/>
              <a:cxnLst/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/>
              <a:ahLst/>
              <a:cxnLst/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/>
              <a:ahLst/>
              <a:cxnLst/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/>
              <a:ahLst/>
              <a:cxnLst/>
              <a:rect l="l" t="t" r="r" b="b"/>
              <a:pathLst>
                <a:path w="610934" h="788664" extrusionOk="0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/>
              <a:ahLst/>
              <a:cxnLst/>
              <a:rect l="l" t="t" r="r" b="b"/>
              <a:pathLst>
                <a:path w="610930" h="788664" extrusionOk="0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/>
              <a:ahLst/>
              <a:cxnLst/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/>
              <a:ahLst/>
              <a:cxnLst/>
              <a:rect l="l" t="t" r="r" b="b"/>
              <a:pathLst>
                <a:path w="610934" h="788664" extrusionOk="0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 QR">
  <p:cSld name="Финальный с Q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620713" y="4372582"/>
            <a:ext cx="5475287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9"/>
          <p:cNvSpPr>
            <a:spLocks noGrp="1"/>
          </p:cNvSpPr>
          <p:nvPr>
            <p:ph type="pic" idx="2"/>
          </p:nvPr>
        </p:nvSpPr>
        <p:spPr>
          <a:xfrm>
            <a:off x="658813" y="692150"/>
            <a:ext cx="1289050" cy="128905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73" name="Google Shape;173;p19"/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</p:grpSpPr>
        <p:sp>
          <p:nvSpPr>
            <p:cNvPr id="174" name="Google Shape;174;p19"/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/>
              <a:ahLst/>
              <a:cxnLst/>
              <a:rect l="l" t="t" r="r" b="b"/>
              <a:pathLst>
                <a:path w="675557" h="788415" extrusionOk="0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/>
              <a:ahLst/>
              <a:cxnLst/>
              <a:rect l="l" t="t" r="r" b="b"/>
              <a:pathLst>
                <a:path w="675557" h="788412" extrusionOk="0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/>
              <a:ahLst/>
              <a:cxnLst/>
              <a:rect l="l" t="t" r="r" b="b"/>
              <a:pathLst>
                <a:path w="675554" h="788415" extrusionOk="0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/>
              <a:ahLst/>
              <a:cxnLst/>
              <a:rect l="l" t="t" r="r" b="b"/>
              <a:pathLst>
                <a:path w="675554" h="788412" extrusionOk="0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/>
              <a:ahLst/>
              <a:cxnLst/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/>
              <a:ahLst/>
              <a:cxnLst/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/>
              <a:ahLst/>
              <a:cxnLst/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/>
              <a:ahLst/>
              <a:cxnLst/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 QR + подпись">
  <p:cSld name="Финальный с QR + подпись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>
            <a:spLocks noGrp="1"/>
          </p:cNvSpPr>
          <p:nvPr>
            <p:ph type="title"/>
          </p:nvPr>
        </p:nvSpPr>
        <p:spPr>
          <a:xfrm>
            <a:off x="620713" y="3724882"/>
            <a:ext cx="5475287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0"/>
          <p:cNvSpPr>
            <a:spLocks noGrp="1"/>
          </p:cNvSpPr>
          <p:nvPr>
            <p:ph type="pic" idx="2"/>
          </p:nvPr>
        </p:nvSpPr>
        <p:spPr>
          <a:xfrm>
            <a:off x="658813" y="692150"/>
            <a:ext cx="1289050" cy="128905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 txBox="1">
            <a:spLocks noGrp="1"/>
          </p:cNvSpPr>
          <p:nvPr>
            <p:ph type="body" idx="1"/>
          </p:nvPr>
        </p:nvSpPr>
        <p:spPr>
          <a:xfrm>
            <a:off x="658813" y="5842000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98" name="Google Shape;198;p20"/>
          <p:cNvGrpSpPr/>
          <p:nvPr/>
        </p:nvGrpSpPr>
        <p:grpSpPr>
          <a:xfrm>
            <a:off x="7066328" y="0"/>
            <a:ext cx="5103281" cy="6858000"/>
            <a:chOff x="13297154" y="-2797570"/>
            <a:chExt cx="2934215" cy="3943120"/>
          </a:xfrm>
        </p:grpSpPr>
        <p:sp>
          <p:nvSpPr>
            <p:cNvPr id="199" name="Google Shape;199;p20"/>
            <p:cNvSpPr/>
            <p:nvPr/>
          </p:nvSpPr>
          <p:spPr>
            <a:xfrm>
              <a:off x="13297154" y="-2797533"/>
              <a:ext cx="856878" cy="985643"/>
            </a:xfrm>
            <a:custGeom>
              <a:avLst/>
              <a:gdLst/>
              <a:ahLst/>
              <a:cxnLst/>
              <a:rect l="l" t="t" r="r" b="b"/>
              <a:pathLst>
                <a:path w="856878" h="985643" extrusionOk="0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13297154" y="-1811708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13297154" y="-826063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13297154" y="159905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14335846" y="-2797533"/>
              <a:ext cx="856883" cy="985643"/>
            </a:xfrm>
            <a:custGeom>
              <a:avLst/>
              <a:gdLst/>
              <a:ahLst/>
              <a:cxnLst/>
              <a:rect l="l" t="t" r="r" b="b"/>
              <a:pathLst>
                <a:path w="856883" h="985643" extrusionOk="0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15374486" y="-2797570"/>
              <a:ext cx="856883" cy="985642"/>
            </a:xfrm>
            <a:custGeom>
              <a:avLst/>
              <a:gdLst/>
              <a:ahLst/>
              <a:cxnLst/>
              <a:rect l="l" t="t" r="r" b="b"/>
              <a:pathLst>
                <a:path w="856883" h="985642" extrusionOk="0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14335846" y="-1811708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14335846" y="-826063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15374486" y="-1811746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15374486" y="-826101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14335846" y="159905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15374486" y="159867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>
            <a:spLocks noGrp="1"/>
          </p:cNvSpPr>
          <p:nvPr>
            <p:ph type="body" idx="1"/>
          </p:nvPr>
        </p:nvSpPr>
        <p:spPr>
          <a:xfrm>
            <a:off x="658813" y="3307439"/>
            <a:ext cx="1022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title"/>
          </p:nvPr>
        </p:nvSpPr>
        <p:spPr>
          <a:xfrm>
            <a:off x="622261" y="1052209"/>
            <a:ext cx="10220325" cy="183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4" name="Google Shape;214;p21"/>
          <p:cNvGrpSpPr/>
          <p:nvPr/>
        </p:nvGrpSpPr>
        <p:grpSpPr>
          <a:xfrm>
            <a:off x="658071" y="5503765"/>
            <a:ext cx="697010" cy="697010"/>
            <a:chOff x="658071" y="5503765"/>
            <a:chExt cx="697010" cy="697010"/>
          </a:xfrm>
        </p:grpSpPr>
        <p:grpSp>
          <p:nvGrpSpPr>
            <p:cNvPr id="215" name="Google Shape;215;p21"/>
            <p:cNvGrpSpPr/>
            <p:nvPr/>
          </p:nvGrpSpPr>
          <p:grpSpPr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5619750" y="295275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5780486" y="3242471"/>
                <a:ext cx="635397" cy="396478"/>
              </a:xfrm>
              <a:custGeom>
                <a:avLst/>
                <a:gdLst/>
                <a:ahLst/>
                <a:cxnLst/>
                <a:rect l="l" t="t" r="r" b="b"/>
                <a:pathLst>
                  <a:path w="635397" h="396478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8" name="Google Shape;218;p21"/>
            <p:cNvSpPr/>
            <p:nvPr/>
          </p:nvSpPr>
          <p:spPr>
            <a:xfrm>
              <a:off x="775543" y="5715464"/>
              <a:ext cx="463247" cy="290797"/>
            </a:xfrm>
            <a:custGeom>
              <a:avLst/>
              <a:gdLst/>
              <a:ahLst/>
              <a:cxnLst/>
              <a:rect l="l" t="t" r="r" b="b"/>
              <a:pathLst>
                <a:path w="861139" h="540569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 раздела">
  <p:cSld name="2_Титульный слайд раздела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>
            <a:spLocks noGrp="1"/>
          </p:cNvSpPr>
          <p:nvPr>
            <p:ph type="title"/>
          </p:nvPr>
        </p:nvSpPr>
        <p:spPr>
          <a:xfrm>
            <a:off x="603172" y="1119966"/>
            <a:ext cx="462137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22"/>
          <p:cNvGrpSpPr/>
          <p:nvPr/>
        </p:nvGrpSpPr>
        <p:grpSpPr>
          <a:xfrm>
            <a:off x="7066328" y="0"/>
            <a:ext cx="5103281" cy="6858000"/>
            <a:chOff x="13297154" y="-2797570"/>
            <a:chExt cx="2934215" cy="3943120"/>
          </a:xfrm>
        </p:grpSpPr>
        <p:sp>
          <p:nvSpPr>
            <p:cNvPr id="222" name="Google Shape;222;p22"/>
            <p:cNvSpPr/>
            <p:nvPr/>
          </p:nvSpPr>
          <p:spPr>
            <a:xfrm>
              <a:off x="13297154" y="-2797533"/>
              <a:ext cx="856878" cy="985643"/>
            </a:xfrm>
            <a:custGeom>
              <a:avLst/>
              <a:gdLst/>
              <a:ahLst/>
              <a:cxnLst/>
              <a:rect l="l" t="t" r="r" b="b"/>
              <a:pathLst>
                <a:path w="856878" h="985643" extrusionOk="0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13297154" y="-1811708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13297154" y="-826063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13297154" y="159905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14335846" y="-2797533"/>
              <a:ext cx="856883" cy="985643"/>
            </a:xfrm>
            <a:custGeom>
              <a:avLst/>
              <a:gdLst/>
              <a:ahLst/>
              <a:cxnLst/>
              <a:rect l="l" t="t" r="r" b="b"/>
              <a:pathLst>
                <a:path w="856883" h="985643" extrusionOk="0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15374486" y="-2797570"/>
              <a:ext cx="856883" cy="985642"/>
            </a:xfrm>
            <a:custGeom>
              <a:avLst/>
              <a:gdLst/>
              <a:ahLst/>
              <a:cxnLst/>
              <a:rect l="l" t="t" r="r" b="b"/>
              <a:pathLst>
                <a:path w="856883" h="985642" extrusionOk="0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2"/>
            <p:cNvSpPr/>
            <p:nvPr/>
          </p:nvSpPr>
          <p:spPr>
            <a:xfrm>
              <a:off x="14335846" y="-1811708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14335846" y="-826063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15374486" y="-1811746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15374486" y="-826101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14335846" y="159905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15374486" y="159867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объект">
  <p:cSld name="Заголовок + объект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>
            <a:spLocks noGrp="1"/>
          </p:cNvSpPr>
          <p:nvPr>
            <p:ph type="body" idx="1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24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4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2 строки + объект">
  <p:cSld name="Заголовок в 2 строки + объект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>
            <a:spLocks noGrp="1"/>
          </p:cNvSpPr>
          <p:nvPr>
            <p:ph type="body" idx="1"/>
          </p:nvPr>
        </p:nvSpPr>
        <p:spPr>
          <a:xfrm>
            <a:off x="6311901" y="692150"/>
            <a:ext cx="5208586" cy="554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body" idx="2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2 объекта">
  <p:cSld name="Заголовок + 2 объекта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>
            <a:spLocks noGrp="1"/>
          </p:cNvSpPr>
          <p:nvPr>
            <p:ph type="body" idx="1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26"/>
          <p:cNvSpPr txBox="1">
            <a:spLocks noGrp="1"/>
          </p:cNvSpPr>
          <p:nvPr>
            <p:ph type="body" idx="2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2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6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актоид">
  <p:cSld name="1 фактоид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7"/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</p:grpSpPr>
        <p:sp>
          <p:nvSpPr>
            <p:cNvPr id="251" name="Google Shape;251;p27"/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/>
              <a:ahLst/>
              <a:cxnLst/>
              <a:rect l="l" t="t" r="r" b="b"/>
              <a:pathLst>
                <a:path w="675557" h="788415" extrusionOk="0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/>
              <a:ahLst/>
              <a:cxnLst/>
              <a:rect l="l" t="t" r="r" b="b"/>
              <a:pathLst>
                <a:path w="675557" h="788412" extrusionOk="0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/>
              <a:ahLst/>
              <a:cxnLst/>
              <a:rect l="l" t="t" r="r" b="b"/>
              <a:pathLst>
                <a:path w="675554" h="788415" extrusionOk="0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/>
              <a:ahLst/>
              <a:cxnLst/>
              <a:rect l="l" t="t" r="r" b="b"/>
              <a:pathLst>
                <a:path w="675554" h="788412" extrusionOk="0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/>
              <a:ahLst/>
              <a:cxnLst/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/>
              <a:ahLst/>
              <a:cxnLst/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/>
              <a:ahLst/>
              <a:cxnLst/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/>
              <a:ahLst/>
              <a:cxnLst/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27"/>
          <p:cNvSpPr txBox="1">
            <a:spLocks noGrp="1"/>
          </p:cNvSpPr>
          <p:nvPr>
            <p:ph type="body" idx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body" idx="2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700"/>
              <a:buNone/>
              <a:defRPr sz="167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0"/>
              <a:buChar char="•"/>
              <a:defRPr sz="18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0"/>
              <a:buChar char="−"/>
              <a:defRPr sz="18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0"/>
              <a:buChar char="•"/>
              <a:defRPr sz="18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0"/>
              <a:buChar char="•"/>
              <a:defRPr sz="18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фактоида">
  <p:cSld name="2 фактоида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8"/>
          <p:cNvGrpSpPr/>
          <p:nvPr/>
        </p:nvGrpSpPr>
        <p:grpSpPr>
          <a:xfrm>
            <a:off x="7156015" y="0"/>
            <a:ext cx="5016892" cy="6858000"/>
            <a:chOff x="7127683" y="0"/>
            <a:chExt cx="5045224" cy="6896730"/>
          </a:xfrm>
        </p:grpSpPr>
        <p:sp>
          <p:nvSpPr>
            <p:cNvPr id="276" name="Google Shape;276;p28"/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/>
              <a:ahLst/>
              <a:cxnLst/>
              <a:rect l="l" t="t" r="r" b="b"/>
              <a:pathLst>
                <a:path w="675557" h="788415" extrusionOk="0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/>
              <a:ahLst/>
              <a:cxnLst/>
              <a:rect l="l" t="t" r="r" b="b"/>
              <a:pathLst>
                <a:path w="675557" h="788412" extrusionOk="0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/>
              <a:ahLst/>
              <a:cxnLst/>
              <a:rect l="l" t="t" r="r" b="b"/>
              <a:pathLst>
                <a:path w="675557" h="788417" extrusionOk="0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/>
              <a:ahLst/>
              <a:cxnLst/>
              <a:rect l="l" t="t" r="r" b="b"/>
              <a:pathLst>
                <a:path w="675554" h="788415" extrusionOk="0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/>
              <a:ahLst/>
              <a:cxnLst/>
              <a:rect l="l" t="t" r="r" b="b"/>
              <a:pathLst>
                <a:path w="675554" h="788412" extrusionOk="0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/>
              <a:ahLst/>
              <a:cxnLst/>
              <a:rect l="l" t="t" r="r" b="b"/>
              <a:pathLst>
                <a:path w="675554" h="788417" extrusionOk="0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/>
              <a:ahLst/>
              <a:cxnLst/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/>
              <a:ahLst/>
              <a:cxnLst/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8"/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8"/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8"/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/>
              <a:ahLst/>
              <a:cxnLst/>
              <a:rect l="l" t="t" r="r" b="b"/>
              <a:pathLst>
                <a:path w="675551" h="788415" extrusionOk="0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/>
              <a:ahLst/>
              <a:cxnLst/>
              <a:rect l="l" t="t" r="r" b="b"/>
              <a:pathLst>
                <a:path w="675551" h="788412" extrusionOk="0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/>
              <a:ahLst/>
              <a:cxnLst/>
              <a:rect l="l" t="t" r="r" b="b"/>
              <a:pathLst>
                <a:path w="675551" h="788417" extrusionOk="0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p28"/>
          <p:cNvSpPr txBox="1">
            <a:spLocks noGrp="1"/>
          </p:cNvSpPr>
          <p:nvPr>
            <p:ph type="body" idx="1"/>
          </p:nvPr>
        </p:nvSpPr>
        <p:spPr>
          <a:xfrm>
            <a:off x="672853" y="3878709"/>
            <a:ext cx="8131144" cy="176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sz="115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body" idx="2"/>
          </p:nvPr>
        </p:nvSpPr>
        <p:spPr>
          <a:xfrm>
            <a:off x="672852" y="5715426"/>
            <a:ext cx="8131144" cy="48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body" idx="3"/>
          </p:nvPr>
        </p:nvSpPr>
        <p:spPr>
          <a:xfrm>
            <a:off x="671514" y="1045518"/>
            <a:ext cx="8131144" cy="176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sz="115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body" idx="4"/>
          </p:nvPr>
        </p:nvSpPr>
        <p:spPr>
          <a:xfrm>
            <a:off x="671513" y="2882235"/>
            <a:ext cx="8131144" cy="48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фактоида">
  <p:cSld name="4 фактоида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body" idx="2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body" idx="3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4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body" idx="5"/>
          </p:nvPr>
        </p:nvSpPr>
        <p:spPr>
          <a:xfrm>
            <a:off x="680012" y="3864033"/>
            <a:ext cx="5239525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29"/>
          <p:cNvSpPr txBox="1">
            <a:spLocks noGrp="1"/>
          </p:cNvSpPr>
          <p:nvPr>
            <p:ph type="body" idx="6"/>
          </p:nvPr>
        </p:nvSpPr>
        <p:spPr>
          <a:xfrm>
            <a:off x="680011" y="5058095"/>
            <a:ext cx="5239525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29"/>
          <p:cNvSpPr txBox="1">
            <a:spLocks noGrp="1"/>
          </p:cNvSpPr>
          <p:nvPr>
            <p:ph type="body" idx="7"/>
          </p:nvPr>
        </p:nvSpPr>
        <p:spPr>
          <a:xfrm>
            <a:off x="678673" y="1773238"/>
            <a:ext cx="5239525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body" idx="8"/>
          </p:nvPr>
        </p:nvSpPr>
        <p:spPr>
          <a:xfrm>
            <a:off x="678673" y="2967300"/>
            <a:ext cx="5239525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фактоида + текст">
  <p:cSld name="4 фактоида + текст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>
            <a:spLocks noGrp="1"/>
          </p:cNvSpPr>
          <p:nvPr>
            <p:ph type="body" idx="1"/>
          </p:nvPr>
        </p:nvSpPr>
        <p:spPr>
          <a:xfrm>
            <a:off x="5345018" y="617220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2"/>
          </p:nvPr>
        </p:nvSpPr>
        <p:spPr>
          <a:xfrm>
            <a:off x="5345017" y="1620441"/>
            <a:ext cx="2779200" cy="49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3"/>
          </p:nvPr>
        </p:nvSpPr>
        <p:spPr>
          <a:xfrm>
            <a:off x="5345018" y="2680786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body" idx="4"/>
          </p:nvPr>
        </p:nvSpPr>
        <p:spPr>
          <a:xfrm>
            <a:off x="5345017" y="3684008"/>
            <a:ext cx="27792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30"/>
          <p:cNvSpPr txBox="1">
            <a:spLocks noGrp="1"/>
          </p:cNvSpPr>
          <p:nvPr>
            <p:ph type="body" idx="5"/>
          </p:nvPr>
        </p:nvSpPr>
        <p:spPr>
          <a:xfrm>
            <a:off x="8424464" y="617220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6"/>
          </p:nvPr>
        </p:nvSpPr>
        <p:spPr>
          <a:xfrm>
            <a:off x="8424463" y="1620442"/>
            <a:ext cx="27792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body" idx="7"/>
          </p:nvPr>
        </p:nvSpPr>
        <p:spPr>
          <a:xfrm>
            <a:off x="8424465" y="2680786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30"/>
          <p:cNvSpPr txBox="1">
            <a:spLocks noGrp="1"/>
          </p:cNvSpPr>
          <p:nvPr>
            <p:ph type="body" idx="8"/>
          </p:nvPr>
        </p:nvSpPr>
        <p:spPr>
          <a:xfrm>
            <a:off x="8424463" y="3684008"/>
            <a:ext cx="27792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0"/>
          <p:cNvSpPr txBox="1">
            <a:spLocks noGrp="1"/>
          </p:cNvSpPr>
          <p:nvPr>
            <p:ph type="body" idx="9"/>
          </p:nvPr>
        </p:nvSpPr>
        <p:spPr>
          <a:xfrm>
            <a:off x="668348" y="2495796"/>
            <a:ext cx="3384000" cy="111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30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30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3366029" cy="160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фактоидов">
  <p:cSld name="6 фактоидов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>
            <a:spLocks noGrp="1"/>
          </p:cNvSpPr>
          <p:nvPr>
            <p:ph type="body" idx="1"/>
          </p:nvPr>
        </p:nvSpPr>
        <p:spPr>
          <a:xfrm>
            <a:off x="5345020" y="617220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body" idx="2"/>
          </p:nvPr>
        </p:nvSpPr>
        <p:spPr>
          <a:xfrm>
            <a:off x="5345020" y="145276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31"/>
          <p:cNvSpPr txBox="1">
            <a:spLocks noGrp="1"/>
          </p:cNvSpPr>
          <p:nvPr>
            <p:ph type="body" idx="3"/>
          </p:nvPr>
        </p:nvSpPr>
        <p:spPr>
          <a:xfrm>
            <a:off x="8375766" y="617220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31"/>
          <p:cNvSpPr txBox="1">
            <a:spLocks noGrp="1"/>
          </p:cNvSpPr>
          <p:nvPr>
            <p:ph type="body" idx="4"/>
          </p:nvPr>
        </p:nvSpPr>
        <p:spPr>
          <a:xfrm>
            <a:off x="8375766" y="145276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31"/>
          <p:cNvSpPr txBox="1">
            <a:spLocks noGrp="1"/>
          </p:cNvSpPr>
          <p:nvPr>
            <p:ph type="body" idx="5"/>
          </p:nvPr>
        </p:nvSpPr>
        <p:spPr>
          <a:xfrm>
            <a:off x="5345020" y="2293322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31"/>
          <p:cNvSpPr txBox="1">
            <a:spLocks noGrp="1"/>
          </p:cNvSpPr>
          <p:nvPr>
            <p:ph type="body" idx="6"/>
          </p:nvPr>
        </p:nvSpPr>
        <p:spPr>
          <a:xfrm>
            <a:off x="5345020" y="3128871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1"/>
          <p:cNvSpPr txBox="1">
            <a:spLocks noGrp="1"/>
          </p:cNvSpPr>
          <p:nvPr>
            <p:ph type="body" idx="7"/>
          </p:nvPr>
        </p:nvSpPr>
        <p:spPr>
          <a:xfrm>
            <a:off x="8375766" y="2293322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31"/>
          <p:cNvSpPr txBox="1">
            <a:spLocks noGrp="1"/>
          </p:cNvSpPr>
          <p:nvPr>
            <p:ph type="body" idx="8"/>
          </p:nvPr>
        </p:nvSpPr>
        <p:spPr>
          <a:xfrm>
            <a:off x="8375766" y="3128872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body" idx="9"/>
          </p:nvPr>
        </p:nvSpPr>
        <p:spPr>
          <a:xfrm>
            <a:off x="5345020" y="3971489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1"/>
          <p:cNvSpPr txBox="1">
            <a:spLocks noGrp="1"/>
          </p:cNvSpPr>
          <p:nvPr>
            <p:ph type="body" idx="13"/>
          </p:nvPr>
        </p:nvSpPr>
        <p:spPr>
          <a:xfrm>
            <a:off x="5345020" y="480703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31"/>
          <p:cNvSpPr txBox="1">
            <a:spLocks noGrp="1"/>
          </p:cNvSpPr>
          <p:nvPr>
            <p:ph type="body" idx="14"/>
          </p:nvPr>
        </p:nvSpPr>
        <p:spPr>
          <a:xfrm>
            <a:off x="8375766" y="3971489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31"/>
          <p:cNvSpPr txBox="1">
            <a:spLocks noGrp="1"/>
          </p:cNvSpPr>
          <p:nvPr>
            <p:ph type="body" idx="15"/>
          </p:nvPr>
        </p:nvSpPr>
        <p:spPr>
          <a:xfrm>
            <a:off x="8375766" y="480703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body" idx="16"/>
          </p:nvPr>
        </p:nvSpPr>
        <p:spPr>
          <a:xfrm>
            <a:off x="671513" y="2496201"/>
            <a:ext cx="3384000" cy="111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3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3366029" cy="160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фактоидов">
  <p:cSld name="9 фактоидов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body" idx="1"/>
          </p:nvPr>
        </p:nvSpPr>
        <p:spPr>
          <a:xfrm>
            <a:off x="5342973" y="621775"/>
            <a:ext cx="1764000" cy="806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32"/>
          <p:cNvSpPr txBox="1">
            <a:spLocks noGrp="1"/>
          </p:cNvSpPr>
          <p:nvPr>
            <p:ph type="body" idx="2"/>
          </p:nvPr>
        </p:nvSpPr>
        <p:spPr>
          <a:xfrm>
            <a:off x="5342973" y="143976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32"/>
          <p:cNvSpPr txBox="1">
            <a:spLocks noGrp="1"/>
          </p:cNvSpPr>
          <p:nvPr>
            <p:ph type="body" idx="3"/>
          </p:nvPr>
        </p:nvSpPr>
        <p:spPr>
          <a:xfrm>
            <a:off x="7395993" y="621775"/>
            <a:ext cx="1764000" cy="806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32"/>
          <p:cNvSpPr txBox="1">
            <a:spLocks noGrp="1"/>
          </p:cNvSpPr>
          <p:nvPr>
            <p:ph type="body" idx="4"/>
          </p:nvPr>
        </p:nvSpPr>
        <p:spPr>
          <a:xfrm>
            <a:off x="7395993" y="143976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32"/>
          <p:cNvSpPr txBox="1">
            <a:spLocks noGrp="1"/>
          </p:cNvSpPr>
          <p:nvPr>
            <p:ph type="body" idx="5"/>
          </p:nvPr>
        </p:nvSpPr>
        <p:spPr>
          <a:xfrm>
            <a:off x="9445338" y="621775"/>
            <a:ext cx="1764000" cy="806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32"/>
          <p:cNvSpPr txBox="1">
            <a:spLocks noGrp="1"/>
          </p:cNvSpPr>
          <p:nvPr>
            <p:ph type="body" idx="6"/>
          </p:nvPr>
        </p:nvSpPr>
        <p:spPr>
          <a:xfrm>
            <a:off x="9445338" y="143976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32"/>
          <p:cNvSpPr txBox="1">
            <a:spLocks noGrp="1"/>
          </p:cNvSpPr>
          <p:nvPr>
            <p:ph type="body" idx="7"/>
          </p:nvPr>
        </p:nvSpPr>
        <p:spPr>
          <a:xfrm>
            <a:off x="5342973" y="2524164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32"/>
          <p:cNvSpPr txBox="1">
            <a:spLocks noGrp="1"/>
          </p:cNvSpPr>
          <p:nvPr>
            <p:ph type="body" idx="8"/>
          </p:nvPr>
        </p:nvSpPr>
        <p:spPr>
          <a:xfrm>
            <a:off x="5342973" y="333580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32"/>
          <p:cNvSpPr txBox="1">
            <a:spLocks noGrp="1"/>
          </p:cNvSpPr>
          <p:nvPr>
            <p:ph type="body" idx="9"/>
          </p:nvPr>
        </p:nvSpPr>
        <p:spPr>
          <a:xfrm>
            <a:off x="7399668" y="2524164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9" name="Google Shape;349;p32"/>
          <p:cNvSpPr txBox="1">
            <a:spLocks noGrp="1"/>
          </p:cNvSpPr>
          <p:nvPr>
            <p:ph type="body" idx="13"/>
          </p:nvPr>
        </p:nvSpPr>
        <p:spPr>
          <a:xfrm>
            <a:off x="7399668" y="333580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32"/>
          <p:cNvSpPr txBox="1">
            <a:spLocks noGrp="1"/>
          </p:cNvSpPr>
          <p:nvPr>
            <p:ph type="body" idx="14"/>
          </p:nvPr>
        </p:nvSpPr>
        <p:spPr>
          <a:xfrm>
            <a:off x="9452688" y="2524164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32"/>
          <p:cNvSpPr txBox="1">
            <a:spLocks noGrp="1"/>
          </p:cNvSpPr>
          <p:nvPr>
            <p:ph type="body" idx="15"/>
          </p:nvPr>
        </p:nvSpPr>
        <p:spPr>
          <a:xfrm>
            <a:off x="9452688" y="333580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32"/>
          <p:cNvSpPr txBox="1">
            <a:spLocks noGrp="1"/>
          </p:cNvSpPr>
          <p:nvPr>
            <p:ph type="body" idx="16"/>
          </p:nvPr>
        </p:nvSpPr>
        <p:spPr>
          <a:xfrm>
            <a:off x="5342973" y="4348797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32"/>
          <p:cNvSpPr txBox="1">
            <a:spLocks noGrp="1"/>
          </p:cNvSpPr>
          <p:nvPr>
            <p:ph type="body" idx="17"/>
          </p:nvPr>
        </p:nvSpPr>
        <p:spPr>
          <a:xfrm>
            <a:off x="5342973" y="5157265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32"/>
          <p:cNvSpPr txBox="1">
            <a:spLocks noGrp="1"/>
          </p:cNvSpPr>
          <p:nvPr>
            <p:ph type="body" idx="18"/>
          </p:nvPr>
        </p:nvSpPr>
        <p:spPr>
          <a:xfrm>
            <a:off x="7395993" y="4348797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32"/>
          <p:cNvSpPr txBox="1">
            <a:spLocks noGrp="1"/>
          </p:cNvSpPr>
          <p:nvPr>
            <p:ph type="body" idx="19"/>
          </p:nvPr>
        </p:nvSpPr>
        <p:spPr>
          <a:xfrm>
            <a:off x="7395993" y="5157265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32"/>
          <p:cNvSpPr txBox="1">
            <a:spLocks noGrp="1"/>
          </p:cNvSpPr>
          <p:nvPr>
            <p:ph type="body" idx="20"/>
          </p:nvPr>
        </p:nvSpPr>
        <p:spPr>
          <a:xfrm>
            <a:off x="9445338" y="4348797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32"/>
          <p:cNvSpPr txBox="1">
            <a:spLocks noGrp="1"/>
          </p:cNvSpPr>
          <p:nvPr>
            <p:ph type="body" idx="21"/>
          </p:nvPr>
        </p:nvSpPr>
        <p:spPr>
          <a:xfrm>
            <a:off x="9445338" y="5157265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32"/>
          <p:cNvSpPr txBox="1">
            <a:spLocks noGrp="1"/>
          </p:cNvSpPr>
          <p:nvPr>
            <p:ph type="body" idx="22"/>
          </p:nvPr>
        </p:nvSpPr>
        <p:spPr>
          <a:xfrm>
            <a:off x="671513" y="2487267"/>
            <a:ext cx="3384000" cy="111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3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3366029" cy="160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32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фактоидов">
  <p:cSld name="8 фактоидов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>
            <a:spLocks noGrp="1"/>
          </p:cNvSpPr>
          <p:nvPr>
            <p:ph type="body" idx="1"/>
          </p:nvPr>
        </p:nvSpPr>
        <p:spPr>
          <a:xfrm>
            <a:off x="671513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33"/>
          <p:cNvSpPr txBox="1">
            <a:spLocks noGrp="1"/>
          </p:cNvSpPr>
          <p:nvPr>
            <p:ph type="body" idx="2"/>
          </p:nvPr>
        </p:nvSpPr>
        <p:spPr>
          <a:xfrm>
            <a:off x="671513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33"/>
          <p:cNvSpPr txBox="1">
            <a:spLocks noGrp="1"/>
          </p:cNvSpPr>
          <p:nvPr>
            <p:ph type="body" idx="3"/>
          </p:nvPr>
        </p:nvSpPr>
        <p:spPr>
          <a:xfrm>
            <a:off x="3433450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body" idx="4"/>
          </p:nvPr>
        </p:nvSpPr>
        <p:spPr>
          <a:xfrm>
            <a:off x="3433450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33"/>
          <p:cNvSpPr txBox="1">
            <a:spLocks noGrp="1"/>
          </p:cNvSpPr>
          <p:nvPr>
            <p:ph type="body" idx="5"/>
          </p:nvPr>
        </p:nvSpPr>
        <p:spPr>
          <a:xfrm>
            <a:off x="6195388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33"/>
          <p:cNvSpPr txBox="1">
            <a:spLocks noGrp="1"/>
          </p:cNvSpPr>
          <p:nvPr>
            <p:ph type="body" idx="6"/>
          </p:nvPr>
        </p:nvSpPr>
        <p:spPr>
          <a:xfrm>
            <a:off x="6195388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33"/>
          <p:cNvSpPr txBox="1">
            <a:spLocks noGrp="1"/>
          </p:cNvSpPr>
          <p:nvPr>
            <p:ph type="body" idx="7"/>
          </p:nvPr>
        </p:nvSpPr>
        <p:spPr>
          <a:xfrm>
            <a:off x="8957326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33"/>
          <p:cNvSpPr txBox="1">
            <a:spLocks noGrp="1"/>
          </p:cNvSpPr>
          <p:nvPr>
            <p:ph type="body" idx="8"/>
          </p:nvPr>
        </p:nvSpPr>
        <p:spPr>
          <a:xfrm>
            <a:off x="8957326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33"/>
          <p:cNvSpPr txBox="1">
            <a:spLocks noGrp="1"/>
          </p:cNvSpPr>
          <p:nvPr>
            <p:ph type="body" idx="9"/>
          </p:nvPr>
        </p:nvSpPr>
        <p:spPr>
          <a:xfrm>
            <a:off x="671513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33"/>
          <p:cNvSpPr txBox="1">
            <a:spLocks noGrp="1"/>
          </p:cNvSpPr>
          <p:nvPr>
            <p:ph type="body" idx="13"/>
          </p:nvPr>
        </p:nvSpPr>
        <p:spPr>
          <a:xfrm>
            <a:off x="671513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33"/>
          <p:cNvSpPr txBox="1">
            <a:spLocks noGrp="1"/>
          </p:cNvSpPr>
          <p:nvPr>
            <p:ph type="body" idx="14"/>
          </p:nvPr>
        </p:nvSpPr>
        <p:spPr>
          <a:xfrm>
            <a:off x="3433450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33"/>
          <p:cNvSpPr txBox="1">
            <a:spLocks noGrp="1"/>
          </p:cNvSpPr>
          <p:nvPr>
            <p:ph type="body" idx="15"/>
          </p:nvPr>
        </p:nvSpPr>
        <p:spPr>
          <a:xfrm>
            <a:off x="3433450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33"/>
          <p:cNvSpPr txBox="1">
            <a:spLocks noGrp="1"/>
          </p:cNvSpPr>
          <p:nvPr>
            <p:ph type="body" idx="16"/>
          </p:nvPr>
        </p:nvSpPr>
        <p:spPr>
          <a:xfrm>
            <a:off x="6195388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33"/>
          <p:cNvSpPr txBox="1">
            <a:spLocks noGrp="1"/>
          </p:cNvSpPr>
          <p:nvPr>
            <p:ph type="body" idx="17"/>
          </p:nvPr>
        </p:nvSpPr>
        <p:spPr>
          <a:xfrm>
            <a:off x="6195388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18"/>
          </p:nvPr>
        </p:nvSpPr>
        <p:spPr>
          <a:xfrm>
            <a:off x="8957326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19"/>
          </p:nvPr>
        </p:nvSpPr>
        <p:spPr>
          <a:xfrm>
            <a:off x="8957326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33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68554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а (android) ">
  <p:cSld name="Мокап телефона (android) 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52707" y="570016"/>
            <a:ext cx="2813039" cy="58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>
            <a:spLocks noGrp="1"/>
          </p:cNvSpPr>
          <p:nvPr>
            <p:ph type="pic" idx="2"/>
          </p:nvPr>
        </p:nvSpPr>
        <p:spPr>
          <a:xfrm>
            <a:off x="7764500" y="997907"/>
            <a:ext cx="2389452" cy="5034018"/>
          </a:xfrm>
          <a:prstGeom prst="roundRect">
            <a:avLst>
              <a:gd name="adj" fmla="val 10056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4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1 android)">
  <p:cSld name="Два мокапа телефона (1 android)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31474" y="570016"/>
            <a:ext cx="2813039" cy="58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46099" y="570016"/>
            <a:ext cx="2813039" cy="58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5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>
            <a:spLocks noGrp="1"/>
          </p:cNvSpPr>
          <p:nvPr>
            <p:ph type="pic" idx="2"/>
          </p:nvPr>
        </p:nvSpPr>
        <p:spPr>
          <a:xfrm>
            <a:off x="9057893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35"/>
          <p:cNvSpPr>
            <a:spLocks noGrp="1"/>
          </p:cNvSpPr>
          <p:nvPr>
            <p:ph type="pic" idx="3"/>
          </p:nvPr>
        </p:nvSpPr>
        <p:spPr>
          <a:xfrm>
            <a:off x="6343268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2 android) ">
  <p:cSld name="Два мокапа телефона (2 android) 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36"/>
          <p:cNvSpPr txBox="1">
            <a:spLocks noGrp="1"/>
          </p:cNvSpPr>
          <p:nvPr>
            <p:ph type="body" idx="1"/>
          </p:nvPr>
        </p:nvSpPr>
        <p:spPr>
          <a:xfrm>
            <a:off x="6850065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7" name="Google Shape;397;p36"/>
          <p:cNvSpPr txBox="1">
            <a:spLocks noGrp="1"/>
          </p:cNvSpPr>
          <p:nvPr>
            <p:ph type="title"/>
          </p:nvPr>
        </p:nvSpPr>
        <p:spPr>
          <a:xfrm>
            <a:off x="6855885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6"/>
          <p:cNvSpPr>
            <a:spLocks noGrp="1"/>
          </p:cNvSpPr>
          <p:nvPr>
            <p:ph type="pic" idx="2"/>
          </p:nvPr>
        </p:nvSpPr>
        <p:spPr>
          <a:xfrm>
            <a:off x="3469713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6"/>
          <p:cNvSpPr>
            <a:spLocks noGrp="1"/>
          </p:cNvSpPr>
          <p:nvPr>
            <p:ph type="pic" idx="3"/>
          </p:nvPr>
        </p:nvSpPr>
        <p:spPr>
          <a:xfrm>
            <a:off x="755088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00" name="Google Shape;40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3294" y="570016"/>
            <a:ext cx="2813039" cy="58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57919" y="570016"/>
            <a:ext cx="2813039" cy="588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Увеличенный мокап телефона (android) ">
  <p:cSld name="Увеличенный мокап телефона (android) 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5501" y="510641"/>
            <a:ext cx="4095037" cy="8573984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>
            <a:spLocks noGrp="1"/>
          </p:cNvSpPr>
          <p:nvPr>
            <p:ph type="pic" idx="2"/>
          </p:nvPr>
        </p:nvSpPr>
        <p:spPr>
          <a:xfrm>
            <a:off x="7274309" y="1146777"/>
            <a:ext cx="3457422" cy="7320329"/>
          </a:xfrm>
          <a:prstGeom prst="roundRect">
            <a:avLst>
              <a:gd name="adj" fmla="val 836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37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2448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2448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Мокап телефона ">
  <p:cSld name="1_Мокап телефона 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38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3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38"/>
          <p:cNvSpPr>
            <a:spLocks noGrp="1"/>
          </p:cNvSpPr>
          <p:nvPr>
            <p:ph type="pic" idx="2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1)">
  <p:cSld name="Два мокапа телефона (1)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39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39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8" name="Google Shape;41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05642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9"/>
          <p:cNvSpPr>
            <a:spLocks noGrp="1"/>
          </p:cNvSpPr>
          <p:nvPr>
            <p:ph type="pic" idx="2"/>
          </p:nvPr>
        </p:nvSpPr>
        <p:spPr>
          <a:xfrm>
            <a:off x="6174378" y="814745"/>
            <a:ext cx="2430752" cy="526077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20" name="Google Shape;420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4156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9"/>
          <p:cNvSpPr>
            <a:spLocks noGrp="1"/>
          </p:cNvSpPr>
          <p:nvPr>
            <p:ph type="pic" idx="3"/>
          </p:nvPr>
        </p:nvSpPr>
        <p:spPr>
          <a:xfrm>
            <a:off x="8982892" y="814745"/>
            <a:ext cx="2430752" cy="526077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2)">
  <p:cSld name="Два мокапа телефона (2)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40"/>
          <p:cNvSpPr txBox="1">
            <a:spLocks noGrp="1"/>
          </p:cNvSpPr>
          <p:nvPr>
            <p:ph type="body" idx="1"/>
          </p:nvPr>
        </p:nvSpPr>
        <p:spPr>
          <a:xfrm>
            <a:off x="6850065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5" name="Google Shape;425;p40"/>
          <p:cNvSpPr txBox="1">
            <a:spLocks noGrp="1"/>
          </p:cNvSpPr>
          <p:nvPr>
            <p:ph type="title"/>
          </p:nvPr>
        </p:nvSpPr>
        <p:spPr>
          <a:xfrm>
            <a:off x="6855885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6" name="Google Shape;426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3745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0"/>
          <p:cNvSpPr>
            <a:spLocks noGrp="1"/>
          </p:cNvSpPr>
          <p:nvPr>
            <p:ph type="pic" idx="2"/>
          </p:nvPr>
        </p:nvSpPr>
        <p:spPr>
          <a:xfrm>
            <a:off x="792481" y="814745"/>
            <a:ext cx="2430752" cy="526077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28" name="Google Shape;42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2259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0"/>
          <p:cNvSpPr>
            <a:spLocks noGrp="1"/>
          </p:cNvSpPr>
          <p:nvPr>
            <p:ph type="pic" idx="3"/>
          </p:nvPr>
        </p:nvSpPr>
        <p:spPr>
          <a:xfrm>
            <a:off x="3600995" y="814745"/>
            <a:ext cx="2430752" cy="526077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Увеличенный мокап телефона ">
  <p:cSld name="Увеличенный мокап телефона 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39500" y="335858"/>
            <a:ext cx="4496788" cy="8486219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1"/>
          <p:cNvSpPr>
            <a:spLocks noGrp="1"/>
          </p:cNvSpPr>
          <p:nvPr>
            <p:ph type="pic" idx="2"/>
          </p:nvPr>
        </p:nvSpPr>
        <p:spPr>
          <a:xfrm>
            <a:off x="7465328" y="860766"/>
            <a:ext cx="3441003" cy="744721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4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41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2448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2448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криншот (16:9)">
  <p:cSld name="Скриншот (16:9)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>
            <a:spLocks noGrp="1"/>
          </p:cNvSpPr>
          <p:nvPr>
            <p:ph type="pic" idx="2"/>
          </p:nvPr>
        </p:nvSpPr>
        <p:spPr>
          <a:xfrm>
            <a:off x="5671080" y="2083205"/>
            <a:ext cx="5866489" cy="35996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438" name="Google Shape;43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76900" y="1773238"/>
            <a:ext cx="5868988" cy="309967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2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42"/>
          <p:cNvSpPr txBox="1">
            <a:spLocks noGrp="1"/>
          </p:cNvSpPr>
          <p:nvPr>
            <p:ph type="body" idx="1"/>
          </p:nvPr>
        </p:nvSpPr>
        <p:spPr>
          <a:xfrm>
            <a:off x="671514" y="177323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1" name="Google Shape;441;p4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68554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">
  <p:cSld name="1 фото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44" name="Google Shape;444;p43"/>
          <p:cNvSpPr txBox="1">
            <a:spLocks noGrp="1"/>
          </p:cNvSpPr>
          <p:nvPr>
            <p:ph type="ftr" idx="11"/>
          </p:nvPr>
        </p:nvSpPr>
        <p:spPr>
          <a:xfrm>
            <a:off x="671514" y="167981"/>
            <a:ext cx="4663017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3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43"/>
          <p:cNvSpPr txBox="1">
            <a:spLocks noGrp="1"/>
          </p:cNvSpPr>
          <p:nvPr>
            <p:ph type="body" idx="1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 фото">
  <p:cSld name="1_1 фото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4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49" name="Google Shape;449;p44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 + подпись">
  <p:cSld name="1 фото + подпись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>
            <a:spLocks noGrp="1"/>
          </p:cNvSpPr>
          <p:nvPr>
            <p:ph type="pic" idx="2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53" name="Google Shape;453;p45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4" name="Google Shape;454;p45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5" name="Google Shape;455;p45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45"/>
          <p:cNvSpPr txBox="1">
            <a:spLocks noGrp="1"/>
          </p:cNvSpPr>
          <p:nvPr>
            <p:ph type="body" idx="4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в кружке">
  <p:cSld name="Фото в кружке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6"/>
          <p:cNvSpPr>
            <a:spLocks noGrp="1"/>
          </p:cNvSpPr>
          <p:nvPr>
            <p:ph type="pic" idx="2"/>
          </p:nvPr>
        </p:nvSpPr>
        <p:spPr>
          <a:xfrm>
            <a:off x="1608083" y="1773237"/>
            <a:ext cx="3156225" cy="31562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60" name="Google Shape;460;p46"/>
          <p:cNvSpPr txBox="1">
            <a:spLocks noGrp="1"/>
          </p:cNvSpPr>
          <p:nvPr>
            <p:ph type="title"/>
          </p:nvPr>
        </p:nvSpPr>
        <p:spPr>
          <a:xfrm>
            <a:off x="5340350" y="2201188"/>
            <a:ext cx="4891856" cy="1063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46"/>
          <p:cNvSpPr txBox="1">
            <a:spLocks noGrp="1"/>
          </p:cNvSpPr>
          <p:nvPr>
            <p:ph type="body" idx="1"/>
          </p:nvPr>
        </p:nvSpPr>
        <p:spPr>
          <a:xfrm>
            <a:off x="5337598" y="3441164"/>
            <a:ext cx="4894515" cy="1172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2" name="Google Shape;462;p46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сообществ">
  <p:cSld name="16 сообществ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7"/>
          <p:cNvSpPr>
            <a:spLocks noGrp="1"/>
          </p:cNvSpPr>
          <p:nvPr>
            <p:ph type="pic" idx="2"/>
          </p:nvPr>
        </p:nvSpPr>
        <p:spPr>
          <a:xfrm>
            <a:off x="5349730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47"/>
          <p:cNvSpPr>
            <a:spLocks noGrp="1"/>
          </p:cNvSpPr>
          <p:nvPr>
            <p:ph type="pic" idx="3"/>
          </p:nvPr>
        </p:nvSpPr>
        <p:spPr>
          <a:xfrm>
            <a:off x="6950627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47"/>
          <p:cNvSpPr>
            <a:spLocks noGrp="1"/>
          </p:cNvSpPr>
          <p:nvPr>
            <p:ph type="pic" idx="4"/>
          </p:nvPr>
        </p:nvSpPr>
        <p:spPr>
          <a:xfrm>
            <a:off x="8511197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47"/>
          <p:cNvSpPr>
            <a:spLocks noGrp="1"/>
          </p:cNvSpPr>
          <p:nvPr>
            <p:ph type="pic" idx="5"/>
          </p:nvPr>
        </p:nvSpPr>
        <p:spPr>
          <a:xfrm>
            <a:off x="10112094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7"/>
          <p:cNvSpPr>
            <a:spLocks noGrp="1"/>
          </p:cNvSpPr>
          <p:nvPr>
            <p:ph type="pic" idx="6"/>
          </p:nvPr>
        </p:nvSpPr>
        <p:spPr>
          <a:xfrm>
            <a:off x="5349730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7"/>
          <p:cNvSpPr>
            <a:spLocks noGrp="1"/>
          </p:cNvSpPr>
          <p:nvPr>
            <p:ph type="pic" idx="7"/>
          </p:nvPr>
        </p:nvSpPr>
        <p:spPr>
          <a:xfrm>
            <a:off x="6950627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47"/>
          <p:cNvSpPr>
            <a:spLocks noGrp="1"/>
          </p:cNvSpPr>
          <p:nvPr>
            <p:ph type="pic" idx="8"/>
          </p:nvPr>
        </p:nvSpPr>
        <p:spPr>
          <a:xfrm>
            <a:off x="8511197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47"/>
          <p:cNvSpPr>
            <a:spLocks noGrp="1"/>
          </p:cNvSpPr>
          <p:nvPr>
            <p:ph type="pic" idx="9"/>
          </p:nvPr>
        </p:nvSpPr>
        <p:spPr>
          <a:xfrm>
            <a:off x="10112094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47"/>
          <p:cNvSpPr>
            <a:spLocks noGrp="1"/>
          </p:cNvSpPr>
          <p:nvPr>
            <p:ph type="pic" idx="13"/>
          </p:nvPr>
        </p:nvSpPr>
        <p:spPr>
          <a:xfrm>
            <a:off x="5349730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47"/>
          <p:cNvSpPr>
            <a:spLocks noGrp="1"/>
          </p:cNvSpPr>
          <p:nvPr>
            <p:ph type="pic" idx="14"/>
          </p:nvPr>
        </p:nvSpPr>
        <p:spPr>
          <a:xfrm>
            <a:off x="6950627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47"/>
          <p:cNvSpPr>
            <a:spLocks noGrp="1"/>
          </p:cNvSpPr>
          <p:nvPr>
            <p:ph type="pic" idx="15"/>
          </p:nvPr>
        </p:nvSpPr>
        <p:spPr>
          <a:xfrm>
            <a:off x="8511197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47"/>
          <p:cNvSpPr>
            <a:spLocks noGrp="1"/>
          </p:cNvSpPr>
          <p:nvPr>
            <p:ph type="pic" idx="16"/>
          </p:nvPr>
        </p:nvSpPr>
        <p:spPr>
          <a:xfrm>
            <a:off x="10112094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47"/>
          <p:cNvSpPr>
            <a:spLocks noGrp="1"/>
          </p:cNvSpPr>
          <p:nvPr>
            <p:ph type="pic" idx="17"/>
          </p:nvPr>
        </p:nvSpPr>
        <p:spPr>
          <a:xfrm>
            <a:off x="5349730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47"/>
          <p:cNvSpPr>
            <a:spLocks noGrp="1"/>
          </p:cNvSpPr>
          <p:nvPr>
            <p:ph type="pic" idx="18"/>
          </p:nvPr>
        </p:nvSpPr>
        <p:spPr>
          <a:xfrm>
            <a:off x="6950627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47"/>
          <p:cNvSpPr>
            <a:spLocks noGrp="1"/>
          </p:cNvSpPr>
          <p:nvPr>
            <p:ph type="pic" idx="19"/>
          </p:nvPr>
        </p:nvSpPr>
        <p:spPr>
          <a:xfrm>
            <a:off x="8511197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47"/>
          <p:cNvSpPr>
            <a:spLocks noGrp="1"/>
          </p:cNvSpPr>
          <p:nvPr>
            <p:ph type="pic" idx="20"/>
          </p:nvPr>
        </p:nvSpPr>
        <p:spPr>
          <a:xfrm>
            <a:off x="10112094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47"/>
          <p:cNvSpPr txBox="1">
            <a:spLocks noGrp="1"/>
          </p:cNvSpPr>
          <p:nvPr>
            <p:ph type="body" idx="1"/>
          </p:nvPr>
        </p:nvSpPr>
        <p:spPr>
          <a:xfrm>
            <a:off x="671513" y="2550946"/>
            <a:ext cx="3371850" cy="368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47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47"/>
          <p:cNvSpPr txBox="1">
            <a:spLocks noGrp="1"/>
          </p:cNvSpPr>
          <p:nvPr>
            <p:ph type="title"/>
          </p:nvPr>
        </p:nvSpPr>
        <p:spPr>
          <a:xfrm>
            <a:off x="677334" y="692149"/>
            <a:ext cx="3366029" cy="1708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Финальный с QR + подпись">
  <p:cSld name="1_Финальный с QR + подпись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 txBox="1">
            <a:spLocks noGrp="1"/>
          </p:cNvSpPr>
          <p:nvPr>
            <p:ph type="title"/>
          </p:nvPr>
        </p:nvSpPr>
        <p:spPr>
          <a:xfrm>
            <a:off x="620713" y="3724882"/>
            <a:ext cx="5475287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48"/>
          <p:cNvSpPr>
            <a:spLocks noGrp="1"/>
          </p:cNvSpPr>
          <p:nvPr>
            <p:ph type="pic" idx="2"/>
          </p:nvPr>
        </p:nvSpPr>
        <p:spPr>
          <a:xfrm>
            <a:off x="658813" y="692150"/>
            <a:ext cx="1289050" cy="128905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48"/>
          <p:cNvSpPr txBox="1">
            <a:spLocks noGrp="1"/>
          </p:cNvSpPr>
          <p:nvPr>
            <p:ph type="body" idx="1"/>
          </p:nvPr>
        </p:nvSpPr>
        <p:spPr>
          <a:xfrm>
            <a:off x="658813" y="5842000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87" name="Google Shape;487;p48"/>
          <p:cNvGrpSpPr/>
          <p:nvPr/>
        </p:nvGrpSpPr>
        <p:grpSpPr>
          <a:xfrm>
            <a:off x="7066328" y="0"/>
            <a:ext cx="5103281" cy="6858000"/>
            <a:chOff x="13297154" y="-2797570"/>
            <a:chExt cx="2934215" cy="3943120"/>
          </a:xfrm>
        </p:grpSpPr>
        <p:sp>
          <p:nvSpPr>
            <p:cNvPr id="488" name="Google Shape;488;p48"/>
            <p:cNvSpPr/>
            <p:nvPr/>
          </p:nvSpPr>
          <p:spPr>
            <a:xfrm>
              <a:off x="13297154" y="-2797533"/>
              <a:ext cx="856878" cy="985643"/>
            </a:xfrm>
            <a:custGeom>
              <a:avLst/>
              <a:gdLst/>
              <a:ahLst/>
              <a:cxnLst/>
              <a:rect l="l" t="t" r="r" b="b"/>
              <a:pathLst>
                <a:path w="856878" h="985643" extrusionOk="0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8"/>
            <p:cNvSpPr/>
            <p:nvPr/>
          </p:nvSpPr>
          <p:spPr>
            <a:xfrm>
              <a:off x="13297154" y="-1811708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8"/>
            <p:cNvSpPr/>
            <p:nvPr/>
          </p:nvSpPr>
          <p:spPr>
            <a:xfrm>
              <a:off x="13297154" y="-826063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13297154" y="159905"/>
              <a:ext cx="856878" cy="985645"/>
            </a:xfrm>
            <a:custGeom>
              <a:avLst/>
              <a:gdLst/>
              <a:ahLst/>
              <a:cxnLst/>
              <a:rect l="l" t="t" r="r" b="b"/>
              <a:pathLst>
                <a:path w="856878" h="985645" extrusionOk="0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14335846" y="-2797533"/>
              <a:ext cx="856883" cy="985643"/>
            </a:xfrm>
            <a:custGeom>
              <a:avLst/>
              <a:gdLst/>
              <a:ahLst/>
              <a:cxnLst/>
              <a:rect l="l" t="t" r="r" b="b"/>
              <a:pathLst>
                <a:path w="856883" h="985643" extrusionOk="0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8"/>
            <p:cNvSpPr/>
            <p:nvPr/>
          </p:nvSpPr>
          <p:spPr>
            <a:xfrm>
              <a:off x="15374486" y="-2797570"/>
              <a:ext cx="856883" cy="985642"/>
            </a:xfrm>
            <a:custGeom>
              <a:avLst/>
              <a:gdLst/>
              <a:ahLst/>
              <a:cxnLst/>
              <a:rect l="l" t="t" r="r" b="b"/>
              <a:pathLst>
                <a:path w="856883" h="985642" extrusionOk="0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8"/>
            <p:cNvSpPr/>
            <p:nvPr/>
          </p:nvSpPr>
          <p:spPr>
            <a:xfrm>
              <a:off x="14335846" y="-1811708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8"/>
            <p:cNvSpPr/>
            <p:nvPr/>
          </p:nvSpPr>
          <p:spPr>
            <a:xfrm>
              <a:off x="14335846" y="-826063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8"/>
            <p:cNvSpPr/>
            <p:nvPr/>
          </p:nvSpPr>
          <p:spPr>
            <a:xfrm>
              <a:off x="15374486" y="-1811746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8"/>
            <p:cNvSpPr/>
            <p:nvPr/>
          </p:nvSpPr>
          <p:spPr>
            <a:xfrm>
              <a:off x="15374486" y="-826101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8"/>
            <p:cNvSpPr/>
            <p:nvPr/>
          </p:nvSpPr>
          <p:spPr>
            <a:xfrm>
              <a:off x="14335846" y="159905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8"/>
            <p:cNvSpPr/>
            <p:nvPr/>
          </p:nvSpPr>
          <p:spPr>
            <a:xfrm>
              <a:off x="15374486" y="159867"/>
              <a:ext cx="856883" cy="985645"/>
            </a:xfrm>
            <a:custGeom>
              <a:avLst/>
              <a:gdLst/>
              <a:ahLst/>
              <a:cxnLst/>
              <a:rect l="l" t="t" r="r" b="b"/>
              <a:pathLst>
                <a:path w="856883" h="985645" extrusionOk="0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9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49"/>
          <p:cNvSpPr txBox="1">
            <a:spLocks noGrp="1"/>
          </p:cNvSpPr>
          <p:nvPr>
            <p:ph type="body" idx="1"/>
          </p:nvPr>
        </p:nvSpPr>
        <p:spPr>
          <a:xfrm>
            <a:off x="658813" y="1773238"/>
            <a:ext cx="108558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3" name="Google Shape;503;p4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4" name="Google Shape;504;p49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4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4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F2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5110">
          <p15:clr>
            <a:srgbClr val="FDE53C"/>
          </p15:clr>
        </p15:guide>
        <p15:guide id="5" pos="2547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436">
          <p15:clr>
            <a:srgbClr val="FDE53C"/>
          </p15:clr>
        </p15:guide>
        <p15:guide id="8" orient="horz" pos="1117">
          <p15:clr>
            <a:srgbClr val="FDE53C"/>
          </p15:clr>
        </p15:guide>
        <p15:guide id="9" pos="2116">
          <p15:clr>
            <a:srgbClr val="FDE53C"/>
          </p15:clr>
        </p15:guide>
        <p15:guide id="10" pos="554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F20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0"/>
          <p:cNvSpPr txBox="1">
            <a:spLocks noGrp="1"/>
          </p:cNvSpPr>
          <p:nvPr>
            <p:ph type="body" idx="1"/>
          </p:nvPr>
        </p:nvSpPr>
        <p:spPr>
          <a:xfrm>
            <a:off x="649596" y="4690585"/>
            <a:ext cx="10223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dirty="0"/>
              <a:t>Павел Галанин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dirty="0"/>
              <a:t>2026</a:t>
            </a:r>
            <a:endParaRPr dirty="0"/>
          </a:p>
        </p:txBody>
      </p:sp>
      <p:sp>
        <p:nvSpPr>
          <p:cNvPr id="511" name="Google Shape;511;p50"/>
          <p:cNvSpPr txBox="1">
            <a:spLocks noGrp="1"/>
          </p:cNvSpPr>
          <p:nvPr>
            <p:ph type="title"/>
          </p:nvPr>
        </p:nvSpPr>
        <p:spPr>
          <a:xfrm>
            <a:off x="622300" y="1613417"/>
            <a:ext cx="10220400" cy="16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lang="ru-RU"/>
              <a:t>Kotlin</a:t>
            </a:r>
            <a:br>
              <a:rPr lang="ru-RU"/>
            </a:br>
            <a:br>
              <a:rPr lang="ru-RU" sz="1000"/>
            </a:br>
            <a:r>
              <a:rPr lang="ru-RU" sz="4000"/>
              <a:t>Advanced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FCA6-04BE-7BBF-5050-62D7B29B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чём поговорим</a:t>
            </a:r>
            <a:endParaRPr lang="en-RU" dirty="0"/>
          </a:p>
        </p:txBody>
      </p:sp>
      <p:sp>
        <p:nvSpPr>
          <p:cNvPr id="4" name="Google Shape;551;p53">
            <a:extLst>
              <a:ext uri="{FF2B5EF4-FFF2-40B4-BE49-F238E27FC236}">
                <a16:creationId xmlns:a16="http://schemas.microsoft.com/office/drawing/2014/main" id="{D12F5A1A-AEF1-B49E-B049-C49298D45533}"/>
              </a:ext>
            </a:extLst>
          </p:cNvPr>
          <p:cNvSpPr txBox="1"/>
          <p:nvPr/>
        </p:nvSpPr>
        <p:spPr>
          <a:xfrm>
            <a:off x="677334" y="2158598"/>
            <a:ext cx="438150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Generics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bg1"/>
                </a:solidFill>
              </a:rPr>
              <a:t>Лямба</a:t>
            </a:r>
            <a:r>
              <a:rPr lang="ru-RU" sz="2400" dirty="0">
                <a:solidFill>
                  <a:schemeClr val="bg1"/>
                </a:solidFill>
              </a:rPr>
              <a:t>-выражения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Делегаты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Рефлексия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Kotlin misc.</a:t>
            </a:r>
            <a:endParaRPr sz="2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90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A09F-4DE4-D88B-F65F-A8B00514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4" name="Picture 3" descr="A diagram of a java language&#10;&#10;Description automatically generated with medium confidence">
            <a:extLst>
              <a:ext uri="{FF2B5EF4-FFF2-40B4-BE49-F238E27FC236}">
                <a16:creationId xmlns:a16="http://schemas.microsoft.com/office/drawing/2014/main" id="{3EAFB84A-771B-B403-3389-7729BF2FFA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0"/>
          <a:stretch/>
        </p:blipFill>
        <p:spPr>
          <a:xfrm>
            <a:off x="-26064" y="0"/>
            <a:ext cx="12373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5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FCA6-04BE-7BBF-5050-62D7B29B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Generics</a:t>
            </a:r>
            <a:endParaRPr lang="en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53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 err="1"/>
              <a:t>Generic</a:t>
            </a:r>
            <a:r>
              <a:rPr lang="ru-RU" dirty="0"/>
              <a:t>-типы</a:t>
            </a:r>
            <a:r>
              <a:rPr lang="en-US" dirty="0"/>
              <a:t>: </a:t>
            </a:r>
            <a:r>
              <a:rPr lang="ru-RU" dirty="0"/>
              <a:t>зачем?</a:t>
            </a:r>
            <a:endParaRPr dirty="0"/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B5B5B90D-0484-53D7-6474-0D52086E7D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5" t="3337" r="2833" b="5416"/>
          <a:stretch/>
        </p:blipFill>
        <p:spPr>
          <a:xfrm>
            <a:off x="677334" y="1498599"/>
            <a:ext cx="10112991" cy="425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2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 err="1"/>
              <a:t>Generic</a:t>
            </a:r>
            <a:r>
              <a:rPr lang="ru-RU" dirty="0"/>
              <a:t>-типы</a:t>
            </a:r>
            <a:r>
              <a:rPr lang="en-US" dirty="0"/>
              <a:t>: </a:t>
            </a:r>
            <a:r>
              <a:rPr lang="ru-RU" dirty="0"/>
              <a:t>синтаксис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B6E0A9-0A13-71CB-2362-169B9C25A01C}"/>
              </a:ext>
            </a:extLst>
          </p:cNvPr>
          <p:cNvSpPr txBox="1"/>
          <p:nvPr/>
        </p:nvSpPr>
        <p:spPr>
          <a:xfrm>
            <a:off x="6974781" y="3734868"/>
            <a:ext cx="45583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2">
                    <a:lumMod val="85000"/>
                  </a:schemeClr>
                </a:solidFill>
              </a:rPr>
              <a:t>Стандартные обозначения: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600" b="1" dirty="0">
              <a:solidFill>
                <a:schemeClr val="tx2">
                  <a:lumMod val="8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85000"/>
                  </a:schemeClr>
                </a:solidFill>
              </a:rPr>
              <a:t>T (Type)</a:t>
            </a:r>
            <a:r>
              <a:rPr lang="en-GB" sz="1600" dirty="0">
                <a:solidFill>
                  <a:schemeClr val="tx2">
                    <a:lumMod val="85000"/>
                  </a:schemeClr>
                </a:solidFill>
              </a:rPr>
              <a:t> — </a:t>
            </a:r>
            <a:r>
              <a:rPr lang="ru-RU" sz="1600" dirty="0">
                <a:solidFill>
                  <a:schemeClr val="tx2">
                    <a:lumMod val="85000"/>
                  </a:schemeClr>
                </a:solidFill>
              </a:rPr>
              <a:t>базовый универсальный тип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85000"/>
                  </a:schemeClr>
                </a:solidFill>
              </a:rPr>
              <a:t>E (Element)</a:t>
            </a:r>
            <a:r>
              <a:rPr lang="en-GB" sz="1600" dirty="0">
                <a:solidFill>
                  <a:schemeClr val="tx2">
                    <a:lumMod val="85000"/>
                  </a:schemeClr>
                </a:solidFill>
              </a:rPr>
              <a:t> — </a:t>
            </a:r>
            <a:r>
              <a:rPr lang="ru-RU" sz="1600" dirty="0">
                <a:solidFill>
                  <a:schemeClr val="tx2">
                    <a:lumMod val="85000"/>
                  </a:schemeClr>
                </a:solidFill>
              </a:rPr>
              <a:t>элемент коллекции (</a:t>
            </a:r>
            <a:r>
              <a:rPr lang="en-GB" sz="1600" dirty="0">
                <a:solidFill>
                  <a:schemeClr val="tx2">
                    <a:lumMod val="85000"/>
                  </a:schemeClr>
                </a:solidFill>
              </a:rPr>
              <a:t>List&lt;E&gt;, Set&lt;E&gt;)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85000"/>
                  </a:schemeClr>
                </a:solidFill>
              </a:rPr>
              <a:t>K (Key)</a:t>
            </a:r>
            <a:r>
              <a:rPr lang="en-GB" sz="1600" dirty="0">
                <a:solidFill>
                  <a:schemeClr val="tx2">
                    <a:lumMod val="85000"/>
                  </a:schemeClr>
                </a:solidFill>
              </a:rPr>
              <a:t> — </a:t>
            </a:r>
            <a:r>
              <a:rPr lang="ru-RU" sz="1600" dirty="0">
                <a:solidFill>
                  <a:schemeClr val="tx2">
                    <a:lumMod val="85000"/>
                  </a:schemeClr>
                </a:solidFill>
              </a:rPr>
              <a:t>ключ (</a:t>
            </a:r>
            <a:r>
              <a:rPr lang="en-GB" sz="1600" dirty="0">
                <a:solidFill>
                  <a:schemeClr val="tx2">
                    <a:lumMod val="85000"/>
                  </a:schemeClr>
                </a:solidFill>
              </a:rPr>
              <a:t>Map&lt;K, V&gt;)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85000"/>
                  </a:schemeClr>
                </a:solidFill>
              </a:rPr>
              <a:t>V (Value)</a:t>
            </a:r>
            <a:r>
              <a:rPr lang="en-GB" sz="1600" dirty="0">
                <a:solidFill>
                  <a:schemeClr val="tx2">
                    <a:lumMod val="85000"/>
                  </a:schemeClr>
                </a:solidFill>
              </a:rPr>
              <a:t> — </a:t>
            </a:r>
            <a:r>
              <a:rPr lang="ru-RU" sz="1600" dirty="0">
                <a:solidFill>
                  <a:schemeClr val="tx2">
                    <a:lumMod val="85000"/>
                  </a:schemeClr>
                </a:solidFill>
              </a:rPr>
              <a:t>значение в словаре.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85000"/>
                  </a:schemeClr>
                </a:solidFill>
              </a:rPr>
              <a:t>R (Result)</a:t>
            </a:r>
            <a:r>
              <a:rPr lang="en-GB" sz="1600" dirty="0">
                <a:solidFill>
                  <a:schemeClr val="tx2">
                    <a:lumMod val="85000"/>
                  </a:schemeClr>
                </a:solidFill>
              </a:rPr>
              <a:t> — </a:t>
            </a:r>
            <a:r>
              <a:rPr lang="ru-RU" sz="1600" dirty="0">
                <a:solidFill>
                  <a:schemeClr val="tx2">
                    <a:lumMod val="85000"/>
                  </a:schemeClr>
                </a:solidFill>
              </a:rPr>
              <a:t>тип результата (часто - возвращаемое значение)</a:t>
            </a:r>
            <a:endParaRPr lang="en-RU" sz="1600" dirty="0">
              <a:solidFill>
                <a:schemeClr val="tx2">
                  <a:lumMod val="85000"/>
                </a:schemeClr>
              </a:solidFill>
            </a:endParaRPr>
          </a:p>
        </p:txBody>
      </p:sp>
      <p:pic>
        <p:nvPicPr>
          <p:cNvPr id="4" name="Picture 3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8467D896-2AD7-7FB5-6B6A-3236FBC33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441791"/>
            <a:ext cx="4987924" cy="1724490"/>
          </a:xfrm>
          <a:prstGeom prst="rect">
            <a:avLst/>
          </a:prstGeom>
        </p:spPr>
      </p:pic>
      <p:pic>
        <p:nvPicPr>
          <p:cNvPr id="7" name="Picture 6" descr="A black screen with white text and yellow text&#10;&#10;Description automatically generated">
            <a:extLst>
              <a:ext uri="{FF2B5EF4-FFF2-40B4-BE49-F238E27FC236}">
                <a16:creationId xmlns:a16="http://schemas.microsoft.com/office/drawing/2014/main" id="{649A65DD-9CC7-D5C3-2AF4-85D4CB717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3427852"/>
            <a:ext cx="4987924" cy="1357179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428199F-0A34-0849-9E52-BAD732DEA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4" y="5365750"/>
            <a:ext cx="3580767" cy="67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 err="1"/>
              <a:t>Generic</a:t>
            </a:r>
            <a:r>
              <a:rPr lang="ru-RU" dirty="0"/>
              <a:t>-типы</a:t>
            </a:r>
            <a:r>
              <a:rPr lang="en-US" dirty="0"/>
              <a:t>: </a:t>
            </a:r>
            <a:r>
              <a:rPr lang="ru-RU" dirty="0"/>
              <a:t>стирание типов</a:t>
            </a:r>
            <a:endParaRPr dirty="0"/>
          </a:p>
        </p:txBody>
      </p:sp>
      <p:pic>
        <p:nvPicPr>
          <p:cNvPr id="3" name="Picture 2" descr="A computer screen shot of white text&#10;&#10;Description automatically generated">
            <a:extLst>
              <a:ext uri="{FF2B5EF4-FFF2-40B4-BE49-F238E27FC236}">
                <a16:creationId xmlns:a16="http://schemas.microsoft.com/office/drawing/2014/main" id="{2618C838-70A6-A884-5DA2-C38AE0492C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644"/>
          <a:stretch/>
        </p:blipFill>
        <p:spPr>
          <a:xfrm>
            <a:off x="644048" y="2673951"/>
            <a:ext cx="4337387" cy="2058365"/>
          </a:xfrm>
          <a:prstGeom prst="rect">
            <a:avLst/>
          </a:prstGeom>
        </p:spPr>
      </p:pic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28ECD01-A8B3-DF76-D664-071922A1D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516" y="2354290"/>
            <a:ext cx="5859188" cy="269768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7FF1E2-4E4E-613F-B93E-36D0E4BB44C0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4981435" y="3703134"/>
            <a:ext cx="919081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1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 </a:t>
            </a:r>
            <a:r>
              <a:rPr lang="ru-RU" dirty="0" err="1"/>
              <a:t>Generic</a:t>
            </a:r>
            <a:r>
              <a:rPr lang="ru-RU" dirty="0"/>
              <a:t>-типы</a:t>
            </a:r>
            <a:endParaRPr dirty="0"/>
          </a:p>
        </p:txBody>
      </p:sp>
      <p:sp>
        <p:nvSpPr>
          <p:cNvPr id="517" name="Google Shape;517;p51"/>
          <p:cNvSpPr txBox="1"/>
          <p:nvPr/>
        </p:nvSpPr>
        <p:spPr>
          <a:xfrm>
            <a:off x="955246" y="1948475"/>
            <a:ext cx="5641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позволяют использовать единую логику для разных типов объектов с сохранением безопасности типов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518" name="Google Shape;51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033" y="2017187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1"/>
          <p:cNvSpPr txBox="1"/>
          <p:nvPr/>
        </p:nvSpPr>
        <p:spPr>
          <a:xfrm>
            <a:off x="955246" y="2847180"/>
            <a:ext cx="526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могут определяться для всего класса, для конкретной функции или поля</a:t>
            </a:r>
            <a:endParaRPr>
              <a:solidFill>
                <a:schemeClr val="tx2"/>
              </a:solidFill>
            </a:endParaRPr>
          </a:p>
        </p:txBody>
      </p:sp>
      <p:pic>
        <p:nvPicPr>
          <p:cNvPr id="520" name="Google Shape;52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033" y="2915886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1"/>
          <p:cNvSpPr txBox="1"/>
          <p:nvPr/>
        </p:nvSpPr>
        <p:spPr>
          <a:xfrm>
            <a:off x="955246" y="3737175"/>
            <a:ext cx="56418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стирание типов</a:t>
            </a:r>
            <a: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ru-RU" sz="1800" b="0" i="0" u="none" strike="noStrike" cap="none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 cap="none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erasure</a:t>
            </a:r>
            <a: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) – информация о </a:t>
            </a:r>
            <a:r>
              <a:rPr lang="ru-RU" sz="1800" b="0" i="0" u="none" strike="noStrike" cap="none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generic</a:t>
            </a:r>
            <a: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-типе не хранится в скомпилированном коде: данные хранятся в виде </a:t>
            </a:r>
            <a:r>
              <a:rPr lang="ru-RU" sz="1800" b="0" i="0" u="none" strike="noStrike" cap="none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(Object), в местах использования – приведение к нужному типу</a:t>
            </a:r>
            <a:b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chemeClr val="tx2"/>
              </a:solidFill>
            </a:endParaRPr>
          </a:p>
        </p:txBody>
      </p:sp>
      <p:pic>
        <p:nvPicPr>
          <p:cNvPr id="522" name="Google Shape;522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117" y="3767054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1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4225" y="3381625"/>
            <a:ext cx="5269200" cy="60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1725" y="2382450"/>
            <a:ext cx="4529125" cy="3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 Ограничения типов</a:t>
            </a:r>
            <a:endParaRPr dirty="0"/>
          </a:p>
        </p:txBody>
      </p:sp>
      <p:sp>
        <p:nvSpPr>
          <p:cNvPr id="525" name="Google Shape;525;p51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34" y="5378989"/>
            <a:ext cx="8347531" cy="95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84190D1-B602-17F6-0C33-08BC99900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1441450"/>
            <a:ext cx="7772400" cy="356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3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 Проблема инвариантности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D1F92-3F92-37DD-CF1A-1C1233A305ED}"/>
              </a:ext>
            </a:extLst>
          </p:cNvPr>
          <p:cNvSpPr txBox="1"/>
          <p:nvPr/>
        </p:nvSpPr>
        <p:spPr>
          <a:xfrm>
            <a:off x="827461" y="1542198"/>
            <a:ext cx="5804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Если тип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ru-RU" sz="1800" dirty="0">
                <a:solidFill>
                  <a:schemeClr val="bg1"/>
                </a:solidFill>
              </a:rPr>
              <a:t>является подтипом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ru-RU" sz="1800" dirty="0">
                <a:solidFill>
                  <a:schemeClr val="bg1"/>
                </a:solidFill>
              </a:rPr>
              <a:t>является ли тип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Generic&lt;B&gt;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ru-RU" sz="1800" dirty="0">
                <a:solidFill>
                  <a:schemeClr val="bg1"/>
                </a:solidFill>
              </a:rPr>
              <a:t>подтипом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Generic&lt;A&gt;</a:t>
            </a:r>
            <a:r>
              <a:rPr lang="en-US" sz="1800" dirty="0">
                <a:solidFill>
                  <a:schemeClr val="bg1"/>
                </a:solidFill>
              </a:rPr>
              <a:t>?</a:t>
            </a:r>
            <a:endParaRPr lang="en-RU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C800E-EBDD-63C2-B6DE-5A489D51CC8C}"/>
              </a:ext>
            </a:extLst>
          </p:cNvPr>
          <p:cNvSpPr txBox="1"/>
          <p:nvPr/>
        </p:nvSpPr>
        <p:spPr>
          <a:xfrm>
            <a:off x="827461" y="2844857"/>
            <a:ext cx="5384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accent3"/>
                </a:solidFill>
              </a:rPr>
              <a:t>Инвариантность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B </a:t>
            </a:r>
            <a:r>
              <a:rPr lang="ru-RU" sz="1800" dirty="0">
                <a:solidFill>
                  <a:schemeClr val="bg1"/>
                </a:solidFill>
              </a:rPr>
              <a:t>подтип </a:t>
            </a:r>
            <a:r>
              <a:rPr lang="en-GB" sz="1800" dirty="0">
                <a:solidFill>
                  <a:schemeClr val="bg1"/>
                </a:solidFill>
              </a:rPr>
              <a:t>A → Generic&lt;B&gt; </a:t>
            </a:r>
            <a:r>
              <a:rPr lang="ru-RU" sz="1800" dirty="0">
                <a:solidFill>
                  <a:schemeClr val="accent3"/>
                </a:solidFill>
              </a:rPr>
              <a:t>не</a:t>
            </a:r>
            <a:r>
              <a:rPr lang="ru-RU" sz="1800" dirty="0">
                <a:solidFill>
                  <a:schemeClr val="bg1"/>
                </a:solidFill>
              </a:rPr>
              <a:t> </a:t>
            </a:r>
            <a:r>
              <a:rPr lang="ru-RU" sz="1800" dirty="0">
                <a:solidFill>
                  <a:schemeClr val="accent3"/>
                </a:solidFill>
              </a:rPr>
              <a:t>подтип</a:t>
            </a:r>
            <a:r>
              <a:rPr lang="ru-RU" sz="1800" dirty="0">
                <a:solidFill>
                  <a:schemeClr val="bg1"/>
                </a:solidFill>
              </a:rPr>
              <a:t> </a:t>
            </a:r>
            <a:r>
              <a:rPr lang="en-GB" sz="1800" dirty="0">
                <a:solidFill>
                  <a:schemeClr val="bg1"/>
                </a:solidFill>
              </a:rPr>
              <a:t>Generic&lt;A&gt;</a:t>
            </a:r>
            <a:endParaRPr lang="en-RU" sz="1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EBC06-A779-C0E8-3F77-F163A85757D2}"/>
              </a:ext>
            </a:extLst>
          </p:cNvPr>
          <p:cNvSpPr txBox="1"/>
          <p:nvPr/>
        </p:nvSpPr>
        <p:spPr>
          <a:xfrm>
            <a:off x="861319" y="4083470"/>
            <a:ext cx="5064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accent4"/>
                </a:solidFill>
              </a:rPr>
              <a:t>Ковариантность</a:t>
            </a:r>
            <a:endParaRPr lang="en-US" sz="1800" dirty="0">
              <a:solidFill>
                <a:schemeClr val="accent4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B </a:t>
            </a:r>
            <a:r>
              <a:rPr lang="ru-RU" sz="1800" dirty="0">
                <a:solidFill>
                  <a:schemeClr val="bg1"/>
                </a:solidFill>
              </a:rPr>
              <a:t>подтип </a:t>
            </a:r>
            <a:r>
              <a:rPr lang="en-GB" sz="1800" dirty="0">
                <a:solidFill>
                  <a:schemeClr val="bg1"/>
                </a:solidFill>
              </a:rPr>
              <a:t>A → Generic&lt;B&gt; </a:t>
            </a:r>
            <a:r>
              <a:rPr lang="ru-RU" sz="1800" dirty="0">
                <a:solidFill>
                  <a:schemeClr val="accent4"/>
                </a:solidFill>
              </a:rPr>
              <a:t>подтип</a:t>
            </a:r>
            <a:r>
              <a:rPr lang="ru-RU" sz="1800" dirty="0">
                <a:solidFill>
                  <a:schemeClr val="bg1"/>
                </a:solidFill>
              </a:rPr>
              <a:t> </a:t>
            </a:r>
            <a:r>
              <a:rPr lang="en-GB" sz="1800" dirty="0">
                <a:solidFill>
                  <a:schemeClr val="bg1"/>
                </a:solidFill>
              </a:rPr>
              <a:t>Generic&lt;A&gt;</a:t>
            </a:r>
            <a:endParaRPr lang="en-RU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9C7A7-EA8B-5436-3B1B-6ED74EE1F245}"/>
              </a:ext>
            </a:extLst>
          </p:cNvPr>
          <p:cNvSpPr txBox="1"/>
          <p:nvPr/>
        </p:nvSpPr>
        <p:spPr>
          <a:xfrm>
            <a:off x="861319" y="5322083"/>
            <a:ext cx="5064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 err="1">
                <a:solidFill>
                  <a:srgbClr val="D883FF"/>
                </a:solidFill>
              </a:rPr>
              <a:t>Контрвариантность</a:t>
            </a:r>
            <a:endParaRPr lang="en-US" sz="1800" dirty="0">
              <a:solidFill>
                <a:srgbClr val="D883FF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B </a:t>
            </a:r>
            <a:r>
              <a:rPr lang="ru-RU" sz="1800" dirty="0">
                <a:solidFill>
                  <a:schemeClr val="bg1"/>
                </a:solidFill>
              </a:rPr>
              <a:t>подтип </a:t>
            </a:r>
            <a:r>
              <a:rPr lang="en-GB" sz="1800" dirty="0">
                <a:solidFill>
                  <a:schemeClr val="bg1"/>
                </a:solidFill>
              </a:rPr>
              <a:t>A → Generic&lt;</a:t>
            </a:r>
            <a:r>
              <a:rPr lang="en-US" sz="1800" dirty="0">
                <a:solidFill>
                  <a:srgbClr val="D883FF"/>
                </a:solidFill>
              </a:rPr>
              <a:t>A</a:t>
            </a:r>
            <a:r>
              <a:rPr lang="en-GB" sz="1800" dirty="0">
                <a:solidFill>
                  <a:schemeClr val="bg1"/>
                </a:solidFill>
              </a:rPr>
              <a:t>&gt; </a:t>
            </a:r>
            <a:r>
              <a:rPr lang="ru-RU" sz="1800" dirty="0">
                <a:solidFill>
                  <a:srgbClr val="D883FF"/>
                </a:solidFill>
              </a:rPr>
              <a:t>подтип</a:t>
            </a:r>
            <a:r>
              <a:rPr lang="ru-RU" sz="1800" dirty="0">
                <a:solidFill>
                  <a:schemeClr val="bg1"/>
                </a:solidFill>
              </a:rPr>
              <a:t> </a:t>
            </a:r>
            <a:r>
              <a:rPr lang="en-GB" sz="1800" dirty="0">
                <a:solidFill>
                  <a:schemeClr val="bg1"/>
                </a:solidFill>
              </a:rPr>
              <a:t>Generic&lt;</a:t>
            </a:r>
            <a:r>
              <a:rPr lang="en-GB" sz="1800" dirty="0">
                <a:solidFill>
                  <a:srgbClr val="D883FF"/>
                </a:solidFill>
              </a:rPr>
              <a:t>B</a:t>
            </a:r>
            <a:r>
              <a:rPr lang="en-GB" sz="1800" dirty="0">
                <a:solidFill>
                  <a:schemeClr val="bg1"/>
                </a:solidFill>
              </a:rPr>
              <a:t>&gt;</a:t>
            </a:r>
            <a:endParaRPr lang="en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33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Инвариантность</a:t>
            </a:r>
            <a:endParaRPr dirty="0"/>
          </a:p>
        </p:txBody>
      </p:sp>
      <p:sp>
        <p:nvSpPr>
          <p:cNvPr id="4" name="Google Shape;535;p52">
            <a:extLst>
              <a:ext uri="{FF2B5EF4-FFF2-40B4-BE49-F238E27FC236}">
                <a16:creationId xmlns:a16="http://schemas.microsoft.com/office/drawing/2014/main" id="{89EA61FF-112B-3F4F-6C3D-333EC6FC63F1}"/>
              </a:ext>
            </a:extLst>
          </p:cNvPr>
          <p:cNvSpPr txBox="1"/>
          <p:nvPr/>
        </p:nvSpPr>
        <p:spPr>
          <a:xfrm>
            <a:off x="650037" y="1377507"/>
            <a:ext cx="969496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bg1"/>
                </a:solidFill>
              </a:rPr>
              <a:t>По умолчанию дженерики инварианты: нельзя положить </a:t>
            </a:r>
            <a:r>
              <a:rPr lang="en-US" sz="1800" dirty="0">
                <a:solidFill>
                  <a:schemeClr val="bg1"/>
                </a:solidFill>
              </a:rPr>
              <a:t>List&lt;Int&gt;</a:t>
            </a:r>
            <a:r>
              <a:rPr lang="ru-RU" sz="1800" dirty="0">
                <a:solidFill>
                  <a:schemeClr val="bg1"/>
                </a:solidFill>
              </a:rPr>
              <a:t> в переменную </a:t>
            </a:r>
            <a:r>
              <a:rPr lang="en-US" sz="1800" dirty="0">
                <a:solidFill>
                  <a:schemeClr val="bg1"/>
                </a:solidFill>
              </a:rPr>
              <a:t>List&lt;Number&gt;, </a:t>
            </a:r>
            <a:r>
              <a:rPr lang="ru-RU" sz="1800" dirty="0">
                <a:solidFill>
                  <a:schemeClr val="bg1"/>
                </a:solidFill>
              </a:rPr>
              <a:t>хотя </a:t>
            </a:r>
            <a:r>
              <a:rPr lang="en-US" sz="1800" dirty="0">
                <a:solidFill>
                  <a:schemeClr val="bg1"/>
                </a:solidFill>
              </a:rPr>
              <a:t>Int </a:t>
            </a:r>
            <a:r>
              <a:rPr lang="ru-RU" sz="1800" dirty="0">
                <a:solidFill>
                  <a:schemeClr val="bg1"/>
                </a:solidFill>
              </a:rPr>
              <a:t>наследуется от </a:t>
            </a:r>
            <a:r>
              <a:rPr lang="en-US" sz="1800" dirty="0">
                <a:solidFill>
                  <a:schemeClr val="bg1"/>
                </a:solidFill>
              </a:rPr>
              <a:t>Number.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bg1"/>
                </a:solidFill>
              </a:rPr>
              <a:t>Но почему нельзя?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DD3A2FA-A576-EE49-E969-8AB61F58C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2865838"/>
            <a:ext cx="7370277" cy="28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7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Ковариантность </a:t>
            </a:r>
            <a:r>
              <a:rPr lang="en-US" dirty="0"/>
              <a:t>(out)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6DB79B-6B2C-0F14-C267-12A0265E7E5D}"/>
              </a:ext>
            </a:extLst>
          </p:cNvPr>
          <p:cNvSpPr txBox="1"/>
          <p:nvPr/>
        </p:nvSpPr>
        <p:spPr>
          <a:xfrm>
            <a:off x="665759" y="1336250"/>
            <a:ext cx="82621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accent4"/>
                </a:solidFill>
              </a:rPr>
              <a:t>Ковариантность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accent4"/>
                </a:solidFill>
              </a:rPr>
              <a:t> </a:t>
            </a:r>
            <a:r>
              <a:rPr lang="en-GB" sz="1800" dirty="0">
                <a:solidFill>
                  <a:schemeClr val="bg1"/>
                </a:solidFill>
              </a:rPr>
              <a:t>B </a:t>
            </a:r>
            <a:r>
              <a:rPr lang="ru-RU" sz="1800" dirty="0">
                <a:solidFill>
                  <a:schemeClr val="bg1"/>
                </a:solidFill>
              </a:rPr>
              <a:t>подтип </a:t>
            </a:r>
            <a:r>
              <a:rPr lang="en-GB" sz="1800" dirty="0">
                <a:solidFill>
                  <a:schemeClr val="bg1"/>
                </a:solidFill>
              </a:rPr>
              <a:t>A → Generic&lt;B&gt; </a:t>
            </a:r>
            <a:r>
              <a:rPr lang="ru-RU" sz="1800" dirty="0">
                <a:solidFill>
                  <a:schemeClr val="accent4"/>
                </a:solidFill>
              </a:rPr>
              <a:t>подтип</a:t>
            </a:r>
            <a:r>
              <a:rPr lang="ru-RU" sz="1800" dirty="0">
                <a:solidFill>
                  <a:schemeClr val="bg1"/>
                </a:solidFill>
              </a:rPr>
              <a:t> </a:t>
            </a:r>
            <a:r>
              <a:rPr lang="en-GB" sz="1800" dirty="0">
                <a:solidFill>
                  <a:schemeClr val="bg1"/>
                </a:solidFill>
              </a:rPr>
              <a:t>Generic&lt;A&gt;</a:t>
            </a:r>
          </a:p>
          <a:p>
            <a:endParaRPr lang="en-GB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&lt;out T&gt; → </a:t>
            </a:r>
            <a:r>
              <a:rPr lang="ru-RU" sz="1800" dirty="0">
                <a:solidFill>
                  <a:schemeClr val="bg1"/>
                </a:solidFill>
              </a:rPr>
              <a:t>класс может только </a:t>
            </a:r>
            <a:r>
              <a:rPr lang="ru-RU" sz="1800" dirty="0">
                <a:solidFill>
                  <a:schemeClr val="accent4"/>
                </a:solidFill>
              </a:rPr>
              <a:t>возвращать</a:t>
            </a:r>
            <a:r>
              <a:rPr lang="ru-RU" sz="1800" dirty="0">
                <a:solidFill>
                  <a:schemeClr val="bg1"/>
                </a:solidFill>
              </a:rPr>
              <a:t> (</a:t>
            </a:r>
            <a:r>
              <a:rPr lang="ru-RU" sz="1800" dirty="0">
                <a:solidFill>
                  <a:schemeClr val="accent4"/>
                </a:solidFill>
              </a:rPr>
              <a:t>производить</a:t>
            </a:r>
            <a:r>
              <a:rPr lang="ru-RU" sz="1800" dirty="0">
                <a:solidFill>
                  <a:schemeClr val="bg1"/>
                </a:solidFill>
              </a:rPr>
              <a:t>) элементы типа </a:t>
            </a:r>
            <a:r>
              <a:rPr lang="en-GB" sz="1800" dirty="0">
                <a:solidFill>
                  <a:schemeClr val="bg1"/>
                </a:solidFill>
              </a:rPr>
              <a:t>T</a:t>
            </a:r>
            <a:endParaRPr lang="en-RU" sz="1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48AB7-A7DC-C829-8CB0-D84D54CFB9E9}"/>
              </a:ext>
            </a:extLst>
          </p:cNvPr>
          <p:cNvSpPr txBox="1"/>
          <p:nvPr/>
        </p:nvSpPr>
        <p:spPr>
          <a:xfrm>
            <a:off x="787079" y="6215605"/>
            <a:ext cx="3063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out = Producer (</a:t>
            </a:r>
            <a:r>
              <a:rPr lang="ru-RU" i="1" dirty="0">
                <a:solidFill>
                  <a:schemeClr val="bg1"/>
                </a:solidFill>
              </a:rPr>
              <a:t>только на выдачу)</a:t>
            </a:r>
            <a:endParaRPr lang="en-RU" i="1" dirty="0">
              <a:solidFill>
                <a:schemeClr val="bg1"/>
              </a:solidFill>
            </a:endParaRPr>
          </a:p>
        </p:txBody>
      </p:sp>
      <p:pic>
        <p:nvPicPr>
          <p:cNvPr id="6" name="Picture 5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6065F713-8422-5182-E2EF-3B4C577E9A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477"/>
          <a:stretch/>
        </p:blipFill>
        <p:spPr>
          <a:xfrm>
            <a:off x="787079" y="2786119"/>
            <a:ext cx="5405758" cy="1158085"/>
          </a:xfrm>
          <a:prstGeom prst="rect">
            <a:avLst/>
          </a:prstGeom>
        </p:spPr>
      </p:pic>
      <p:pic>
        <p:nvPicPr>
          <p:cNvPr id="9" name="Picture 8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C6D56768-7290-5244-F6D2-A67B21AB8F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771"/>
          <a:stretch/>
        </p:blipFill>
        <p:spPr>
          <a:xfrm>
            <a:off x="787078" y="3985686"/>
            <a:ext cx="7404613" cy="11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 err="1"/>
              <a:t>Контрвариантность</a:t>
            </a:r>
            <a:r>
              <a:rPr lang="ru-RU" dirty="0"/>
              <a:t> </a:t>
            </a:r>
            <a:r>
              <a:rPr lang="en-US" dirty="0"/>
              <a:t>(in)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48AB7-A7DC-C829-8CB0-D84D54CFB9E9}"/>
              </a:ext>
            </a:extLst>
          </p:cNvPr>
          <p:cNvSpPr txBox="1"/>
          <p:nvPr/>
        </p:nvSpPr>
        <p:spPr>
          <a:xfrm>
            <a:off x="787079" y="6215605"/>
            <a:ext cx="2969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in</a:t>
            </a:r>
            <a:r>
              <a:rPr lang="en-GB" i="1" dirty="0">
                <a:solidFill>
                  <a:schemeClr val="bg1"/>
                </a:solidFill>
              </a:rPr>
              <a:t> = Consumer (</a:t>
            </a:r>
            <a:r>
              <a:rPr lang="ru-RU" i="1" dirty="0">
                <a:solidFill>
                  <a:schemeClr val="bg1"/>
                </a:solidFill>
              </a:rPr>
              <a:t>только на приём)</a:t>
            </a:r>
            <a:endParaRPr lang="en-RU" i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B89C7-965A-5AF4-B90D-46F9B9585AC1}"/>
              </a:ext>
            </a:extLst>
          </p:cNvPr>
          <p:cNvSpPr txBox="1"/>
          <p:nvPr/>
        </p:nvSpPr>
        <p:spPr>
          <a:xfrm>
            <a:off x="658866" y="1341411"/>
            <a:ext cx="78678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 err="1">
                <a:solidFill>
                  <a:srgbClr val="D883FF"/>
                </a:solidFill>
              </a:rPr>
              <a:t>Контрвариантность</a:t>
            </a:r>
            <a:endParaRPr lang="en-US" sz="1800" dirty="0">
              <a:solidFill>
                <a:srgbClr val="D883FF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B </a:t>
            </a:r>
            <a:r>
              <a:rPr lang="ru-RU" sz="1800" dirty="0">
                <a:solidFill>
                  <a:schemeClr val="bg1"/>
                </a:solidFill>
              </a:rPr>
              <a:t>подтип </a:t>
            </a:r>
            <a:r>
              <a:rPr lang="en-GB" sz="1800" dirty="0">
                <a:solidFill>
                  <a:schemeClr val="bg1"/>
                </a:solidFill>
              </a:rPr>
              <a:t>A → Generic&lt;</a:t>
            </a:r>
            <a:r>
              <a:rPr lang="en-US" sz="1800" dirty="0">
                <a:solidFill>
                  <a:srgbClr val="D883FF"/>
                </a:solidFill>
              </a:rPr>
              <a:t>A</a:t>
            </a:r>
            <a:r>
              <a:rPr lang="en-GB" sz="1800" dirty="0">
                <a:solidFill>
                  <a:schemeClr val="bg1"/>
                </a:solidFill>
              </a:rPr>
              <a:t>&gt; </a:t>
            </a:r>
            <a:r>
              <a:rPr lang="ru-RU" sz="1800" dirty="0">
                <a:solidFill>
                  <a:srgbClr val="D883FF"/>
                </a:solidFill>
              </a:rPr>
              <a:t>подтип</a:t>
            </a:r>
            <a:r>
              <a:rPr lang="ru-RU" sz="1800" dirty="0">
                <a:solidFill>
                  <a:schemeClr val="bg1"/>
                </a:solidFill>
              </a:rPr>
              <a:t> </a:t>
            </a:r>
            <a:r>
              <a:rPr lang="en-GB" sz="1800" dirty="0">
                <a:solidFill>
                  <a:schemeClr val="bg1"/>
                </a:solidFill>
              </a:rPr>
              <a:t>Generic&lt;</a:t>
            </a:r>
            <a:r>
              <a:rPr lang="en-GB" sz="1800" dirty="0">
                <a:solidFill>
                  <a:srgbClr val="D883FF"/>
                </a:solidFill>
              </a:rPr>
              <a:t>B</a:t>
            </a:r>
            <a:r>
              <a:rPr lang="en-GB" sz="1800" dirty="0">
                <a:solidFill>
                  <a:schemeClr val="bg1"/>
                </a:solidFill>
              </a:rPr>
              <a:t>&gt;</a:t>
            </a:r>
          </a:p>
          <a:p>
            <a:endParaRPr lang="en-GB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&lt;in T&gt; → </a:t>
            </a:r>
            <a:r>
              <a:rPr lang="ru-RU" sz="1800" dirty="0">
                <a:solidFill>
                  <a:schemeClr val="bg1"/>
                </a:solidFill>
              </a:rPr>
              <a:t>класс может только </a:t>
            </a:r>
            <a:r>
              <a:rPr lang="ru-RU" sz="1800" dirty="0">
                <a:solidFill>
                  <a:srgbClr val="D883FF"/>
                </a:solidFill>
              </a:rPr>
              <a:t>принимать</a:t>
            </a:r>
            <a:r>
              <a:rPr lang="ru-RU" sz="1800" dirty="0">
                <a:solidFill>
                  <a:schemeClr val="bg1"/>
                </a:solidFill>
              </a:rPr>
              <a:t> (</a:t>
            </a:r>
            <a:r>
              <a:rPr lang="ru-RU" sz="1800" dirty="0">
                <a:solidFill>
                  <a:srgbClr val="D883FF"/>
                </a:solidFill>
              </a:rPr>
              <a:t>потреблять</a:t>
            </a:r>
            <a:r>
              <a:rPr lang="ru-RU" sz="1800" dirty="0">
                <a:solidFill>
                  <a:schemeClr val="bg1"/>
                </a:solidFill>
              </a:rPr>
              <a:t>) элементы типа </a:t>
            </a:r>
            <a:r>
              <a:rPr lang="en-GB" sz="1800" dirty="0">
                <a:solidFill>
                  <a:schemeClr val="bg1"/>
                </a:solidFill>
              </a:rPr>
              <a:t>T</a:t>
            </a:r>
            <a:endParaRPr lang="en-RU" sz="1800" dirty="0">
              <a:solidFill>
                <a:schemeClr val="bg1"/>
              </a:solidFill>
            </a:endParaRPr>
          </a:p>
          <a:p>
            <a:endParaRPr lang="en-RU" sz="1800" dirty="0">
              <a:solidFill>
                <a:schemeClr val="bg1"/>
              </a:solidFill>
            </a:endParaRPr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2B9A942-9D7B-F474-4243-06526EF4A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79" y="3755216"/>
            <a:ext cx="57023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19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Инвариантность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2D25C-3884-05AD-C668-2530A6747F98}"/>
              </a:ext>
            </a:extLst>
          </p:cNvPr>
          <p:cNvSpPr txBox="1"/>
          <p:nvPr/>
        </p:nvSpPr>
        <p:spPr>
          <a:xfrm>
            <a:off x="677333" y="3429000"/>
            <a:ext cx="8289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Может ли быть одновременно </a:t>
            </a:r>
            <a:r>
              <a:rPr lang="en-GB" sz="2800" dirty="0">
                <a:solidFill>
                  <a:schemeClr val="bg1"/>
                </a:solidFill>
              </a:rPr>
              <a:t>in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GB" sz="2800" dirty="0">
                <a:solidFill>
                  <a:schemeClr val="bg1"/>
                </a:solidFill>
              </a:rPr>
              <a:t>out?</a:t>
            </a:r>
            <a:endParaRPr lang="en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64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Сравнение с </a:t>
            </a:r>
            <a:r>
              <a:rPr lang="en-US" dirty="0"/>
              <a:t>Java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2D25C-3884-05AD-C668-2530A6747F98}"/>
              </a:ext>
            </a:extLst>
          </p:cNvPr>
          <p:cNvSpPr txBox="1"/>
          <p:nvPr/>
        </p:nvSpPr>
        <p:spPr>
          <a:xfrm>
            <a:off x="658866" y="1336250"/>
            <a:ext cx="1065512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bg1"/>
                </a:solidFill>
              </a:rPr>
              <a:t>Raw Types (</a:t>
            </a:r>
            <a:r>
              <a:rPr lang="ru-RU" sz="1600" b="1" dirty="0">
                <a:solidFill>
                  <a:schemeClr val="bg1"/>
                </a:solidFill>
              </a:rPr>
              <a:t>Сырые типы):</a:t>
            </a:r>
            <a:endParaRPr lang="ru-RU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Java: </a:t>
            </a:r>
            <a:r>
              <a:rPr lang="ru-RU" sz="1600" dirty="0">
                <a:solidFill>
                  <a:schemeClr val="bg1"/>
                </a:solidFill>
              </a:rPr>
              <a:t>Разрешены (</a:t>
            </a:r>
            <a:r>
              <a:rPr lang="en-GB" sz="1600" dirty="0">
                <a:solidFill>
                  <a:schemeClr val="bg1"/>
                </a:solidFill>
              </a:rPr>
              <a:t>List list = new </a:t>
            </a:r>
            <a:r>
              <a:rPr lang="en-GB" sz="1600" dirty="0" err="1">
                <a:solidFill>
                  <a:schemeClr val="bg1"/>
                </a:solidFill>
              </a:rPr>
              <a:t>ArrayList</a:t>
            </a:r>
            <a:r>
              <a:rPr lang="en-GB" sz="1600" dirty="0">
                <a:solidFill>
                  <a:schemeClr val="bg1"/>
                </a:solidFill>
              </a:rPr>
              <a:t>();).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Kotlin: </a:t>
            </a:r>
            <a:r>
              <a:rPr lang="ru-RU" sz="1600" b="1" dirty="0">
                <a:solidFill>
                  <a:schemeClr val="bg1"/>
                </a:solidFill>
              </a:rPr>
              <a:t>Строго запрещены!</a:t>
            </a:r>
            <a:r>
              <a:rPr lang="ru-RU" sz="1600" dirty="0">
                <a:solidFill>
                  <a:schemeClr val="bg1"/>
                </a:solidFill>
              </a:rPr>
              <a:t> Тип (или проекция) обязателен всегда.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bg1"/>
                </a:solidFill>
              </a:rPr>
              <a:t>Variance (</a:t>
            </a:r>
            <a:r>
              <a:rPr lang="ru-RU" sz="1600" b="1" dirty="0">
                <a:solidFill>
                  <a:schemeClr val="bg1"/>
                </a:solidFill>
              </a:rPr>
              <a:t>Вариативность):</a:t>
            </a:r>
            <a:endParaRPr lang="ru-RU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Java: </a:t>
            </a:r>
            <a:r>
              <a:rPr lang="en-GB" sz="1600" i="1" dirty="0">
                <a:solidFill>
                  <a:schemeClr val="bg1"/>
                </a:solidFill>
              </a:rPr>
              <a:t>Use-site variance</a:t>
            </a:r>
            <a:r>
              <a:rPr lang="en-GB" sz="1600" dirty="0">
                <a:solidFill>
                  <a:schemeClr val="bg1"/>
                </a:solidFill>
              </a:rPr>
              <a:t> (Wildcards: ? extends T, ? super T) — </a:t>
            </a:r>
            <a:r>
              <a:rPr lang="ru-RU" sz="1600" dirty="0">
                <a:solidFill>
                  <a:schemeClr val="bg1"/>
                </a:solidFill>
              </a:rPr>
              <a:t>пишем при использовании.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Kotlin: </a:t>
            </a:r>
            <a:r>
              <a:rPr lang="en-GB" sz="1600" i="1" dirty="0">
                <a:solidFill>
                  <a:schemeClr val="bg1"/>
                </a:solidFill>
              </a:rPr>
              <a:t>Declaration-site variance</a:t>
            </a:r>
            <a:r>
              <a:rPr lang="en-GB" sz="1600" dirty="0">
                <a:solidFill>
                  <a:schemeClr val="bg1"/>
                </a:solidFill>
              </a:rPr>
              <a:t> (out, in) — </a:t>
            </a:r>
            <a:r>
              <a:rPr lang="ru-RU" sz="1600" dirty="0">
                <a:solidFill>
                  <a:schemeClr val="bg1"/>
                </a:solidFill>
              </a:rPr>
              <a:t>пишем один раз при объявлении класса.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</a:rPr>
              <a:t>Неизвестный тип:</a:t>
            </a:r>
            <a:endParaRPr lang="ru-RU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Java: </a:t>
            </a:r>
            <a:r>
              <a:rPr lang="ru-RU" sz="1600" dirty="0">
                <a:solidFill>
                  <a:schemeClr val="bg1"/>
                </a:solidFill>
              </a:rPr>
              <a:t>Неограниченный </a:t>
            </a:r>
            <a:r>
              <a:rPr lang="en-GB" sz="1600" dirty="0">
                <a:solidFill>
                  <a:schemeClr val="bg1"/>
                </a:solidFill>
              </a:rPr>
              <a:t>wildcard &lt;?&gt;.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Kotlin: </a:t>
            </a:r>
            <a:r>
              <a:rPr lang="ru-RU" sz="1600" dirty="0">
                <a:solidFill>
                  <a:schemeClr val="bg1"/>
                </a:solidFill>
              </a:rPr>
              <a:t>Звездная проекция &lt;*&gt;.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</a:rPr>
              <a:t>Доступ к типу в </a:t>
            </a:r>
            <a:r>
              <a:rPr lang="en-GB" sz="1600" b="1" dirty="0">
                <a:solidFill>
                  <a:schemeClr val="bg1"/>
                </a:solidFill>
              </a:rPr>
              <a:t>Runtime (Type Erasure):</a:t>
            </a:r>
            <a:endParaRPr lang="en-GB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Java: </a:t>
            </a:r>
            <a:r>
              <a:rPr lang="ru-RU" sz="1600" dirty="0">
                <a:solidFill>
                  <a:schemeClr val="bg1"/>
                </a:solidFill>
              </a:rPr>
              <a:t>Тип всегда стирается. Нужно передавать </a:t>
            </a:r>
            <a:r>
              <a:rPr lang="en-GB" sz="1600" dirty="0">
                <a:solidFill>
                  <a:schemeClr val="bg1"/>
                </a:solidFill>
              </a:rPr>
              <a:t>Class&lt;T&gt;.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Kotlin: </a:t>
            </a:r>
            <a:r>
              <a:rPr lang="ru-RU" sz="1600" dirty="0">
                <a:solidFill>
                  <a:schemeClr val="bg1"/>
                </a:solidFill>
              </a:rPr>
              <a:t>Тип стирается, НО можно сохранить его через </a:t>
            </a:r>
            <a:r>
              <a:rPr lang="en-GB" sz="1600" dirty="0">
                <a:solidFill>
                  <a:schemeClr val="bg1"/>
                </a:solidFill>
              </a:rPr>
              <a:t>inline + reified.</a:t>
            </a:r>
          </a:p>
          <a:p>
            <a:pPr>
              <a:buClr>
                <a:schemeClr val="bg1"/>
              </a:buClr>
            </a:pPr>
            <a:endParaRPr lang="en-GB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</a:rPr>
              <a:t>Множественные ограничения (</a:t>
            </a:r>
            <a:r>
              <a:rPr lang="en-GB" sz="1600" b="1" dirty="0">
                <a:solidFill>
                  <a:schemeClr val="bg1"/>
                </a:solidFill>
              </a:rPr>
              <a:t>Upper Bounds):</a:t>
            </a:r>
            <a:endParaRPr lang="en-GB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Java: &lt;T extends Class &amp; Interface&gt;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Kotlin: </a:t>
            </a:r>
            <a:r>
              <a:rPr lang="ru-RU" sz="1600" dirty="0">
                <a:solidFill>
                  <a:schemeClr val="bg1"/>
                </a:solidFill>
              </a:rPr>
              <a:t>Изящное ключевое слово </a:t>
            </a:r>
            <a:r>
              <a:rPr lang="en-GB" sz="1600" dirty="0">
                <a:solidFill>
                  <a:schemeClr val="bg1"/>
                </a:solidFill>
              </a:rPr>
              <a:t>where.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064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dirty="0">
                <a:solidFill>
                  <a:schemeClr val="bg1"/>
                </a:solidFill>
              </a:rPr>
              <a:t>Лямбда-выражения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/>
              <a:t>Функции высшего порядка</a:t>
            </a:r>
            <a:endParaRPr/>
          </a:p>
        </p:txBody>
      </p:sp>
      <p:sp>
        <p:nvSpPr>
          <p:cNvPr id="568" name="Google Shape;568;p55"/>
          <p:cNvSpPr txBox="1"/>
          <p:nvPr/>
        </p:nvSpPr>
        <p:spPr>
          <a:xfrm>
            <a:off x="879405" y="1673673"/>
            <a:ext cx="9097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bg1"/>
                </a:solidFill>
              </a:rPr>
              <a:t>Функция высшего порядка - это функция, которая принимает функции как параметры, и/или возвращает функцию в качестве результата.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69" name="Google Shape;569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22075"/>
            <a:ext cx="288601" cy="30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105010"/>
            <a:ext cx="8469310" cy="96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 err="1"/>
              <a:t>inline</a:t>
            </a:r>
            <a:r>
              <a:rPr lang="ru-RU" dirty="0"/>
              <a:t> функции</a:t>
            </a:r>
            <a:endParaRPr dirty="0"/>
          </a:p>
        </p:txBody>
      </p:sp>
      <p:sp>
        <p:nvSpPr>
          <p:cNvPr id="578" name="Google Shape;578;p56"/>
          <p:cNvSpPr txBox="1"/>
          <p:nvPr/>
        </p:nvSpPr>
        <p:spPr>
          <a:xfrm>
            <a:off x="879406" y="2081648"/>
            <a:ext cx="5008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bg1"/>
                </a:solidFill>
              </a:rPr>
              <a:t>Функции помеченный ключевым словом </a:t>
            </a:r>
            <a:r>
              <a:rPr lang="ru-RU" sz="1800" b="1" dirty="0" err="1">
                <a:solidFill>
                  <a:schemeClr val="bg1"/>
                </a:solidFill>
              </a:rPr>
              <a:t>inline</a:t>
            </a:r>
            <a:r>
              <a:rPr lang="ru-RU" sz="1800" dirty="0">
                <a:solidFill>
                  <a:schemeClr val="bg1"/>
                </a:solidFill>
              </a:rPr>
              <a:t> на этапе компиляции встраивается в место вызова. Это позволяет экономить ресурсы если в функции есть лямбды, так как не тратится память на их создание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79" name="Google Shape;579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074150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6"/>
          <p:cNvSpPr txBox="1"/>
          <p:nvPr/>
        </p:nvSpPr>
        <p:spPr>
          <a:xfrm>
            <a:off x="879406" y="4475987"/>
            <a:ext cx="500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bg1"/>
                </a:solidFill>
              </a:rPr>
              <a:t>reified</a:t>
            </a:r>
            <a:r>
              <a:rPr lang="ru-RU" sz="1800">
                <a:solidFill>
                  <a:schemeClr val="bg1"/>
                </a:solidFill>
              </a:rPr>
              <a:t> - можно смотреть тип дженериков, так как код встраивается в место вызова и мы точно знаем тип</a:t>
            </a:r>
            <a:endParaRPr sz="1800" b="0" i="1" u="none" strike="noStrike" cap="non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5" name="Google Shape;58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468489"/>
            <a:ext cx="288601" cy="30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75830D5-0AF6-2182-9FA2-D7DB80467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07404"/>
            <a:ext cx="5652650" cy="1039874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E707B2FE-7E60-FABD-6E66-5C53294A3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33667"/>
            <a:ext cx="5286517" cy="15972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 err="1"/>
              <a:t>inline</a:t>
            </a:r>
            <a:r>
              <a:rPr lang="ru-RU" dirty="0"/>
              <a:t> функции</a:t>
            </a:r>
            <a:r>
              <a:rPr lang="en-US" dirty="0"/>
              <a:t>: </a:t>
            </a:r>
            <a:r>
              <a:rPr lang="en-US" dirty="0" err="1"/>
              <a:t>noinline</a:t>
            </a:r>
            <a:r>
              <a:rPr lang="en-US" dirty="0"/>
              <a:t>, </a:t>
            </a:r>
            <a:r>
              <a:rPr lang="en-US" dirty="0" err="1"/>
              <a:t>crossinline</a:t>
            </a:r>
            <a:endParaRPr dirty="0"/>
          </a:p>
        </p:txBody>
      </p:sp>
      <p:sp>
        <p:nvSpPr>
          <p:cNvPr id="2" name="Google Shape;580;p56">
            <a:extLst>
              <a:ext uri="{FF2B5EF4-FFF2-40B4-BE49-F238E27FC236}">
                <a16:creationId xmlns:a16="http://schemas.microsoft.com/office/drawing/2014/main" id="{9CA66E1B-6A2F-9DD3-E166-2671A794E2A5}"/>
              </a:ext>
            </a:extLst>
          </p:cNvPr>
          <p:cNvSpPr txBox="1"/>
          <p:nvPr/>
        </p:nvSpPr>
        <p:spPr>
          <a:xfrm>
            <a:off x="879406" y="2493876"/>
            <a:ext cx="5008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bg1"/>
                </a:solidFill>
              </a:rPr>
              <a:t>noinline</a:t>
            </a:r>
            <a:r>
              <a:rPr lang="ru-RU" sz="1800" b="1" dirty="0">
                <a:solidFill>
                  <a:schemeClr val="bg1"/>
                </a:solidFill>
              </a:rPr>
              <a:t> </a:t>
            </a:r>
            <a:r>
              <a:rPr lang="ru-RU" sz="1800" dirty="0">
                <a:solidFill>
                  <a:schemeClr val="bg1"/>
                </a:solidFill>
              </a:rPr>
              <a:t>- при нескольких аргументах с лямбда помечаем те, которые не должны встраиваться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Google Shape;581;p56">
            <a:extLst>
              <a:ext uri="{FF2B5EF4-FFF2-40B4-BE49-F238E27FC236}">
                <a16:creationId xmlns:a16="http://schemas.microsoft.com/office/drawing/2014/main" id="{ACED10C6-AA52-0B26-5DBB-ADF1B8C55E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486378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82;p56">
            <a:extLst>
              <a:ext uri="{FF2B5EF4-FFF2-40B4-BE49-F238E27FC236}">
                <a16:creationId xmlns:a16="http://schemas.microsoft.com/office/drawing/2014/main" id="{09EF3E21-4748-CFD6-5223-889F47099F73}"/>
              </a:ext>
            </a:extLst>
          </p:cNvPr>
          <p:cNvSpPr txBox="1"/>
          <p:nvPr/>
        </p:nvSpPr>
        <p:spPr>
          <a:xfrm>
            <a:off x="879406" y="3928488"/>
            <a:ext cx="5008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bg1"/>
                </a:solidFill>
              </a:rPr>
              <a:t>crossinline</a:t>
            </a:r>
            <a:r>
              <a:rPr lang="ru-RU" sz="1800" b="1" dirty="0">
                <a:solidFill>
                  <a:schemeClr val="bg1"/>
                </a:solidFill>
              </a:rPr>
              <a:t> </a:t>
            </a:r>
            <a:r>
              <a:rPr lang="ru-RU" sz="1800" dirty="0">
                <a:solidFill>
                  <a:schemeClr val="bg1"/>
                </a:solidFill>
              </a:rPr>
              <a:t>- запрет использования </a:t>
            </a:r>
            <a:r>
              <a:rPr lang="ru-RU" sz="1800" dirty="0" err="1">
                <a:solidFill>
                  <a:schemeClr val="bg1"/>
                </a:solidFill>
              </a:rPr>
              <a:t>return</a:t>
            </a:r>
            <a:r>
              <a:rPr lang="ru-RU" sz="1800" dirty="0">
                <a:solidFill>
                  <a:schemeClr val="bg1"/>
                </a:solidFill>
              </a:rPr>
              <a:t> в лямбде:</a:t>
            </a:r>
            <a:br>
              <a:rPr lang="ru-RU" sz="1800" dirty="0">
                <a:solidFill>
                  <a:schemeClr val="bg1"/>
                </a:solidFill>
              </a:rPr>
            </a:br>
            <a:r>
              <a:rPr lang="ru-RU" sz="1800" dirty="0">
                <a:solidFill>
                  <a:schemeClr val="bg1"/>
                </a:solidFill>
              </a:rPr>
              <a:t>так как код встраивается в место вызова, </a:t>
            </a:r>
            <a:r>
              <a:rPr lang="ru-RU" sz="1800" dirty="0" err="1">
                <a:solidFill>
                  <a:schemeClr val="bg1"/>
                </a:solidFill>
              </a:rPr>
              <a:t>return</a:t>
            </a:r>
            <a:r>
              <a:rPr lang="ru-RU" sz="1800" dirty="0">
                <a:solidFill>
                  <a:schemeClr val="bg1"/>
                </a:solidFill>
              </a:rPr>
              <a:t> из лямбды просто завершит функцию</a:t>
            </a:r>
            <a:endParaRPr sz="1800" b="0" i="1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583;p56">
            <a:extLst>
              <a:ext uri="{FF2B5EF4-FFF2-40B4-BE49-F238E27FC236}">
                <a16:creationId xmlns:a16="http://schemas.microsoft.com/office/drawing/2014/main" id="{B8C8B31B-3429-C990-67A1-7484A82B28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920990"/>
            <a:ext cx="288601" cy="30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F4E386-CC5E-3DD8-D16D-415A2CCF0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798" y="2672432"/>
            <a:ext cx="5879650" cy="222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1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>
                <a:solidFill>
                  <a:schemeClr val="bg1"/>
                </a:solidFill>
              </a:rPr>
              <a:t>Делегаты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22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Делегаты свойств</a:t>
            </a:r>
            <a:endParaRPr dirty="0"/>
          </a:p>
        </p:txBody>
      </p:sp>
      <p:sp>
        <p:nvSpPr>
          <p:cNvPr id="593" name="Google Shape;593;p57"/>
          <p:cNvSpPr txBox="1"/>
          <p:nvPr/>
        </p:nvSpPr>
        <p:spPr>
          <a:xfrm>
            <a:off x="609094" y="1382110"/>
            <a:ext cx="900015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bg1"/>
                </a:solidFill>
              </a:rPr>
              <a:t>Делегаты свойств позволяют вынести логику </a:t>
            </a:r>
            <a:r>
              <a:rPr lang="ru-RU" sz="1800" dirty="0" err="1">
                <a:solidFill>
                  <a:schemeClr val="bg1"/>
                </a:solidFill>
              </a:rPr>
              <a:t>кастомных</a:t>
            </a:r>
            <a:r>
              <a:rPr lang="ru-RU" sz="1800" dirty="0">
                <a:solidFill>
                  <a:schemeClr val="bg1"/>
                </a:solidFill>
              </a:rPr>
              <a:t> геттеров/сеттеров в отдельный класс</a:t>
            </a: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607A1FFA-F9BA-3098-5764-406A4BEF5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90" y="2439702"/>
            <a:ext cx="5822940" cy="2768102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F8B7352-B304-3662-D090-FD1255B1D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630" y="2142500"/>
            <a:ext cx="4688006" cy="873861"/>
          </a:xfrm>
          <a:prstGeom prst="rect">
            <a:avLst/>
          </a:prstGeom>
        </p:spPr>
      </p:pic>
      <p:pic>
        <p:nvPicPr>
          <p:cNvPr id="15" name="Picture 14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84E98765-433B-4918-6C35-4172C483A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981" y="3313563"/>
            <a:ext cx="5564075" cy="3200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Делегат </a:t>
            </a:r>
            <a:r>
              <a:rPr lang="en-US" dirty="0"/>
              <a:t>lazy</a:t>
            </a:r>
            <a:endParaRPr dirty="0"/>
          </a:p>
        </p:txBody>
      </p:sp>
      <p:sp>
        <p:nvSpPr>
          <p:cNvPr id="593" name="Google Shape;593;p57"/>
          <p:cNvSpPr txBox="1"/>
          <p:nvPr/>
        </p:nvSpPr>
        <p:spPr>
          <a:xfrm>
            <a:off x="677334" y="1579799"/>
            <a:ext cx="108558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lazy </a:t>
            </a:r>
            <a:r>
              <a:rPr lang="ru-RU" sz="1800" dirty="0">
                <a:solidFill>
                  <a:schemeClr val="bg1"/>
                </a:solidFill>
              </a:rPr>
              <a:t>откладывает инициализацию тяжелого объекта до момента первого обращения к нему,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ru-RU" sz="1800" dirty="0">
                <a:solidFill>
                  <a:schemeClr val="bg1"/>
                </a:solidFill>
              </a:rPr>
              <a:t>а затем кэширует результат</a:t>
            </a:r>
            <a:br>
              <a:rPr lang="ru-RU" sz="1800" dirty="0">
                <a:solidFill>
                  <a:schemeClr val="bg1"/>
                </a:solidFill>
              </a:rPr>
            </a:br>
            <a:br>
              <a:rPr lang="ru-RU" sz="1800" dirty="0">
                <a:solidFill>
                  <a:schemeClr val="bg1"/>
                </a:solidFill>
              </a:rPr>
            </a:b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C4827F8-4653-2129-04AC-301D5451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577153"/>
            <a:ext cx="7772400" cy="337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13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Примеры делегатов</a:t>
            </a:r>
            <a:endParaRPr dirty="0"/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CEC9441-E878-CBE5-0CBA-87F065FDC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31" y="1812543"/>
            <a:ext cx="6237803" cy="3364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E000A8-AC3F-89AD-106F-FB2994F3FEF7}"/>
              </a:ext>
            </a:extLst>
          </p:cNvPr>
          <p:cNvSpPr txBox="1"/>
          <p:nvPr/>
        </p:nvSpPr>
        <p:spPr>
          <a:xfrm>
            <a:off x="574174" y="2831043"/>
            <a:ext cx="46948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1"/>
                </a:solidFill>
              </a:rPr>
              <a:t>observable</a:t>
            </a:r>
            <a:r>
              <a:rPr lang="en-GB" sz="1800" dirty="0">
                <a:solidFill>
                  <a:schemeClr val="bg1"/>
                </a:solidFill>
              </a:rPr>
              <a:t> —</a:t>
            </a:r>
            <a:r>
              <a:rPr lang="ru-RU" sz="1800" dirty="0">
                <a:solidFill>
                  <a:schemeClr val="bg1"/>
                </a:solidFill>
              </a:rPr>
              <a:t> позволяет добавить слушатель на изменение переменной</a:t>
            </a:r>
          </a:p>
          <a:p>
            <a:endParaRPr lang="ru-RU" sz="1800" b="1" dirty="0">
              <a:solidFill>
                <a:schemeClr val="bg1"/>
              </a:solidFill>
            </a:endParaRPr>
          </a:p>
          <a:p>
            <a:r>
              <a:rPr lang="en-GB" sz="1800" b="1" dirty="0">
                <a:solidFill>
                  <a:schemeClr val="bg1"/>
                </a:solidFill>
              </a:rPr>
              <a:t>vetoable</a:t>
            </a:r>
            <a:r>
              <a:rPr lang="en-GB" sz="1800" dirty="0">
                <a:solidFill>
                  <a:schemeClr val="bg1"/>
                </a:solidFill>
              </a:rPr>
              <a:t> —</a:t>
            </a:r>
            <a:r>
              <a:rPr lang="ru-RU" sz="1800" dirty="0">
                <a:solidFill>
                  <a:schemeClr val="bg1"/>
                </a:solidFill>
              </a:rPr>
              <a:t> если код вернёт </a:t>
            </a:r>
            <a:r>
              <a:rPr lang="en-GB" sz="1800" dirty="0">
                <a:solidFill>
                  <a:schemeClr val="bg1"/>
                </a:solidFill>
              </a:rPr>
              <a:t>false, </a:t>
            </a:r>
            <a:r>
              <a:rPr lang="ru-RU" sz="1800" dirty="0">
                <a:solidFill>
                  <a:schemeClr val="bg1"/>
                </a:solidFill>
              </a:rPr>
              <a:t>на новое значение будет наложено "вето", и переменная сохранит старое значение. </a:t>
            </a:r>
            <a:endParaRPr lang="en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571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Делегаты в </a:t>
            </a:r>
            <a:r>
              <a:rPr lang="en-US" dirty="0"/>
              <a:t>Android</a:t>
            </a:r>
            <a:endParaRPr dirty="0"/>
          </a:p>
        </p:txBody>
      </p:sp>
      <p:pic>
        <p:nvPicPr>
          <p:cNvPr id="3" name="Picture 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57C93BE-13EB-A46C-08A4-D8DED7DA8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719144"/>
            <a:ext cx="7772400" cy="389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38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>
                <a:solidFill>
                  <a:schemeClr val="bg1"/>
                </a:solidFill>
              </a:rPr>
              <a:t>Рефлексия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142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Рефлексия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EF3CE-6C64-A40D-9316-2FB16E0C3581}"/>
              </a:ext>
            </a:extLst>
          </p:cNvPr>
          <p:cNvSpPr txBox="1"/>
          <p:nvPr/>
        </p:nvSpPr>
        <p:spPr>
          <a:xfrm>
            <a:off x="677334" y="1683196"/>
            <a:ext cx="106366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Рефлексия (</a:t>
            </a:r>
            <a:r>
              <a:rPr lang="en-GB" sz="1800" dirty="0">
                <a:solidFill>
                  <a:schemeClr val="bg1"/>
                </a:solidFill>
              </a:rPr>
              <a:t>Reflection) — </a:t>
            </a:r>
            <a:r>
              <a:rPr lang="ru-RU" sz="1800" dirty="0">
                <a:solidFill>
                  <a:schemeClr val="bg1"/>
                </a:solidFill>
              </a:rPr>
              <a:t>это механизм, который позволяет программе изучать саму себя во время выполнения (</a:t>
            </a:r>
            <a:r>
              <a:rPr lang="en-GB" sz="1800" dirty="0">
                <a:solidFill>
                  <a:schemeClr val="bg1"/>
                </a:solidFill>
              </a:rPr>
              <a:t>runtime)</a:t>
            </a:r>
            <a:r>
              <a:rPr lang="ru-RU" sz="1800" dirty="0">
                <a:solidFill>
                  <a:schemeClr val="bg1"/>
                </a:solidFill>
              </a:rPr>
              <a:t>:</a:t>
            </a:r>
          </a:p>
          <a:p>
            <a:endParaRPr lang="ru-RU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Узнать методы объекта: получить полный список функций или найти конкретную по её строковому имени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Узнать свойства (поля) класса: прочитать список всех свойств, которые есть в программе у данного класса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Читать и изменять значения: динамически получить значение свойства (</a:t>
            </a:r>
            <a:r>
              <a:rPr lang="en-GB" sz="1800" dirty="0">
                <a:solidFill>
                  <a:schemeClr val="bg1"/>
                </a:solidFill>
              </a:rPr>
              <a:t>get) </a:t>
            </a:r>
            <a:r>
              <a:rPr lang="ru-RU" sz="1800" dirty="0">
                <a:solidFill>
                  <a:schemeClr val="bg1"/>
                </a:solidFill>
              </a:rPr>
              <a:t>или записать в него новое, даже не зная точного типа объекта на этапе компиляции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Вызывать функции "вслепую": запустить выполнение найденного метода</a:t>
            </a:r>
            <a:r>
              <a:rPr lang="en-GB" sz="1800" dirty="0">
                <a:solidFill>
                  <a:schemeClr val="bg1"/>
                </a:solidFill>
              </a:rPr>
              <a:t>, </a:t>
            </a:r>
            <a:r>
              <a:rPr lang="ru-RU" sz="1800" dirty="0">
                <a:solidFill>
                  <a:schemeClr val="bg1"/>
                </a:solidFill>
              </a:rPr>
              <a:t>передав ему нужные аргументы во время работы программы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Обходить инкапсуляцию (Взлом </a:t>
            </a:r>
            <a:r>
              <a:rPr lang="en-GB" sz="1800" dirty="0">
                <a:solidFill>
                  <a:schemeClr val="bg1"/>
                </a:solidFill>
              </a:rPr>
              <a:t>private): </a:t>
            </a:r>
            <a:r>
              <a:rPr lang="ru-RU" sz="1800" dirty="0">
                <a:solidFill>
                  <a:schemeClr val="bg1"/>
                </a:solidFill>
              </a:rPr>
              <a:t>находить приватные поля или методы, принудительно делать их доступными (через </a:t>
            </a:r>
            <a:r>
              <a:rPr lang="en-GB" sz="1800" dirty="0" err="1">
                <a:solidFill>
                  <a:schemeClr val="bg1"/>
                </a:solidFill>
              </a:rPr>
              <a:t>isAccessible</a:t>
            </a:r>
            <a:r>
              <a:rPr lang="en-GB" sz="1800" dirty="0">
                <a:solidFill>
                  <a:schemeClr val="bg1"/>
                </a:solidFill>
              </a:rPr>
              <a:t> = true) </a:t>
            </a:r>
            <a:r>
              <a:rPr lang="ru-RU" sz="1800" dirty="0">
                <a:solidFill>
                  <a:schemeClr val="bg1"/>
                </a:solidFill>
              </a:rPr>
              <a:t>и взаимодействовать с ними (часто используется при написании хитрых </a:t>
            </a:r>
            <a:r>
              <a:rPr lang="en-GB" sz="1800" dirty="0">
                <a:solidFill>
                  <a:schemeClr val="bg1"/>
                </a:solidFill>
              </a:rPr>
              <a:t>Unit-</a:t>
            </a:r>
            <a:r>
              <a:rPr lang="ru-RU" sz="1800" dirty="0">
                <a:solidFill>
                  <a:schemeClr val="bg1"/>
                </a:solidFill>
              </a:rPr>
              <a:t>тестов)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Создавать объекты динамически: </a:t>
            </a:r>
            <a:r>
              <a:rPr lang="ru-RU" sz="1800" dirty="0" err="1">
                <a:solidFill>
                  <a:schemeClr val="bg1"/>
                </a:solidFill>
              </a:rPr>
              <a:t>инстанцировать</a:t>
            </a:r>
            <a:r>
              <a:rPr lang="ru-RU" sz="1800" dirty="0">
                <a:solidFill>
                  <a:schemeClr val="bg1"/>
                </a:solidFill>
              </a:rPr>
              <a:t> классы, получая доступ к их конструкторам во время выполнения программы, не вызывая конструктор напрямую в коде</a:t>
            </a:r>
          </a:p>
        </p:txBody>
      </p:sp>
    </p:spTree>
    <p:extLst>
      <p:ext uri="{BB962C8B-B14F-4D97-AF65-F5344CB8AC3E}">
        <p14:creationId xmlns:p14="http://schemas.microsoft.com/office/powerpoint/2010/main" val="716867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en-US" dirty="0"/>
              <a:t>Reflection API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EF3CE-6C64-A40D-9316-2FB16E0C3581}"/>
              </a:ext>
            </a:extLst>
          </p:cNvPr>
          <p:cNvSpPr txBox="1"/>
          <p:nvPr/>
        </p:nvSpPr>
        <p:spPr>
          <a:xfrm>
            <a:off x="677334" y="1683195"/>
            <a:ext cx="106639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Есть </a:t>
            </a:r>
            <a:r>
              <a:rPr lang="en-RU" sz="1800" dirty="0">
                <a:solidFill>
                  <a:schemeClr val="bg1"/>
                </a:solidFill>
              </a:rPr>
              <a:t>API </a:t>
            </a:r>
            <a:r>
              <a:rPr lang="ru-RU" sz="1800" dirty="0">
                <a:solidFill>
                  <a:schemeClr val="bg1"/>
                </a:solidFill>
              </a:rPr>
              <a:t>для рефлексии в самой </a:t>
            </a:r>
            <a:r>
              <a:rPr lang="en-US" sz="1800" dirty="0">
                <a:solidFill>
                  <a:schemeClr val="bg1"/>
                </a:solidFill>
              </a:rPr>
              <a:t>Java, </a:t>
            </a:r>
            <a:r>
              <a:rPr lang="ru-RU" sz="1800" dirty="0">
                <a:solidFill>
                  <a:schemeClr val="bg1"/>
                </a:solidFill>
              </a:rPr>
              <a:t>но </a:t>
            </a:r>
            <a:r>
              <a:rPr lang="en-US" sz="1800" dirty="0">
                <a:solidFill>
                  <a:schemeClr val="bg1"/>
                </a:solidFill>
              </a:rPr>
              <a:t>Kotlin </a:t>
            </a:r>
            <a:r>
              <a:rPr lang="ru-RU" sz="1800" dirty="0">
                <a:solidFill>
                  <a:schemeClr val="bg1"/>
                </a:solidFill>
              </a:rPr>
              <a:t>предоставляет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ru-RU" sz="1800" dirty="0">
                <a:solidFill>
                  <a:schemeClr val="bg1"/>
                </a:solidFill>
              </a:rPr>
              <a:t>библиотеку </a:t>
            </a:r>
            <a:r>
              <a:rPr lang="en-US" sz="1800" dirty="0" err="1">
                <a:solidFill>
                  <a:schemeClr val="bg1"/>
                </a:solidFill>
              </a:rPr>
              <a:t>kotlin</a:t>
            </a:r>
            <a:r>
              <a:rPr lang="en-US" sz="1800" dirty="0">
                <a:solidFill>
                  <a:schemeClr val="bg1"/>
                </a:solidFill>
              </a:rPr>
              <a:t>-reflect</a:t>
            </a:r>
            <a:r>
              <a:rPr lang="ru-RU" sz="1800" dirty="0">
                <a:solidFill>
                  <a:schemeClr val="bg1"/>
                </a:solidFill>
              </a:rPr>
              <a:t>, дополняющую специфичными для </a:t>
            </a:r>
            <a:r>
              <a:rPr lang="en-US" sz="1800" dirty="0">
                <a:solidFill>
                  <a:schemeClr val="bg1"/>
                </a:solidFill>
              </a:rPr>
              <a:t>Kotlin </a:t>
            </a:r>
            <a:r>
              <a:rPr lang="ru-RU" sz="1800" dirty="0">
                <a:solidFill>
                  <a:schemeClr val="bg1"/>
                </a:solidFill>
              </a:rPr>
              <a:t>возможностями (информация о дата-классах, </a:t>
            </a:r>
            <a:r>
              <a:rPr lang="en-US" sz="1800" dirty="0">
                <a:solidFill>
                  <a:schemeClr val="bg1"/>
                </a:solidFill>
              </a:rPr>
              <a:t>nullable-</a:t>
            </a:r>
            <a:r>
              <a:rPr lang="ru-RU" sz="1800" dirty="0">
                <a:solidFill>
                  <a:schemeClr val="bg1"/>
                </a:solidFill>
              </a:rPr>
              <a:t>типах и т.д.).</a:t>
            </a:r>
            <a:endParaRPr lang="en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051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/>
              <a:t>Нюансы и проблемы рефлексии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EF3CE-6C64-A40D-9316-2FB16E0C3581}"/>
              </a:ext>
            </a:extLst>
          </p:cNvPr>
          <p:cNvSpPr txBox="1"/>
          <p:nvPr/>
        </p:nvSpPr>
        <p:spPr>
          <a:xfrm>
            <a:off x="677334" y="2219024"/>
            <a:ext cx="10663956" cy="3330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Потеря </a:t>
            </a:r>
            <a:r>
              <a:rPr lang="ru-RU" sz="1800" dirty="0" err="1">
                <a:solidFill>
                  <a:schemeClr val="bg1"/>
                </a:solidFill>
              </a:rPr>
              <a:t>типобезопасности</a:t>
            </a:r>
            <a:r>
              <a:rPr lang="ru-RU" sz="1800" dirty="0">
                <a:solidFill>
                  <a:schemeClr val="bg1"/>
                </a:solidFill>
              </a:rPr>
              <a:t>: ошибки выявляются только в </a:t>
            </a:r>
            <a:r>
              <a:rPr lang="ru-RU" sz="1800" dirty="0" err="1">
                <a:solidFill>
                  <a:schemeClr val="bg1"/>
                </a:solidFill>
              </a:rPr>
              <a:t>рантайме</a:t>
            </a:r>
            <a:endParaRPr lang="ru-RU" sz="18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Снижение производительности: динамический поиск методов обходится дорого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Проблемы с </a:t>
            </a:r>
            <a:r>
              <a:rPr lang="ru-RU" sz="1800" dirty="0" err="1">
                <a:solidFill>
                  <a:schemeClr val="bg1"/>
                </a:solidFill>
              </a:rPr>
              <a:t>обфускацией</a:t>
            </a:r>
            <a:r>
              <a:rPr lang="ru-RU" sz="1800" dirty="0">
                <a:solidFill>
                  <a:schemeClr val="bg1"/>
                </a:solidFill>
              </a:rPr>
              <a:t> (</a:t>
            </a:r>
            <a:r>
              <a:rPr lang="en-GB" sz="1800" dirty="0" err="1">
                <a:solidFill>
                  <a:schemeClr val="bg1"/>
                </a:solidFill>
              </a:rPr>
              <a:t>ProGuard</a:t>
            </a:r>
            <a:r>
              <a:rPr lang="en-GB" sz="1800" dirty="0">
                <a:solidFill>
                  <a:schemeClr val="bg1"/>
                </a:solidFill>
              </a:rPr>
              <a:t> / R8): </a:t>
            </a:r>
            <a:r>
              <a:rPr lang="ru-RU" sz="1800" dirty="0" err="1">
                <a:solidFill>
                  <a:schemeClr val="bg1"/>
                </a:solidFill>
              </a:rPr>
              <a:t>минификация</a:t>
            </a:r>
            <a:r>
              <a:rPr lang="ru-RU" sz="1800" dirty="0">
                <a:solidFill>
                  <a:schemeClr val="bg1"/>
                </a:solidFill>
              </a:rPr>
              <a:t> ломает поиск по строковым именам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Хрупкость архитектуры: зависимость от внутренних (приватных) реализаций чужого кода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</a:rPr>
              <a:t>Размер </a:t>
            </a:r>
            <a:r>
              <a:rPr lang="en-GB" sz="1800" dirty="0">
                <a:solidFill>
                  <a:schemeClr val="bg1"/>
                </a:solidFill>
              </a:rPr>
              <a:t>APK: </a:t>
            </a:r>
            <a:r>
              <a:rPr lang="ru-RU" sz="1800" dirty="0">
                <a:solidFill>
                  <a:schemeClr val="bg1"/>
                </a:solidFill>
              </a:rPr>
              <a:t>библиотека </a:t>
            </a:r>
            <a:r>
              <a:rPr lang="en-GB" sz="1800" dirty="0" err="1">
                <a:solidFill>
                  <a:schemeClr val="bg1"/>
                </a:solidFill>
              </a:rPr>
              <a:t>kotlin</a:t>
            </a:r>
            <a:r>
              <a:rPr lang="en-GB" sz="1800" dirty="0">
                <a:solidFill>
                  <a:schemeClr val="bg1"/>
                </a:solidFill>
              </a:rPr>
              <a:t>-reflect </a:t>
            </a:r>
            <a:r>
              <a:rPr lang="ru-RU" sz="1800" dirty="0">
                <a:solidFill>
                  <a:schemeClr val="bg1"/>
                </a:solidFill>
              </a:rPr>
              <a:t>заметно увеличивает вес приложения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048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/>
          <p:nvPr/>
        </p:nvSpPr>
        <p:spPr>
          <a:xfrm>
            <a:off x="6745574" y="0"/>
            <a:ext cx="5446500" cy="685800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en-US" dirty="0">
                <a:solidFill>
                  <a:schemeClr val="bg1"/>
                </a:solidFill>
              </a:rPr>
              <a:t>Kotlin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misc.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828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dirty="0" err="1"/>
              <a:t>Scope</a:t>
            </a:r>
            <a:r>
              <a:rPr lang="ru-RU" dirty="0"/>
              <a:t> функции</a:t>
            </a:r>
            <a:endParaRPr dirty="0"/>
          </a:p>
        </p:txBody>
      </p:sp>
      <p:sp>
        <p:nvSpPr>
          <p:cNvPr id="659" name="Google Shape;659;p62"/>
          <p:cNvSpPr txBox="1"/>
          <p:nvPr/>
        </p:nvSpPr>
        <p:spPr>
          <a:xfrm>
            <a:off x="1099534" y="2178648"/>
            <a:ext cx="5205732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bg1"/>
                </a:solidFill>
              </a:rPr>
              <a:t>let</a:t>
            </a:r>
            <a:r>
              <a:rPr lang="ru-RU" sz="1800">
                <a:solidFill>
                  <a:schemeClr val="bg1"/>
                </a:solidFill>
              </a:rPr>
              <a:t> - часто используется для безопасного выполнения блока кода с null-выражениями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660" name="Google Shape;660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334" y="2171148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2"/>
          <p:cNvSpPr txBox="1"/>
          <p:nvPr/>
        </p:nvSpPr>
        <p:spPr>
          <a:xfrm>
            <a:off x="1099532" y="3078449"/>
            <a:ext cx="667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bg1"/>
                </a:solidFill>
              </a:rPr>
              <a:t>also</a:t>
            </a:r>
            <a:r>
              <a:rPr lang="ru-RU" sz="1800" dirty="0">
                <a:solidFill>
                  <a:schemeClr val="bg1"/>
                </a:solidFill>
              </a:rPr>
              <a:t> - используется для выполнения каких-либо дополнительных действий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62" name="Google Shape;66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334" y="3070957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2"/>
          <p:cNvSpPr txBox="1"/>
          <p:nvPr/>
        </p:nvSpPr>
        <p:spPr>
          <a:xfrm>
            <a:off x="1099532" y="3996738"/>
            <a:ext cx="489183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bg1"/>
                </a:solidFill>
              </a:rPr>
              <a:t>apply</a:t>
            </a:r>
            <a:r>
              <a:rPr lang="ru-RU" sz="1800" dirty="0">
                <a:solidFill>
                  <a:schemeClr val="bg1"/>
                </a:solidFill>
              </a:rPr>
              <a:t> - настроить объект и не надо возвращать результат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4" name="Google Shape;664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334" y="3989228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62"/>
          <p:cNvSpPr txBox="1"/>
          <p:nvPr/>
        </p:nvSpPr>
        <p:spPr>
          <a:xfrm>
            <a:off x="1099532" y="4876213"/>
            <a:ext cx="6525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bg1"/>
                </a:solidFill>
              </a:rPr>
              <a:t>run</a:t>
            </a:r>
            <a:r>
              <a:rPr lang="ru-RU" sz="1800" dirty="0">
                <a:solidFill>
                  <a:schemeClr val="bg1"/>
                </a:solidFill>
              </a:rPr>
              <a:t> - настроить объект и вычислить результат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6" name="Google Shape;666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334" y="4868713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2"/>
          <p:cNvSpPr txBox="1"/>
          <p:nvPr/>
        </p:nvSpPr>
        <p:spPr>
          <a:xfrm>
            <a:off x="1099532" y="5699513"/>
            <a:ext cx="4536993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bg1"/>
                </a:solidFill>
              </a:rPr>
              <a:t>with</a:t>
            </a:r>
            <a:r>
              <a:rPr lang="ru-RU" sz="1800" dirty="0">
                <a:solidFill>
                  <a:schemeClr val="bg1"/>
                </a:solidFill>
              </a:rPr>
              <a:t> - используется для объединения вызовов функций объекта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8" name="Google Shape;668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334" y="5692013"/>
            <a:ext cx="288601" cy="307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1E8169-C8C8-09CB-AEA3-6C79DBF4A7A3}"/>
              </a:ext>
            </a:extLst>
          </p:cNvPr>
          <p:cNvSpPr txBox="1"/>
          <p:nvPr/>
        </p:nvSpPr>
        <p:spPr>
          <a:xfrm>
            <a:off x="677334" y="1472776"/>
            <a:ext cx="1140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</a:rPr>
              <a:t>Scope-</a:t>
            </a:r>
            <a:r>
              <a:rPr lang="ru-RU" sz="1800" dirty="0">
                <a:solidFill>
                  <a:schemeClr val="bg1"/>
                </a:solidFill>
              </a:rPr>
              <a:t>функции — это способ выполнить блок кода в контексте конкретного объекта. </a:t>
            </a:r>
            <a:endParaRPr lang="en-RU" sz="1800" dirty="0">
              <a:solidFill>
                <a:schemeClr val="bg1"/>
              </a:solidFill>
            </a:endParaRPr>
          </a:p>
        </p:txBody>
      </p:sp>
      <p:graphicFrame>
        <p:nvGraphicFramePr>
          <p:cNvPr id="3" name="Google Shape;674;p63">
            <a:extLst>
              <a:ext uri="{FF2B5EF4-FFF2-40B4-BE49-F238E27FC236}">
                <a16:creationId xmlns:a16="http://schemas.microsoft.com/office/drawing/2014/main" id="{4A331EC5-6E28-161A-3091-6B7E0E8941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5330206"/>
              </p:ext>
            </p:extLst>
          </p:nvPr>
        </p:nvGraphicFramePr>
        <p:xfrm>
          <a:off x="7014948" y="2899443"/>
          <a:ext cx="4718726" cy="2194590"/>
        </p:xfrm>
        <a:graphic>
          <a:graphicData uri="http://schemas.openxmlformats.org/drawingml/2006/table">
            <a:tbl>
              <a:tblPr firstRow="1" firstCol="1" bandRow="1">
                <a:noFill/>
                <a:tableStyleId>{45A769CB-718A-492B-8718-FBFFD78639DB}</a:tableStyleId>
              </a:tblPr>
              <a:tblGrid>
                <a:gridCol w="1784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/>
                        <a:t>Функция будет принимать this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/>
                        <a:t>Функция будет принимать it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/>
                        <a:t>Будет возвращен объект на котором вызывается функция (self)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 err="1"/>
                        <a:t>apply</a:t>
                      </a:r>
                      <a:endParaRPr sz="14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/>
                        <a:t>also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6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/>
                        <a:t>Будет возвращен результат функции (result)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/>
                        <a:t>run, with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 err="1"/>
                        <a:t>let</a:t>
                      </a:r>
                      <a:endParaRPr sz="1400" b="1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en-US" dirty="0"/>
              <a:t>infix-</a:t>
            </a:r>
            <a:r>
              <a:rPr lang="ru-RU" dirty="0"/>
              <a:t>функции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207E56-1401-B47A-A0CB-C5F9EA8806F8}"/>
              </a:ext>
            </a:extLst>
          </p:cNvPr>
          <p:cNvSpPr txBox="1"/>
          <p:nvPr/>
        </p:nvSpPr>
        <p:spPr>
          <a:xfrm>
            <a:off x="677334" y="1610436"/>
            <a:ext cx="729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Делают код выглядящим как обычный текст на английском языке:</a:t>
            </a:r>
            <a:endParaRPr lang="en-RU" sz="1800" dirty="0">
              <a:solidFill>
                <a:schemeClr val="bg1"/>
              </a:solidFill>
            </a:endParaRPr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BCA07D6D-62BB-B4FC-2281-5E618659F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379511"/>
            <a:ext cx="6597703" cy="39799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en-US" dirty="0"/>
              <a:t>Operator overloading</a:t>
            </a:r>
            <a:endParaRPr dirty="0"/>
          </a:p>
        </p:txBody>
      </p:sp>
      <p:pic>
        <p:nvPicPr>
          <p:cNvPr id="3" name="Picture 2" descr="A computer screen with text and images&#10;&#10;Description automatically generated">
            <a:extLst>
              <a:ext uri="{FF2B5EF4-FFF2-40B4-BE49-F238E27FC236}">
                <a16:creationId xmlns:a16="http://schemas.microsoft.com/office/drawing/2014/main" id="{F11383B7-7483-F7AB-74D1-1722F28A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12" y="1902484"/>
            <a:ext cx="5414127" cy="35989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751244-A76A-2DA9-8963-F0C144959D4B}"/>
              </a:ext>
            </a:extLst>
          </p:cNvPr>
          <p:cNvSpPr txBox="1"/>
          <p:nvPr/>
        </p:nvSpPr>
        <p:spPr>
          <a:xfrm>
            <a:off x="677334" y="3070747"/>
            <a:ext cx="4649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Позволяет использовать стандартные математические операторы (+, -, &gt;, []) для произвольных объектов</a:t>
            </a:r>
            <a:endParaRPr lang="en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27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GB" b="0" dirty="0">
                <a:effectLst/>
              </a:rPr>
              <a:t>Value class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53DDD-523C-44C7-B362-7C8D8C32417C}"/>
              </a:ext>
            </a:extLst>
          </p:cNvPr>
          <p:cNvSpPr txBox="1"/>
          <p:nvPr/>
        </p:nvSpPr>
        <p:spPr>
          <a:xfrm>
            <a:off x="647274" y="1364423"/>
            <a:ext cx="11054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Оптимизированный способ создавать классы-обёртки для набора значений: </a:t>
            </a:r>
            <a:br>
              <a:rPr lang="ru-RU" sz="1600" dirty="0">
                <a:solidFill>
                  <a:schemeClr val="bg1"/>
                </a:solidFill>
              </a:rPr>
            </a:br>
            <a:r>
              <a:rPr lang="ru-RU" sz="1600" dirty="0">
                <a:solidFill>
                  <a:schemeClr val="bg1"/>
                </a:solidFill>
              </a:rPr>
              <a:t>«выглядит» как обычный класс с полями, но при компиляции «разворачивается» в типы значений.</a:t>
            </a:r>
          </a:p>
        </p:txBody>
      </p:sp>
      <p:pic>
        <p:nvPicPr>
          <p:cNvPr id="4" name="Picture 3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6EBE3DDA-4BC0-BDFF-4E05-B11F3C3C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937056"/>
            <a:ext cx="7772400" cy="274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68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Type alias</a:t>
            </a:r>
            <a:endParaRPr lang="en-GB" b="0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D0C70-47A5-5BD2-897F-98E0D79DFCE7}"/>
              </a:ext>
            </a:extLst>
          </p:cNvPr>
          <p:cNvSpPr txBox="1"/>
          <p:nvPr/>
        </p:nvSpPr>
        <p:spPr>
          <a:xfrm>
            <a:off x="677334" y="1583140"/>
            <a:ext cx="6974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Заменяет «страшные» названия типов данных на лаконичные:</a:t>
            </a:r>
            <a:endParaRPr lang="en-RU" sz="1800" dirty="0">
              <a:solidFill>
                <a:schemeClr val="bg1"/>
              </a:solidFill>
            </a:endParaRPr>
          </a:p>
        </p:txBody>
      </p:sp>
      <p:pic>
        <p:nvPicPr>
          <p:cNvPr id="4" name="Picture 3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4CD02BAB-7933-FBE4-913F-409799462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614305"/>
            <a:ext cx="7772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46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8"/>
          <p:cNvSpPr txBox="1">
            <a:spLocks noGrp="1"/>
          </p:cNvSpPr>
          <p:nvPr>
            <p:ph type="title"/>
          </p:nvPr>
        </p:nvSpPr>
        <p:spPr>
          <a:xfrm>
            <a:off x="620713" y="3724882"/>
            <a:ext cx="54753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lang="ru-RU"/>
              <a:t>Спасибо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New Color">
  <a:themeElements>
    <a:clrScheme name="Пользовательские 110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8024C0"/>
      </a:accent2>
      <a:accent3>
        <a:srgbClr val="FF3885"/>
      </a:accent3>
      <a:accent4>
        <a:srgbClr val="7DECF8"/>
      </a:accent4>
      <a:accent5>
        <a:srgbClr val="919191"/>
      </a:accent5>
      <a:accent6>
        <a:srgbClr val="F5F5F5"/>
      </a:accent6>
      <a:hlink>
        <a:srgbClr val="0077FF"/>
      </a:hlink>
      <a:folHlink>
        <a:srgbClr val="A538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1754</Words>
  <Application>Microsoft Macintosh PowerPoint</Application>
  <PresentationFormat>Widescreen</PresentationFormat>
  <Paragraphs>154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Calibri</vt:lpstr>
      <vt:lpstr>Play</vt:lpstr>
      <vt:lpstr>Arial</vt:lpstr>
      <vt:lpstr>Consolas</vt:lpstr>
      <vt:lpstr>VK New Color</vt:lpstr>
      <vt:lpstr>Kotlin  Advanced</vt:lpstr>
      <vt:lpstr>О чём поговорим</vt:lpstr>
      <vt:lpstr>PowerPoint Presentation</vt:lpstr>
      <vt:lpstr>Generics</vt:lpstr>
      <vt:lpstr>Generic-типы: зачем?</vt:lpstr>
      <vt:lpstr>Generic-типы: синтаксис</vt:lpstr>
      <vt:lpstr>Generic-типы: стирание типов</vt:lpstr>
      <vt:lpstr> Generic-типы</vt:lpstr>
      <vt:lpstr> Ограничения типов</vt:lpstr>
      <vt:lpstr> Проблема инвариантности</vt:lpstr>
      <vt:lpstr>Инвариантность</vt:lpstr>
      <vt:lpstr>Ковариантность (out)</vt:lpstr>
      <vt:lpstr>Контрвариантность (in)</vt:lpstr>
      <vt:lpstr>Инвариантность</vt:lpstr>
      <vt:lpstr>Сравнение с Java</vt:lpstr>
      <vt:lpstr>Лямбда-выражения</vt:lpstr>
      <vt:lpstr>Функции высшего порядка</vt:lpstr>
      <vt:lpstr>inline функции</vt:lpstr>
      <vt:lpstr>inline функции: noinline, crossinline</vt:lpstr>
      <vt:lpstr>Делегаты</vt:lpstr>
      <vt:lpstr>Делегаты свойств</vt:lpstr>
      <vt:lpstr>Делегат lazy</vt:lpstr>
      <vt:lpstr>Примеры делегатов</vt:lpstr>
      <vt:lpstr>Делегаты в Android</vt:lpstr>
      <vt:lpstr>Рефлексия</vt:lpstr>
      <vt:lpstr>Рефлексия</vt:lpstr>
      <vt:lpstr>Reflection API</vt:lpstr>
      <vt:lpstr>Нюансы и проблемы рефлексии</vt:lpstr>
      <vt:lpstr>Kotlin misc.</vt:lpstr>
      <vt:lpstr>Scope функции</vt:lpstr>
      <vt:lpstr>infix-функции</vt:lpstr>
      <vt:lpstr>Operator overloading</vt:lpstr>
      <vt:lpstr>Value class</vt:lpstr>
      <vt:lpstr>Type alias</vt:lpstr>
      <vt:lpstr>Спасибо 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Kotlin  Advanced</dc:title>
  <cp:lastModifiedBy>Pavel Galanin</cp:lastModifiedBy>
  <cp:revision>2</cp:revision>
  <dcterms:modified xsi:type="dcterms:W3CDTF">2026-02-27T17:06:12Z</dcterms:modified>
</cp:coreProperties>
</file>